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502920" y="1463040"/>
            <a:ext cx="11155680" cy="1005840"/>
          </a:xfrm>
          <a:prstGeom prst="rect">
            <a:avLst/>
          </a:prstGeom>
          <a:noFill/>
          <a:ln/>
        </p:spPr>
        <p:txBody>
          <a:bodyPr wrap="square" lIns="0" tIns="0" rIns="0" bIns="0" rtlCol="0" anchor="ctr"/>
          <a:lstStyle/>
          <a:p>
            <a:pPr indent="0" marL="0">
              <a:buNone/>
            </a:pPr>
            <a:r>
              <a:rPr lang="en-US" sz="7200" b="1" dirty="0">
                <a:solidFill>
                  <a:srgbClr val="CC3320"/>
                </a:solidFill>
                <a:latin typeface="IBM Plex Mono" pitchFamily="34" charset="0"/>
                <a:ea typeface="IBM Plex Mono" pitchFamily="34" charset="-122"/>
                <a:cs typeface="IBM Plex Mono" pitchFamily="34" charset="-120"/>
              </a:rPr>
              <a:t>CS-UY 1114</a:t>
            </a:r>
            <a:endParaRPr lang="en-US" sz="7200" dirty="0"/>
          </a:p>
        </p:txBody>
      </p:sp>
      <p:sp>
        <p:nvSpPr>
          <p:cNvPr id="3" name="Text 1"/>
          <p:cNvSpPr txBox="1"/>
          <p:nvPr/>
        </p:nvSpPr>
        <p:spPr>
          <a:xfrm>
            <a:off x="502920" y="2514600"/>
            <a:ext cx="11155680" cy="640080"/>
          </a:xfrm>
          <a:prstGeom prst="rect">
            <a:avLst/>
          </a:prstGeom>
          <a:noFill/>
          <a:ln/>
        </p:spPr>
        <p:txBody>
          <a:bodyPr wrap="square" lIns="0" tIns="0" rIns="0" bIns="0" rtlCol="0" anchor="ctr"/>
          <a:lstStyle/>
          <a:p>
            <a:pPr indent="0" marL="0">
              <a:buNone/>
            </a:pPr>
            <a:r>
              <a:rPr lang="en-US" sz="2800" dirty="0">
                <a:solidFill>
                  <a:srgbClr val="FFFFFF"/>
                </a:solidFill>
                <a:latin typeface="IBM Plex Sans" pitchFamily="34" charset="0"/>
                <a:ea typeface="IBM Plex Sans" pitchFamily="34" charset="-122"/>
                <a:cs typeface="IBM Plex Sans" pitchFamily="34" charset="-120"/>
              </a:rPr>
              <a:t>Introduction to Programming and Problem Solving</a:t>
            </a:r>
            <a:endParaRPr lang="en-US" sz="2800" dirty="0"/>
          </a:p>
        </p:txBody>
      </p:sp>
      <p:sp>
        <p:nvSpPr>
          <p:cNvPr id="4" name="Text 2"/>
          <p:cNvSpPr txBox="1"/>
          <p:nvPr/>
        </p:nvSpPr>
        <p:spPr>
          <a:xfrm>
            <a:off x="502920" y="3200400"/>
            <a:ext cx="11155680" cy="320040"/>
          </a:xfrm>
          <a:prstGeom prst="rect">
            <a:avLst/>
          </a:prstGeom>
          <a:noFill/>
          <a:ln/>
        </p:spPr>
        <p:txBody>
          <a:bodyPr wrap="square" lIns="0" tIns="0" rIns="0" bIns="0" rtlCol="0" anchor="ctr"/>
          <a:lstStyle/>
          <a:p>
            <a:pPr indent="0" marL="0">
              <a:buNone/>
            </a:pPr>
            <a:r>
              <a:rPr lang="en-US" sz="1300" dirty="0">
                <a:solidFill>
                  <a:srgbClr val="999999"/>
                </a:solidFill>
                <a:latin typeface="IBM Plex Mono" pitchFamily="34" charset="0"/>
                <a:ea typeface="IBM Plex Mono" pitchFamily="34" charset="-122"/>
                <a:cs typeface="IBM Plex Mono" pitchFamily="34" charset="-120"/>
              </a:rPr>
              <a:t>Fall 2026  ·  NYU Tandon School of Engineering</a:t>
            </a:r>
            <a:endParaRPr lang="en-US" sz="1300" dirty="0"/>
          </a:p>
        </p:txBody>
      </p:sp>
      <p:sp>
        <p:nvSpPr>
          <p:cNvPr id="5" name="Shape 3"/>
          <p:cNvSpPr/>
          <p:nvPr/>
        </p:nvSpPr>
        <p:spPr>
          <a:xfrm>
            <a:off x="502920" y="6217920"/>
            <a:ext cx="11155680" cy="36576"/>
          </a:xfrm>
          <a:prstGeom prst="rect">
            <a:avLst/>
          </a:prstGeom>
          <a:solidFill>
            <a:srgbClr val="CC3320"/>
          </a:solidFill>
          <a:ln/>
        </p:spPr>
      </p:sp>
      <p:sp>
        <p:nvSpPr>
          <p:cNvPr id="6" name="Text 4"/>
          <p:cNvSpPr txBox="1"/>
          <p:nvPr/>
        </p:nvSpPr>
        <p:spPr>
          <a:xfrm>
            <a:off x="502920" y="6355080"/>
            <a:ext cx="11155680" cy="274320"/>
          </a:xfrm>
          <a:prstGeom prst="rect">
            <a:avLst/>
          </a:prstGeom>
          <a:noFill/>
          <a:ln/>
        </p:spPr>
        <p:txBody>
          <a:bodyPr wrap="square" lIns="0" tIns="0" rIns="0" bIns="0" rtlCol="0" anchor="ctr"/>
          <a:lstStyle/>
          <a:p>
            <a:pPr indent="0" marL="0">
              <a:buNone/>
            </a:pPr>
            <a:r>
              <a:rPr lang="en-US" sz="1100" dirty="0">
                <a:solidFill>
                  <a:srgbClr val="999999"/>
                </a:solidFill>
                <a:latin typeface="IBM Plex Mono" pitchFamily="34" charset="0"/>
                <a:ea typeface="IBM Plex Mono" pitchFamily="34" charset="-122"/>
                <a:cs typeface="IBM Plex Mono" pitchFamily="34" charset="-120"/>
              </a:rPr>
              <a:t>S. Arfaoui  ·  S. Romero Cruz</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1005840"/>
            <a:ext cx="1097280" cy="36576"/>
          </a:xfrm>
          <a:prstGeom prst="rect">
            <a:avLst/>
          </a:prstGeom>
          <a:solidFill>
            <a:srgbClr val="CC3320"/>
          </a:solidFill>
          <a:ln/>
        </p:spPr>
      </p:sp>
      <p:sp>
        <p:nvSpPr>
          <p:cNvPr id="3" name="Text 1"/>
          <p:cNvSpPr txBox="1"/>
          <p:nvPr/>
        </p:nvSpPr>
        <p:spPr>
          <a:xfrm>
            <a:off x="502920" y="411480"/>
            <a:ext cx="11155680" cy="640080"/>
          </a:xfrm>
          <a:prstGeom prst="rect">
            <a:avLst/>
          </a:prstGeom>
          <a:noFill/>
          <a:ln/>
        </p:spPr>
        <p:txBody>
          <a:bodyPr wrap="square" lIns="0" tIns="0" rIns="0" bIns="0" rtlCol="0" anchor="ctr"/>
          <a:lstStyle/>
          <a:p>
            <a:pPr algn="l" indent="0" marL="0">
              <a:buNone/>
            </a:pPr>
            <a:r>
              <a:rPr lang="en-US" sz="3200" b="1" dirty="0">
                <a:solidFill>
                  <a:srgbClr val="111111"/>
                </a:solidFill>
                <a:latin typeface="IBM Plex Sans" pitchFamily="34" charset="0"/>
                <a:ea typeface="IBM Plex Sans" pitchFamily="34" charset="-122"/>
                <a:cs typeface="IBM Plex Sans" pitchFamily="34" charset="-120"/>
              </a:rPr>
              <a:t>Your Instructors</a:t>
            </a:r>
            <a:endParaRPr lang="en-US" sz="3200" dirty="0"/>
          </a:p>
        </p:txBody>
      </p:sp>
      <p:sp>
        <p:nvSpPr>
          <p:cNvPr id="4" name="Shape 2"/>
          <p:cNvSpPr/>
          <p:nvPr/>
        </p:nvSpPr>
        <p:spPr>
          <a:xfrm>
            <a:off x="502920" y="1417320"/>
            <a:ext cx="5303520" cy="3931920"/>
          </a:xfrm>
          <a:prstGeom prst="rect">
            <a:avLst/>
          </a:prstGeom>
          <a:solidFill>
            <a:srgbClr val="F4F4F4"/>
          </a:solidFill>
          <a:ln/>
        </p:spPr>
      </p:sp>
      <p:sp>
        <p:nvSpPr>
          <p:cNvPr id="5" name="Text 3"/>
          <p:cNvSpPr txBox="1"/>
          <p:nvPr/>
        </p:nvSpPr>
        <p:spPr>
          <a:xfrm>
            <a:off x="777240" y="164592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INSTRUCTOR</a:t>
            </a:r>
            <a:endParaRPr lang="en-US" sz="1000" dirty="0"/>
          </a:p>
        </p:txBody>
      </p:sp>
      <p:sp>
        <p:nvSpPr>
          <p:cNvPr id="6" name="Text 4"/>
          <p:cNvSpPr txBox="1"/>
          <p:nvPr/>
        </p:nvSpPr>
        <p:spPr>
          <a:xfrm>
            <a:off x="777240" y="1965960"/>
            <a:ext cx="4754880" cy="502920"/>
          </a:xfrm>
          <a:prstGeom prst="rect">
            <a:avLst/>
          </a:prstGeom>
          <a:noFill/>
          <a:ln/>
        </p:spPr>
        <p:txBody>
          <a:bodyPr wrap="square" lIns="0" tIns="0" rIns="0" bIns="0" rtlCol="0" anchor="ctr"/>
          <a:lstStyle/>
          <a:p>
            <a:pPr indent="0" marL="0">
              <a:buNone/>
            </a:pPr>
            <a:r>
              <a:rPr lang="en-US" sz="2200" b="1" dirty="0">
                <a:solidFill>
                  <a:srgbClr val="111111"/>
                </a:solidFill>
                <a:latin typeface="IBM Plex Sans" pitchFamily="34" charset="0"/>
                <a:ea typeface="IBM Plex Sans" pitchFamily="34" charset="-122"/>
                <a:cs typeface="IBM Plex Sans" pitchFamily="34" charset="-120"/>
              </a:rPr>
              <a:t>Salim Arfaoui</a:t>
            </a:r>
            <a:endParaRPr lang="en-US" sz="2200" dirty="0"/>
          </a:p>
        </p:txBody>
      </p:sp>
      <p:sp>
        <p:nvSpPr>
          <p:cNvPr id="7" name="Text 5"/>
          <p:cNvSpPr txBox="1"/>
          <p:nvPr/>
        </p:nvSpPr>
        <p:spPr>
          <a:xfrm>
            <a:off x="777240" y="2468880"/>
            <a:ext cx="4754880" cy="274320"/>
          </a:xfrm>
          <a:prstGeom prst="rect">
            <a:avLst/>
          </a:prstGeom>
          <a:noFill/>
          <a:ln/>
        </p:spPr>
        <p:txBody>
          <a:bodyPr wrap="square" lIns="0" tIns="0" rIns="0" bIns="0" rtlCol="0" anchor="ctr"/>
          <a:lstStyle/>
          <a:p>
            <a:pPr indent="0" marL="0">
              <a:buNone/>
            </a:pPr>
            <a:r>
              <a:rPr lang="en-US" sz="1100" dirty="0">
                <a:solidFill>
                  <a:srgbClr val="999999"/>
                </a:solidFill>
                <a:latin typeface="IBM Plex Mono" pitchFamily="34" charset="0"/>
                <a:ea typeface="IBM Plex Mono" pitchFamily="34" charset="-122"/>
                <a:cs typeface="IBM Plex Mono" pitchFamily="34" charset="-120"/>
              </a:rPr>
              <a:t>he / him</a:t>
            </a:r>
            <a:endParaRPr lang="en-US" sz="1100" dirty="0"/>
          </a:p>
        </p:txBody>
      </p:sp>
      <p:sp>
        <p:nvSpPr>
          <p:cNvPr id="8" name="Text 6"/>
          <p:cNvSpPr txBox="1"/>
          <p:nvPr/>
        </p:nvSpPr>
        <p:spPr>
          <a:xfrm>
            <a:off x="777240" y="2834640"/>
            <a:ext cx="11155680" cy="274320"/>
          </a:xfrm>
          <a:prstGeom prst="rect">
            <a:avLst/>
          </a:prstGeom>
          <a:noFill/>
          <a:ln/>
        </p:spPr>
        <p:txBody>
          <a:bodyPr wrap="square" lIns="0" tIns="0" rIns="0" bIns="0" rtlCol="0" anchor="t"/>
          <a:lstStyle/>
          <a:p>
            <a:pPr algn="l" indent="0" marL="0">
              <a:buNone/>
            </a:pPr>
            <a:r>
              <a:rPr lang="en-US" sz="1500" dirty="0">
                <a:solidFill>
                  <a:srgbClr val="111111"/>
                </a:solidFill>
                <a:latin typeface="IBM Plex Sans" pitchFamily="34" charset="0"/>
                <a:ea typeface="IBM Plex Sans" pitchFamily="34" charset="-122"/>
                <a:cs typeface="IBM Plex Sans" pitchFamily="34" charset="-120"/>
              </a:rPr>
              <a:t>sa6468@nyu.edu</a:t>
            </a:r>
            <a:endParaRPr lang="en-US" sz="1500" dirty="0"/>
          </a:p>
        </p:txBody>
      </p:sp>
      <p:sp>
        <p:nvSpPr>
          <p:cNvPr id="9" name="Text 7"/>
          <p:cNvSpPr txBox="1"/>
          <p:nvPr/>
        </p:nvSpPr>
        <p:spPr>
          <a:xfrm>
            <a:off x="777240" y="3200400"/>
            <a:ext cx="11155680" cy="274320"/>
          </a:xfrm>
          <a:prstGeom prst="rect">
            <a:avLst/>
          </a:prstGeom>
          <a:noFill/>
          <a:ln/>
        </p:spPr>
        <p:txBody>
          <a:bodyPr wrap="square" lIns="0" tIns="0" rIns="0" bIns="0" rtlCol="0" anchor="t"/>
          <a:lstStyle/>
          <a:p>
            <a:pPr algn="l" indent="0" marL="0">
              <a:buNone/>
            </a:pPr>
            <a:r>
              <a:rPr lang="en-US" sz="1500" dirty="0">
                <a:solidFill>
                  <a:srgbClr val="111111"/>
                </a:solidFill>
                <a:latin typeface="IBM Plex Sans" pitchFamily="34" charset="0"/>
                <a:ea typeface="IBM Plex Sans" pitchFamily="34" charset="-122"/>
                <a:cs typeface="IBM Plex Sans" pitchFamily="34" charset="-120"/>
              </a:rPr>
              <a:t>Sections: ALEC, BLEC</a:t>
            </a:r>
            <a:endParaRPr lang="en-US" sz="1500" dirty="0"/>
          </a:p>
        </p:txBody>
      </p:sp>
      <p:sp>
        <p:nvSpPr>
          <p:cNvPr id="10" name="Text 8"/>
          <p:cNvSpPr txBox="1"/>
          <p:nvPr/>
        </p:nvSpPr>
        <p:spPr>
          <a:xfrm>
            <a:off x="777240" y="3858768"/>
            <a:ext cx="4754880" cy="228600"/>
          </a:xfrm>
          <a:prstGeom prst="rect">
            <a:avLst/>
          </a:prstGeom>
          <a:noFill/>
          <a:ln/>
        </p:spPr>
        <p:txBody>
          <a:bodyPr wrap="square" lIns="0" tIns="0" rIns="0" bIns="0" rtlCol="0" anchor="ctr"/>
          <a:lstStyle/>
          <a:p>
            <a:pPr indent="0" marL="0">
              <a:buNone/>
            </a:pPr>
            <a:r>
              <a:rPr lang="en-US" sz="1100" dirty="0">
                <a:solidFill>
                  <a:srgbClr val="444444"/>
                </a:solidFill>
                <a:latin typeface="IBM Plex Mono" pitchFamily="34" charset="0"/>
                <a:ea typeface="IBM Plex Mono" pitchFamily="34" charset="-122"/>
                <a:cs typeface="IBM Plex Mono" pitchFamily="34" charset="-120"/>
              </a:rPr>
              <a:t>MW 9:30–10:50 AM  ·  6 MTC 315</a:t>
            </a:r>
            <a:endParaRPr lang="en-US" sz="1100" dirty="0"/>
          </a:p>
        </p:txBody>
      </p:sp>
      <p:sp>
        <p:nvSpPr>
          <p:cNvPr id="11" name="Text 9"/>
          <p:cNvSpPr txBox="1"/>
          <p:nvPr/>
        </p:nvSpPr>
        <p:spPr>
          <a:xfrm>
            <a:off x="777240" y="4114800"/>
            <a:ext cx="4754880" cy="228600"/>
          </a:xfrm>
          <a:prstGeom prst="rect">
            <a:avLst/>
          </a:prstGeom>
          <a:noFill/>
          <a:ln/>
        </p:spPr>
        <p:txBody>
          <a:bodyPr wrap="square" lIns="0" tIns="0" rIns="0" bIns="0" rtlCol="0" anchor="ctr"/>
          <a:lstStyle/>
          <a:p>
            <a:pPr indent="0" marL="0">
              <a:buNone/>
            </a:pPr>
            <a:r>
              <a:rPr lang="en-US" sz="1100" dirty="0">
                <a:solidFill>
                  <a:srgbClr val="444444"/>
                </a:solidFill>
                <a:latin typeface="IBM Plex Mono" pitchFamily="34" charset="0"/>
                <a:ea typeface="IBM Plex Mono" pitchFamily="34" charset="-122"/>
                <a:cs typeface="IBM Plex Mono" pitchFamily="34" charset="-120"/>
              </a:rPr>
              <a:t>MW 11:00 AM–12:20 PM  ·  6 MTC 475</a:t>
            </a:r>
            <a:endParaRPr lang="en-US" sz="1100" dirty="0"/>
          </a:p>
        </p:txBody>
      </p:sp>
      <p:sp>
        <p:nvSpPr>
          <p:cNvPr id="12" name="Shape 10"/>
          <p:cNvSpPr/>
          <p:nvPr/>
        </p:nvSpPr>
        <p:spPr>
          <a:xfrm>
            <a:off x="6355080" y="1417320"/>
            <a:ext cx="5303520" cy="3931920"/>
          </a:xfrm>
          <a:prstGeom prst="rect">
            <a:avLst/>
          </a:prstGeom>
          <a:solidFill>
            <a:srgbClr val="F4F4F4"/>
          </a:solidFill>
          <a:ln/>
        </p:spPr>
      </p:sp>
      <p:sp>
        <p:nvSpPr>
          <p:cNvPr id="13" name="Text 11"/>
          <p:cNvSpPr txBox="1"/>
          <p:nvPr/>
        </p:nvSpPr>
        <p:spPr>
          <a:xfrm>
            <a:off x="6629400" y="164592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INSTRUCTOR</a:t>
            </a:r>
            <a:endParaRPr lang="en-US" sz="1000" dirty="0"/>
          </a:p>
        </p:txBody>
      </p:sp>
      <p:sp>
        <p:nvSpPr>
          <p:cNvPr id="14" name="Text 12"/>
          <p:cNvSpPr txBox="1"/>
          <p:nvPr/>
        </p:nvSpPr>
        <p:spPr>
          <a:xfrm>
            <a:off x="6629400" y="1965960"/>
            <a:ext cx="4754880" cy="502920"/>
          </a:xfrm>
          <a:prstGeom prst="rect">
            <a:avLst/>
          </a:prstGeom>
          <a:noFill/>
          <a:ln/>
        </p:spPr>
        <p:txBody>
          <a:bodyPr wrap="square" lIns="0" tIns="0" rIns="0" bIns="0" rtlCol="0" anchor="ctr"/>
          <a:lstStyle/>
          <a:p>
            <a:pPr indent="0" marL="0">
              <a:buNone/>
            </a:pPr>
            <a:r>
              <a:rPr lang="en-US" sz="2200" b="1" dirty="0">
                <a:solidFill>
                  <a:srgbClr val="111111"/>
                </a:solidFill>
                <a:latin typeface="IBM Plex Sans" pitchFamily="34" charset="0"/>
                <a:ea typeface="IBM Plex Sans" pitchFamily="34" charset="-122"/>
                <a:cs typeface="IBM Plex Sans" pitchFamily="34" charset="-120"/>
              </a:rPr>
              <a:t>Sebastián Romero Cruz</a:t>
            </a:r>
            <a:endParaRPr lang="en-US" sz="2200" dirty="0"/>
          </a:p>
        </p:txBody>
      </p:sp>
      <p:sp>
        <p:nvSpPr>
          <p:cNvPr id="15" name="Text 13"/>
          <p:cNvSpPr txBox="1"/>
          <p:nvPr/>
        </p:nvSpPr>
        <p:spPr>
          <a:xfrm>
            <a:off x="6629400" y="2468880"/>
            <a:ext cx="4754880" cy="274320"/>
          </a:xfrm>
          <a:prstGeom prst="rect">
            <a:avLst/>
          </a:prstGeom>
          <a:noFill/>
          <a:ln/>
        </p:spPr>
        <p:txBody>
          <a:bodyPr wrap="square" lIns="0" tIns="0" rIns="0" bIns="0" rtlCol="0" anchor="ctr"/>
          <a:lstStyle/>
          <a:p>
            <a:pPr indent="0" marL="0">
              <a:buNone/>
            </a:pPr>
            <a:r>
              <a:rPr lang="en-US" sz="1100" dirty="0">
                <a:solidFill>
                  <a:srgbClr val="999999"/>
                </a:solidFill>
                <a:latin typeface="IBM Plex Mono" pitchFamily="34" charset="0"/>
                <a:ea typeface="IBM Plex Mono" pitchFamily="34" charset="-122"/>
                <a:cs typeface="IBM Plex Mono" pitchFamily="34" charset="-120"/>
              </a:rPr>
              <a:t>they / them</a:t>
            </a:r>
            <a:endParaRPr lang="en-US" sz="1100" dirty="0"/>
          </a:p>
        </p:txBody>
      </p:sp>
      <p:sp>
        <p:nvSpPr>
          <p:cNvPr id="16" name="Text 14"/>
          <p:cNvSpPr txBox="1"/>
          <p:nvPr/>
        </p:nvSpPr>
        <p:spPr>
          <a:xfrm>
            <a:off x="6629400" y="2834640"/>
            <a:ext cx="11155680" cy="274320"/>
          </a:xfrm>
          <a:prstGeom prst="rect">
            <a:avLst/>
          </a:prstGeom>
          <a:noFill/>
          <a:ln/>
        </p:spPr>
        <p:txBody>
          <a:bodyPr wrap="square" lIns="0" tIns="0" rIns="0" bIns="0" rtlCol="0" anchor="t"/>
          <a:lstStyle/>
          <a:p>
            <a:pPr algn="l" indent="0" marL="0">
              <a:buNone/>
            </a:pPr>
            <a:r>
              <a:rPr lang="en-US" sz="1500" dirty="0">
                <a:solidFill>
                  <a:srgbClr val="111111"/>
                </a:solidFill>
                <a:latin typeface="IBM Plex Sans" pitchFamily="34" charset="0"/>
                <a:ea typeface="IBM Plex Sans" pitchFamily="34" charset="-122"/>
                <a:cs typeface="IBM Plex Sans" pitchFamily="34" charset="-120"/>
              </a:rPr>
              <a:t>src402@nyu.edu</a:t>
            </a:r>
            <a:endParaRPr lang="en-US" sz="1500" dirty="0"/>
          </a:p>
        </p:txBody>
      </p:sp>
      <p:sp>
        <p:nvSpPr>
          <p:cNvPr id="17" name="Text 15"/>
          <p:cNvSpPr txBox="1"/>
          <p:nvPr/>
        </p:nvSpPr>
        <p:spPr>
          <a:xfrm>
            <a:off x="6629400" y="3200400"/>
            <a:ext cx="11155680" cy="274320"/>
          </a:xfrm>
          <a:prstGeom prst="rect">
            <a:avLst/>
          </a:prstGeom>
          <a:noFill/>
          <a:ln/>
        </p:spPr>
        <p:txBody>
          <a:bodyPr wrap="square" lIns="0" tIns="0" rIns="0" bIns="0" rtlCol="0" anchor="t"/>
          <a:lstStyle/>
          <a:p>
            <a:pPr algn="l" indent="0" marL="0">
              <a:buNone/>
            </a:pPr>
            <a:r>
              <a:rPr lang="en-US" sz="1500" dirty="0">
                <a:solidFill>
                  <a:srgbClr val="111111"/>
                </a:solidFill>
                <a:latin typeface="IBM Plex Sans" pitchFamily="34" charset="0"/>
                <a:ea typeface="IBM Plex Sans" pitchFamily="34" charset="-122"/>
                <a:cs typeface="IBM Plex Sans" pitchFamily="34" charset="-120"/>
              </a:rPr>
              <a:t>370 Jay St, RM 843</a:t>
            </a:r>
            <a:endParaRPr lang="en-US" sz="1500" dirty="0"/>
          </a:p>
        </p:txBody>
      </p:sp>
      <p:sp>
        <p:nvSpPr>
          <p:cNvPr id="18" name="Text 16"/>
          <p:cNvSpPr txBox="1"/>
          <p:nvPr/>
        </p:nvSpPr>
        <p:spPr>
          <a:xfrm>
            <a:off x="6629400" y="3566160"/>
            <a:ext cx="11155680" cy="274320"/>
          </a:xfrm>
          <a:prstGeom prst="rect">
            <a:avLst/>
          </a:prstGeom>
          <a:noFill/>
          <a:ln/>
        </p:spPr>
        <p:txBody>
          <a:bodyPr wrap="square" lIns="0" tIns="0" rIns="0" bIns="0" rtlCol="0" anchor="t"/>
          <a:lstStyle/>
          <a:p>
            <a:pPr algn="l" indent="0" marL="0">
              <a:buNone/>
            </a:pPr>
            <a:r>
              <a:rPr lang="en-US" sz="1500" dirty="0">
                <a:solidFill>
                  <a:srgbClr val="111111"/>
                </a:solidFill>
                <a:latin typeface="IBM Plex Sans" pitchFamily="34" charset="0"/>
                <a:ea typeface="IBM Plex Sans" pitchFamily="34" charset="-122"/>
                <a:cs typeface="IBM Plex Sans" pitchFamily="34" charset="-120"/>
              </a:rPr>
              <a:t>Section: CLEC</a:t>
            </a:r>
            <a:endParaRPr lang="en-US" sz="1500" dirty="0"/>
          </a:p>
        </p:txBody>
      </p:sp>
      <p:sp>
        <p:nvSpPr>
          <p:cNvPr id="19" name="Text 17"/>
          <p:cNvSpPr txBox="1"/>
          <p:nvPr/>
        </p:nvSpPr>
        <p:spPr>
          <a:xfrm>
            <a:off x="6629400" y="3858768"/>
            <a:ext cx="4754880" cy="228600"/>
          </a:xfrm>
          <a:prstGeom prst="rect">
            <a:avLst/>
          </a:prstGeom>
          <a:noFill/>
          <a:ln/>
        </p:spPr>
        <p:txBody>
          <a:bodyPr wrap="square" lIns="0" tIns="0" rIns="0" bIns="0" rtlCol="0" anchor="ctr"/>
          <a:lstStyle/>
          <a:p>
            <a:pPr indent="0" marL="0">
              <a:buNone/>
            </a:pPr>
            <a:r>
              <a:rPr lang="en-US" sz="1100" dirty="0">
                <a:solidFill>
                  <a:srgbClr val="444444"/>
                </a:solidFill>
                <a:latin typeface="IBM Plex Mono" pitchFamily="34" charset="0"/>
                <a:ea typeface="IBM Plex Mono" pitchFamily="34" charset="-122"/>
                <a:cs typeface="IBM Plex Mono" pitchFamily="34" charset="-120"/>
              </a:rPr>
              <a:t>MW 5:00–6:20 PM  ·  6 MTC 215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1005840"/>
            <a:ext cx="1097280" cy="36576"/>
          </a:xfrm>
          <a:prstGeom prst="rect">
            <a:avLst/>
          </a:prstGeom>
          <a:solidFill>
            <a:srgbClr val="CC3320"/>
          </a:solidFill>
          <a:ln/>
        </p:spPr>
      </p:sp>
      <p:sp>
        <p:nvSpPr>
          <p:cNvPr id="3" name="Text 1"/>
          <p:cNvSpPr txBox="1"/>
          <p:nvPr/>
        </p:nvSpPr>
        <p:spPr>
          <a:xfrm>
            <a:off x="502920" y="411480"/>
            <a:ext cx="11155680" cy="640080"/>
          </a:xfrm>
          <a:prstGeom prst="rect">
            <a:avLst/>
          </a:prstGeom>
          <a:noFill/>
          <a:ln/>
        </p:spPr>
        <p:txBody>
          <a:bodyPr wrap="square" lIns="0" tIns="0" rIns="0" bIns="0" rtlCol="0" anchor="ctr"/>
          <a:lstStyle/>
          <a:p>
            <a:pPr algn="l" indent="0" marL="0">
              <a:buNone/>
            </a:pPr>
            <a:r>
              <a:rPr lang="en-US" sz="3200" b="1" dirty="0">
                <a:solidFill>
                  <a:srgbClr val="111111"/>
                </a:solidFill>
                <a:latin typeface="IBM Plex Sans" pitchFamily="34" charset="0"/>
                <a:ea typeface="IBM Plex Sans" pitchFamily="34" charset="-122"/>
                <a:cs typeface="IBM Plex Sans" pitchFamily="34" charset="-120"/>
              </a:rPr>
              <a:t>What This Course Is</a:t>
            </a:r>
            <a:endParaRPr lang="en-US" sz="3200" dirty="0"/>
          </a:p>
        </p:txBody>
      </p:sp>
      <p:sp>
        <p:nvSpPr>
          <p:cNvPr id="4" name="Text 2"/>
          <p:cNvSpPr txBox="1"/>
          <p:nvPr/>
        </p:nvSpPr>
        <p:spPr>
          <a:xfrm>
            <a:off x="502920" y="1188720"/>
            <a:ext cx="11155680" cy="640080"/>
          </a:xfrm>
          <a:prstGeom prst="rect">
            <a:avLst/>
          </a:prstGeom>
          <a:noFill/>
          <a:ln/>
        </p:spPr>
        <p:txBody>
          <a:bodyPr wrap="square" lIns="0" tIns="0" rIns="0" bIns="0" rtlCol="0" anchor="t"/>
          <a:lstStyle/>
          <a:p>
            <a:pPr algn="l" indent="0" marL="0">
              <a:buNone/>
            </a:pPr>
            <a:r>
              <a:rPr lang="en-US" sz="1800" dirty="0">
                <a:solidFill>
                  <a:srgbClr val="111111"/>
                </a:solidFill>
                <a:latin typeface="IBM Plex Sans" pitchFamily="34" charset="0"/>
                <a:ea typeface="IBM Plex Sans" pitchFamily="34" charset="-122"/>
                <a:cs typeface="IBM Plex Sans" pitchFamily="34" charset="-120"/>
              </a:rPr>
              <a:t>An introduction to problem solving and computer programming using Python, built for CS and CE majors with limited prior experience.</a:t>
            </a:r>
            <a:endParaRPr lang="en-US" sz="1800" dirty="0"/>
          </a:p>
        </p:txBody>
      </p:sp>
      <p:sp>
        <p:nvSpPr>
          <p:cNvPr id="5" name="Shape 3"/>
          <p:cNvSpPr/>
          <p:nvPr/>
        </p:nvSpPr>
        <p:spPr>
          <a:xfrm>
            <a:off x="502920" y="2103120"/>
            <a:ext cx="5303520" cy="1463040"/>
          </a:xfrm>
          <a:prstGeom prst="rect">
            <a:avLst/>
          </a:prstGeom>
          <a:solidFill>
            <a:srgbClr val="F4F4F4"/>
          </a:solidFill>
          <a:ln/>
        </p:spPr>
      </p:sp>
      <p:sp>
        <p:nvSpPr>
          <p:cNvPr id="6" name="Text 4"/>
          <p:cNvSpPr txBox="1"/>
          <p:nvPr/>
        </p:nvSpPr>
        <p:spPr>
          <a:xfrm>
            <a:off x="777240" y="2286000"/>
            <a:ext cx="4754880" cy="365760"/>
          </a:xfrm>
          <a:prstGeom prst="rect">
            <a:avLst/>
          </a:prstGeom>
          <a:noFill/>
          <a:ln/>
        </p:spPr>
        <p:txBody>
          <a:bodyPr wrap="square" lIns="0" tIns="0" rIns="0" bIns="0" rtlCol="0" anchor="ctr"/>
          <a:lstStyle/>
          <a:p>
            <a:pPr indent="0" marL="0">
              <a:buNone/>
            </a:pPr>
            <a:r>
              <a:rPr lang="en-US" sz="1700" b="1" dirty="0">
                <a:solidFill>
                  <a:srgbClr val="CC3320"/>
                </a:solidFill>
                <a:latin typeface="IBM Plex Sans" pitchFamily="34" charset="0"/>
                <a:ea typeface="IBM Plex Sans" pitchFamily="34" charset="-122"/>
                <a:cs typeface="IBM Plex Sans" pitchFamily="34" charset="-120"/>
              </a:rPr>
              <a:t>Fundamentals</a:t>
            </a:r>
            <a:endParaRPr lang="en-US" sz="1700" dirty="0"/>
          </a:p>
        </p:txBody>
      </p:sp>
      <p:sp>
        <p:nvSpPr>
          <p:cNvPr id="7" name="Text 5"/>
          <p:cNvSpPr txBox="1"/>
          <p:nvPr/>
        </p:nvSpPr>
        <p:spPr>
          <a:xfrm>
            <a:off x="777240" y="2743200"/>
            <a:ext cx="4754880" cy="594360"/>
          </a:xfrm>
          <a:prstGeom prst="rect">
            <a:avLst/>
          </a:prstGeom>
          <a:noFill/>
          <a:ln/>
        </p:spPr>
        <p:txBody>
          <a:bodyPr wrap="square" lIns="0" tIns="0" rIns="0" bIns="0" rtlCol="0" anchor="t"/>
          <a:lstStyle/>
          <a:p>
            <a:pPr algn="l" indent="0" marL="0">
              <a:buNone/>
            </a:pPr>
            <a:r>
              <a:rPr lang="en-US" sz="1400" dirty="0">
                <a:solidFill>
                  <a:srgbClr val="444444"/>
                </a:solidFill>
                <a:latin typeface="IBM Plex Sans" pitchFamily="34" charset="0"/>
                <a:ea typeface="IBM Plex Sans" pitchFamily="34" charset="-122"/>
                <a:cs typeface="IBM Plex Sans" pitchFamily="34" charset="-120"/>
              </a:rPr>
              <a:t>Variables, data types, operators, control flow</a:t>
            </a:r>
            <a:endParaRPr lang="en-US" sz="1400" dirty="0"/>
          </a:p>
        </p:txBody>
      </p:sp>
      <p:sp>
        <p:nvSpPr>
          <p:cNvPr id="8" name="Shape 6"/>
          <p:cNvSpPr/>
          <p:nvPr/>
        </p:nvSpPr>
        <p:spPr>
          <a:xfrm>
            <a:off x="6355080" y="2103120"/>
            <a:ext cx="5303520" cy="1463040"/>
          </a:xfrm>
          <a:prstGeom prst="rect">
            <a:avLst/>
          </a:prstGeom>
          <a:solidFill>
            <a:srgbClr val="F4F4F4"/>
          </a:solidFill>
          <a:ln/>
        </p:spPr>
      </p:sp>
      <p:sp>
        <p:nvSpPr>
          <p:cNvPr id="9" name="Text 7"/>
          <p:cNvSpPr txBox="1"/>
          <p:nvPr/>
        </p:nvSpPr>
        <p:spPr>
          <a:xfrm>
            <a:off x="6629400" y="2286000"/>
            <a:ext cx="4754880" cy="365760"/>
          </a:xfrm>
          <a:prstGeom prst="rect">
            <a:avLst/>
          </a:prstGeom>
          <a:noFill/>
          <a:ln/>
        </p:spPr>
        <p:txBody>
          <a:bodyPr wrap="square" lIns="0" tIns="0" rIns="0" bIns="0" rtlCol="0" anchor="ctr"/>
          <a:lstStyle/>
          <a:p>
            <a:pPr indent="0" marL="0">
              <a:buNone/>
            </a:pPr>
            <a:r>
              <a:rPr lang="en-US" sz="1700" b="1" dirty="0">
                <a:solidFill>
                  <a:srgbClr val="CC3320"/>
                </a:solidFill>
                <a:latin typeface="IBM Plex Sans" pitchFamily="34" charset="0"/>
                <a:ea typeface="IBM Plex Sans" pitchFamily="34" charset="-122"/>
                <a:cs typeface="IBM Plex Sans" pitchFamily="34" charset="-120"/>
              </a:rPr>
              <a:t>Functions &amp; Files</a:t>
            </a:r>
            <a:endParaRPr lang="en-US" sz="1700" dirty="0"/>
          </a:p>
        </p:txBody>
      </p:sp>
      <p:sp>
        <p:nvSpPr>
          <p:cNvPr id="10" name="Text 8"/>
          <p:cNvSpPr txBox="1"/>
          <p:nvPr/>
        </p:nvSpPr>
        <p:spPr>
          <a:xfrm>
            <a:off x="6629400" y="2743200"/>
            <a:ext cx="4754880" cy="594360"/>
          </a:xfrm>
          <a:prstGeom prst="rect">
            <a:avLst/>
          </a:prstGeom>
          <a:noFill/>
          <a:ln/>
        </p:spPr>
        <p:txBody>
          <a:bodyPr wrap="square" lIns="0" tIns="0" rIns="0" bIns="0" rtlCol="0" anchor="t"/>
          <a:lstStyle/>
          <a:p>
            <a:pPr algn="l" indent="0" marL="0">
              <a:buNone/>
            </a:pPr>
            <a:r>
              <a:rPr lang="en-US" sz="1400" dirty="0">
                <a:solidFill>
                  <a:srgbClr val="444444"/>
                </a:solidFill>
                <a:latin typeface="IBM Plex Sans" pitchFamily="34" charset="0"/>
                <a:ea typeface="IBM Plex Sans" pitchFamily="34" charset="-122"/>
                <a:cs typeface="IBM Plex Sans" pitchFamily="34" charset="-120"/>
              </a:rPr>
              <a:t>Writing reusable code; reading and writing files</a:t>
            </a:r>
            <a:endParaRPr lang="en-US" sz="1400" dirty="0"/>
          </a:p>
        </p:txBody>
      </p:sp>
      <p:sp>
        <p:nvSpPr>
          <p:cNvPr id="11" name="Shape 9"/>
          <p:cNvSpPr/>
          <p:nvPr/>
        </p:nvSpPr>
        <p:spPr>
          <a:xfrm>
            <a:off x="502920" y="3931920"/>
            <a:ext cx="5303520" cy="1463040"/>
          </a:xfrm>
          <a:prstGeom prst="rect">
            <a:avLst/>
          </a:prstGeom>
          <a:solidFill>
            <a:srgbClr val="F4F4F4"/>
          </a:solidFill>
          <a:ln/>
        </p:spPr>
      </p:sp>
      <p:sp>
        <p:nvSpPr>
          <p:cNvPr id="12" name="Text 10"/>
          <p:cNvSpPr txBox="1"/>
          <p:nvPr/>
        </p:nvSpPr>
        <p:spPr>
          <a:xfrm>
            <a:off x="777240" y="4114800"/>
            <a:ext cx="4754880" cy="365760"/>
          </a:xfrm>
          <a:prstGeom prst="rect">
            <a:avLst/>
          </a:prstGeom>
          <a:noFill/>
          <a:ln/>
        </p:spPr>
        <p:txBody>
          <a:bodyPr wrap="square" lIns="0" tIns="0" rIns="0" bIns="0" rtlCol="0" anchor="ctr"/>
          <a:lstStyle/>
          <a:p>
            <a:pPr indent="0" marL="0">
              <a:buNone/>
            </a:pPr>
            <a:r>
              <a:rPr lang="en-US" sz="1700" b="1" dirty="0">
                <a:solidFill>
                  <a:srgbClr val="CC3320"/>
                </a:solidFill>
                <a:latin typeface="IBM Plex Sans" pitchFamily="34" charset="0"/>
                <a:ea typeface="IBM Plex Sans" pitchFamily="34" charset="-122"/>
                <a:cs typeface="IBM Plex Sans" pitchFamily="34" charset="-120"/>
              </a:rPr>
              <a:t>Data Structures</a:t>
            </a:r>
            <a:endParaRPr lang="en-US" sz="1700" dirty="0"/>
          </a:p>
        </p:txBody>
      </p:sp>
      <p:sp>
        <p:nvSpPr>
          <p:cNvPr id="13" name="Text 11"/>
          <p:cNvSpPr txBox="1"/>
          <p:nvPr/>
        </p:nvSpPr>
        <p:spPr>
          <a:xfrm>
            <a:off x="777240" y="4572000"/>
            <a:ext cx="4754880" cy="594360"/>
          </a:xfrm>
          <a:prstGeom prst="rect">
            <a:avLst/>
          </a:prstGeom>
          <a:noFill/>
          <a:ln/>
        </p:spPr>
        <p:txBody>
          <a:bodyPr wrap="square" lIns="0" tIns="0" rIns="0" bIns="0" rtlCol="0" anchor="t"/>
          <a:lstStyle/>
          <a:p>
            <a:pPr algn="l" indent="0" marL="0">
              <a:buNone/>
            </a:pPr>
            <a:r>
              <a:rPr lang="en-US" sz="1400" dirty="0">
                <a:solidFill>
                  <a:srgbClr val="444444"/>
                </a:solidFill>
                <a:latin typeface="IBM Plex Sans" pitchFamily="34" charset="0"/>
                <a:ea typeface="IBM Plex Sans" pitchFamily="34" charset="-122"/>
                <a:cs typeface="IBM Plex Sans" pitchFamily="34" charset="-120"/>
              </a:rPr>
              <a:t>Lists, tuples, dictionaries, 2D structures</a:t>
            </a:r>
            <a:endParaRPr lang="en-US" sz="1400" dirty="0"/>
          </a:p>
        </p:txBody>
      </p:sp>
      <p:sp>
        <p:nvSpPr>
          <p:cNvPr id="14" name="Shape 12"/>
          <p:cNvSpPr/>
          <p:nvPr/>
        </p:nvSpPr>
        <p:spPr>
          <a:xfrm>
            <a:off x="6355080" y="3931920"/>
            <a:ext cx="5303520" cy="1463040"/>
          </a:xfrm>
          <a:prstGeom prst="rect">
            <a:avLst/>
          </a:prstGeom>
          <a:solidFill>
            <a:srgbClr val="F4F4F4"/>
          </a:solidFill>
          <a:ln/>
        </p:spPr>
      </p:sp>
      <p:sp>
        <p:nvSpPr>
          <p:cNvPr id="15" name="Text 13"/>
          <p:cNvSpPr txBox="1"/>
          <p:nvPr/>
        </p:nvSpPr>
        <p:spPr>
          <a:xfrm>
            <a:off x="6629400" y="4114800"/>
            <a:ext cx="4754880" cy="365760"/>
          </a:xfrm>
          <a:prstGeom prst="rect">
            <a:avLst/>
          </a:prstGeom>
          <a:noFill/>
          <a:ln/>
        </p:spPr>
        <p:txBody>
          <a:bodyPr wrap="square" lIns="0" tIns="0" rIns="0" bIns="0" rtlCol="0" anchor="ctr"/>
          <a:lstStyle/>
          <a:p>
            <a:pPr indent="0" marL="0">
              <a:buNone/>
            </a:pPr>
            <a:r>
              <a:rPr lang="en-US" sz="1700" b="1" dirty="0">
                <a:solidFill>
                  <a:srgbClr val="CC3320"/>
                </a:solidFill>
                <a:latin typeface="IBM Plex Sans" pitchFamily="34" charset="0"/>
                <a:ea typeface="IBM Plex Sans" pitchFamily="34" charset="-122"/>
                <a:cs typeface="IBM Plex Sans" pitchFamily="34" charset="-120"/>
              </a:rPr>
              <a:t>OOP &amp; Recursion</a:t>
            </a:r>
            <a:endParaRPr lang="en-US" sz="1700" dirty="0"/>
          </a:p>
        </p:txBody>
      </p:sp>
      <p:sp>
        <p:nvSpPr>
          <p:cNvPr id="16" name="Text 14"/>
          <p:cNvSpPr txBox="1"/>
          <p:nvPr/>
        </p:nvSpPr>
        <p:spPr>
          <a:xfrm>
            <a:off x="6629400" y="4572000"/>
            <a:ext cx="4754880" cy="594360"/>
          </a:xfrm>
          <a:prstGeom prst="rect">
            <a:avLst/>
          </a:prstGeom>
          <a:noFill/>
          <a:ln/>
        </p:spPr>
        <p:txBody>
          <a:bodyPr wrap="square" lIns="0" tIns="0" rIns="0" bIns="0" rtlCol="0" anchor="t"/>
          <a:lstStyle/>
          <a:p>
            <a:pPr algn="l" indent="0" marL="0">
              <a:buNone/>
            </a:pPr>
            <a:r>
              <a:rPr lang="en-US" sz="1400" dirty="0">
                <a:solidFill>
                  <a:srgbClr val="444444"/>
                </a:solidFill>
                <a:latin typeface="IBM Plex Sans" pitchFamily="34" charset="0"/>
                <a:ea typeface="IBM Plex Sans" pitchFamily="34" charset="-122"/>
                <a:cs typeface="IBM Plex Sans" pitchFamily="34" charset="-120"/>
              </a:rPr>
              <a:t>Classes, objects, recursive thinking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1005840"/>
            <a:ext cx="1097280" cy="36576"/>
          </a:xfrm>
          <a:prstGeom prst="rect">
            <a:avLst/>
          </a:prstGeom>
          <a:solidFill>
            <a:srgbClr val="CC3320"/>
          </a:solidFill>
          <a:ln/>
        </p:spPr>
      </p:sp>
      <p:sp>
        <p:nvSpPr>
          <p:cNvPr id="3" name="Text 1"/>
          <p:cNvSpPr txBox="1"/>
          <p:nvPr/>
        </p:nvSpPr>
        <p:spPr>
          <a:xfrm>
            <a:off x="502920" y="411480"/>
            <a:ext cx="11155680" cy="640080"/>
          </a:xfrm>
          <a:prstGeom prst="rect">
            <a:avLst/>
          </a:prstGeom>
          <a:noFill/>
          <a:ln/>
        </p:spPr>
        <p:txBody>
          <a:bodyPr wrap="square" lIns="0" tIns="0" rIns="0" bIns="0" rtlCol="0" anchor="ctr"/>
          <a:lstStyle/>
          <a:p>
            <a:pPr algn="l" indent="0" marL="0">
              <a:buNone/>
            </a:pPr>
            <a:r>
              <a:rPr lang="en-US" sz="3200" b="1" dirty="0">
                <a:solidFill>
                  <a:srgbClr val="111111"/>
                </a:solidFill>
                <a:latin typeface="IBM Plex Sans" pitchFamily="34" charset="0"/>
                <a:ea typeface="IBM Plex Sans" pitchFamily="34" charset="-122"/>
                <a:cs typeface="IBM Plex Sans" pitchFamily="34" charset="-120"/>
              </a:rPr>
              <a:t>Course Structure</a:t>
            </a:r>
            <a:endParaRPr lang="en-US" sz="3200" dirty="0"/>
          </a:p>
        </p:txBody>
      </p:sp>
      <p:sp>
        <p:nvSpPr>
          <p:cNvPr id="4" name="Shape 2"/>
          <p:cNvSpPr/>
          <p:nvPr/>
        </p:nvSpPr>
        <p:spPr>
          <a:xfrm>
            <a:off x="502920" y="1463040"/>
            <a:ext cx="3611880" cy="4206240"/>
          </a:xfrm>
          <a:prstGeom prst="rect">
            <a:avLst/>
          </a:prstGeom>
          <a:solidFill>
            <a:srgbClr val="F4F4F4"/>
          </a:solidFill>
          <a:ln/>
        </p:spPr>
      </p:sp>
      <p:sp>
        <p:nvSpPr>
          <p:cNvPr id="5" name="Text 3"/>
          <p:cNvSpPr txBox="1"/>
          <p:nvPr/>
        </p:nvSpPr>
        <p:spPr>
          <a:xfrm>
            <a:off x="731520" y="169164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LECTURE</a:t>
            </a:r>
            <a:endParaRPr lang="en-US" sz="1000" dirty="0"/>
          </a:p>
        </p:txBody>
      </p:sp>
      <p:sp>
        <p:nvSpPr>
          <p:cNvPr id="6" name="Text 4"/>
          <p:cNvSpPr txBox="1"/>
          <p:nvPr/>
        </p:nvSpPr>
        <p:spPr>
          <a:xfrm>
            <a:off x="731520" y="2029968"/>
            <a:ext cx="3154680" cy="411480"/>
          </a:xfrm>
          <a:prstGeom prst="rect">
            <a:avLst/>
          </a:prstGeom>
          <a:noFill/>
          <a:ln/>
        </p:spPr>
        <p:txBody>
          <a:bodyPr wrap="square" lIns="0" tIns="0" rIns="0" bIns="0" rtlCol="0" anchor="ctr"/>
          <a:lstStyle/>
          <a:p>
            <a:pPr indent="0" marL="0">
              <a:buNone/>
            </a:pPr>
            <a:r>
              <a:rPr lang="en-US" sz="2000" b="1" dirty="0">
                <a:solidFill>
                  <a:srgbClr val="111111"/>
                </a:solidFill>
                <a:latin typeface="IBM Plex Sans" pitchFamily="34" charset="0"/>
                <a:ea typeface="IBM Plex Sans" pitchFamily="34" charset="-122"/>
                <a:cs typeface="IBM Plex Sans" pitchFamily="34" charset="-120"/>
              </a:rPr>
              <a:t>Twice weekly</a:t>
            </a:r>
            <a:endParaRPr lang="en-US" sz="2000" dirty="0"/>
          </a:p>
        </p:txBody>
      </p:sp>
      <p:sp>
        <p:nvSpPr>
          <p:cNvPr id="7" name="Text 5"/>
          <p:cNvSpPr txBox="1"/>
          <p:nvPr/>
        </p:nvSpPr>
        <p:spPr>
          <a:xfrm>
            <a:off x="731520" y="2606040"/>
            <a:ext cx="3154680" cy="1097280"/>
          </a:xfrm>
          <a:prstGeom prst="rect">
            <a:avLst/>
          </a:prstGeom>
          <a:noFill/>
          <a:ln/>
        </p:spPr>
        <p:txBody>
          <a:bodyPr wrap="square" lIns="0" tIns="0" rIns="0" bIns="0" rtlCol="0" anchor="t"/>
          <a:lstStyle/>
          <a:p>
            <a:pPr algn="l" indent="0" marL="0">
              <a:buNone/>
            </a:pPr>
            <a:r>
              <a:rPr lang="en-US" sz="1300" dirty="0">
                <a:solidFill>
                  <a:srgbClr val="444444"/>
                </a:solidFill>
                <a:latin typeface="IBM Plex Sans" pitchFamily="34" charset="0"/>
                <a:ea typeface="IBM Plex Sans" pitchFamily="34" charset="-122"/>
                <a:cs typeface="IBM Plex Sans" pitchFamily="34" charset="-120"/>
              </a:rPr>
              <a:t>Monday + Wednesday</a:t>
            </a:r>
            <a:endParaRPr lang="en-US" sz="1300" dirty="0"/>
          </a:p>
          <a:p>
            <a:pPr algn="l" indent="0" marL="0">
              <a:buNone/>
            </a:pPr>
            <a:r>
              <a:rPr lang="en-US" sz="1300" dirty="0">
                <a:solidFill>
                  <a:srgbClr val="444444"/>
                </a:solidFill>
                <a:latin typeface="IBM Plex Sans" pitchFamily="34" charset="0"/>
                <a:ea typeface="IBM Plex Sans" pitchFamily="34" charset="-122"/>
                <a:cs typeface="IBM Plex Sans" pitchFamily="34" charset="-120"/>
              </a:rPr>
              <a:t>New concepts, live coding, discussion</a:t>
            </a:r>
            <a:endParaRPr lang="en-US" sz="1300" dirty="0"/>
          </a:p>
        </p:txBody>
      </p:sp>
      <p:sp>
        <p:nvSpPr>
          <p:cNvPr id="8" name="Shape 6"/>
          <p:cNvSpPr/>
          <p:nvPr/>
        </p:nvSpPr>
        <p:spPr>
          <a:xfrm>
            <a:off x="4389120" y="1463040"/>
            <a:ext cx="3611880" cy="4206240"/>
          </a:xfrm>
          <a:prstGeom prst="rect">
            <a:avLst/>
          </a:prstGeom>
          <a:solidFill>
            <a:srgbClr val="F4F4F4"/>
          </a:solidFill>
          <a:ln/>
        </p:spPr>
      </p:sp>
      <p:sp>
        <p:nvSpPr>
          <p:cNvPr id="9" name="Text 7"/>
          <p:cNvSpPr txBox="1"/>
          <p:nvPr/>
        </p:nvSpPr>
        <p:spPr>
          <a:xfrm>
            <a:off x="4617720" y="169164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LAB</a:t>
            </a:r>
            <a:endParaRPr lang="en-US" sz="1000" dirty="0"/>
          </a:p>
        </p:txBody>
      </p:sp>
      <p:sp>
        <p:nvSpPr>
          <p:cNvPr id="10" name="Text 8"/>
          <p:cNvSpPr txBox="1"/>
          <p:nvPr/>
        </p:nvSpPr>
        <p:spPr>
          <a:xfrm>
            <a:off x="4617720" y="2029968"/>
            <a:ext cx="3154680" cy="411480"/>
          </a:xfrm>
          <a:prstGeom prst="rect">
            <a:avLst/>
          </a:prstGeom>
          <a:noFill/>
          <a:ln/>
        </p:spPr>
        <p:txBody>
          <a:bodyPr wrap="square" lIns="0" tIns="0" rIns="0" bIns="0" rtlCol="0" anchor="ctr"/>
          <a:lstStyle/>
          <a:p>
            <a:pPr indent="0" marL="0">
              <a:buNone/>
            </a:pPr>
            <a:r>
              <a:rPr lang="en-US" sz="2000" b="1" dirty="0">
                <a:solidFill>
                  <a:srgbClr val="111111"/>
                </a:solidFill>
                <a:latin typeface="IBM Plex Sans" pitchFamily="34" charset="0"/>
                <a:ea typeface="IBM Plex Sans" pitchFamily="34" charset="-122"/>
                <a:cs typeface="IBM Plex Sans" pitchFamily="34" charset="-120"/>
              </a:rPr>
              <a:t>Once weekly</a:t>
            </a:r>
            <a:endParaRPr lang="en-US" sz="2000" dirty="0"/>
          </a:p>
        </p:txBody>
      </p:sp>
      <p:sp>
        <p:nvSpPr>
          <p:cNvPr id="11" name="Text 9"/>
          <p:cNvSpPr txBox="1"/>
          <p:nvPr/>
        </p:nvSpPr>
        <p:spPr>
          <a:xfrm>
            <a:off x="4617720" y="2606040"/>
            <a:ext cx="3154680" cy="1097280"/>
          </a:xfrm>
          <a:prstGeom prst="rect">
            <a:avLst/>
          </a:prstGeom>
          <a:noFill/>
          <a:ln/>
        </p:spPr>
        <p:txBody>
          <a:bodyPr wrap="square" lIns="0" tIns="0" rIns="0" bIns="0" rtlCol="0" anchor="t"/>
          <a:lstStyle/>
          <a:p>
            <a:pPr algn="l" indent="0" marL="0">
              <a:buNone/>
            </a:pPr>
            <a:r>
              <a:rPr lang="en-US" sz="1300" dirty="0">
                <a:solidFill>
                  <a:srgbClr val="444444"/>
                </a:solidFill>
                <a:latin typeface="IBM Plex Sans" pitchFamily="34" charset="0"/>
                <a:ea typeface="IBM Plex Sans" pitchFamily="34" charset="-122"/>
                <a:cs typeface="IBM Plex Sans" pitchFamily="34" charset="-120"/>
              </a:rPr>
              <a:t>Friday (or as scheduled)</a:t>
            </a:r>
            <a:endParaRPr lang="en-US" sz="1300" dirty="0"/>
          </a:p>
          <a:p>
            <a:pPr algn="l" indent="0" marL="0">
              <a:buNone/>
            </a:pPr>
            <a:r>
              <a:rPr lang="en-US" sz="1300" dirty="0">
                <a:solidFill>
                  <a:srgbClr val="444444"/>
                </a:solidFill>
                <a:latin typeface="IBM Plex Sans" pitchFamily="34" charset="0"/>
                <a:ea typeface="IBM Plex Sans" pitchFamily="34" charset="-122"/>
                <a:cs typeface="IBM Plex Sans" pitchFamily="34" charset="-120"/>
              </a:rPr>
              <a:t>Supervised, collaborative practice. Mandatory.</a:t>
            </a:r>
            <a:endParaRPr lang="en-US" sz="1300" dirty="0"/>
          </a:p>
        </p:txBody>
      </p:sp>
      <p:sp>
        <p:nvSpPr>
          <p:cNvPr id="12" name="Shape 10"/>
          <p:cNvSpPr/>
          <p:nvPr/>
        </p:nvSpPr>
        <p:spPr>
          <a:xfrm>
            <a:off x="8275320" y="1463040"/>
            <a:ext cx="3611880" cy="4206240"/>
          </a:xfrm>
          <a:prstGeom prst="rect">
            <a:avLst/>
          </a:prstGeom>
          <a:solidFill>
            <a:srgbClr val="F4F4F4"/>
          </a:solidFill>
          <a:ln/>
        </p:spPr>
      </p:sp>
      <p:sp>
        <p:nvSpPr>
          <p:cNvPr id="13" name="Text 11"/>
          <p:cNvSpPr txBox="1"/>
          <p:nvPr/>
        </p:nvSpPr>
        <p:spPr>
          <a:xfrm>
            <a:off x="8503920" y="169164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OFFICE HOURS</a:t>
            </a:r>
            <a:endParaRPr lang="en-US" sz="1000" dirty="0"/>
          </a:p>
        </p:txBody>
      </p:sp>
      <p:sp>
        <p:nvSpPr>
          <p:cNvPr id="14" name="Text 12"/>
          <p:cNvSpPr txBox="1"/>
          <p:nvPr/>
        </p:nvSpPr>
        <p:spPr>
          <a:xfrm>
            <a:off x="8503920" y="2029968"/>
            <a:ext cx="3154680" cy="411480"/>
          </a:xfrm>
          <a:prstGeom prst="rect">
            <a:avLst/>
          </a:prstGeom>
          <a:noFill/>
          <a:ln/>
        </p:spPr>
        <p:txBody>
          <a:bodyPr wrap="square" lIns="0" tIns="0" rIns="0" bIns="0" rtlCol="0" anchor="ctr"/>
          <a:lstStyle/>
          <a:p>
            <a:pPr indent="0" marL="0">
              <a:buNone/>
            </a:pPr>
            <a:r>
              <a:rPr lang="en-US" sz="2000" b="1" dirty="0">
                <a:solidFill>
                  <a:srgbClr val="111111"/>
                </a:solidFill>
                <a:latin typeface="IBM Plex Sans" pitchFamily="34" charset="0"/>
                <a:ea typeface="IBM Plex Sans" pitchFamily="34" charset="-122"/>
                <a:cs typeface="IBM Plex Sans" pitchFamily="34" charset="-120"/>
              </a:rPr>
              <a:t>CA + Instructor</a:t>
            </a:r>
            <a:endParaRPr lang="en-US" sz="2000" dirty="0"/>
          </a:p>
        </p:txBody>
      </p:sp>
      <p:sp>
        <p:nvSpPr>
          <p:cNvPr id="15" name="Text 13"/>
          <p:cNvSpPr txBox="1"/>
          <p:nvPr/>
        </p:nvSpPr>
        <p:spPr>
          <a:xfrm>
            <a:off x="8503920" y="2606040"/>
            <a:ext cx="3154680" cy="1097280"/>
          </a:xfrm>
          <a:prstGeom prst="rect">
            <a:avLst/>
          </a:prstGeom>
          <a:noFill/>
          <a:ln/>
        </p:spPr>
        <p:txBody>
          <a:bodyPr wrap="square" lIns="0" tIns="0" rIns="0" bIns="0" rtlCol="0" anchor="t"/>
          <a:lstStyle/>
          <a:p>
            <a:pPr algn="l" indent="0" marL="0">
              <a:buNone/>
            </a:pPr>
            <a:r>
              <a:rPr lang="en-US" sz="1300" dirty="0">
                <a:solidFill>
                  <a:srgbClr val="444444"/>
                </a:solidFill>
                <a:latin typeface="IBM Plex Sans" pitchFamily="34" charset="0"/>
                <a:ea typeface="IBM Plex Sans" pitchFamily="34" charset="-122"/>
                <a:cs typeface="IBM Plex Sans" pitchFamily="34" charset="-120"/>
              </a:rPr>
              <a:t>Walk-in CA hours posted on Brightspace</a:t>
            </a:r>
            <a:endParaRPr lang="en-US" sz="1300" dirty="0"/>
          </a:p>
          <a:p>
            <a:pPr algn="l" indent="0" marL="0">
              <a:buNone/>
            </a:pPr>
            <a:r>
              <a:rPr lang="en-US" sz="1300" dirty="0">
                <a:solidFill>
                  <a:srgbClr val="444444"/>
                </a:solidFill>
                <a:latin typeface="IBM Plex Sans" pitchFamily="34" charset="0"/>
                <a:ea typeface="IBM Plex Sans" pitchFamily="34" charset="-122"/>
                <a:cs typeface="IBM Plex Sans" pitchFamily="34" charset="-120"/>
              </a:rPr>
              <a:t>Instructor hours by booking link</a:t>
            </a:r>
            <a:endParaRPr lang="en-US" sz="1300" dirty="0"/>
          </a:p>
        </p:txBody>
      </p:sp>
      <p:sp>
        <p:nvSpPr>
          <p:cNvPr id="16" name="Text 14"/>
          <p:cNvSpPr txBox="1"/>
          <p:nvPr/>
        </p:nvSpPr>
        <p:spPr>
          <a:xfrm>
            <a:off x="502920" y="534924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NOTE</a:t>
            </a:r>
            <a:endParaRPr lang="en-US" sz="1000" dirty="0"/>
          </a:p>
        </p:txBody>
      </p:sp>
      <p:sp>
        <p:nvSpPr>
          <p:cNvPr id="17" name="Text 15"/>
          <p:cNvSpPr txBox="1"/>
          <p:nvPr/>
        </p:nvSpPr>
        <p:spPr>
          <a:xfrm>
            <a:off x="502920" y="5623560"/>
            <a:ext cx="11155680" cy="457200"/>
          </a:xfrm>
          <a:prstGeom prst="rect">
            <a:avLst/>
          </a:prstGeom>
          <a:noFill/>
          <a:ln/>
        </p:spPr>
        <p:txBody>
          <a:bodyPr wrap="square" lIns="0" tIns="0" rIns="0" bIns="0" rtlCol="0" anchor="t"/>
          <a:lstStyle/>
          <a:p>
            <a:pPr algn="l" indent="0" marL="0">
              <a:buNone/>
            </a:pPr>
            <a:r>
              <a:rPr lang="en-US" sz="1300" dirty="0">
                <a:solidFill>
                  <a:srgbClr val="444444"/>
                </a:solidFill>
                <a:latin typeface="IBM Plex Sans" pitchFamily="34" charset="0"/>
                <a:ea typeface="IBM Plex Sans" pitchFamily="34" charset="-122"/>
                <a:cs typeface="IBM Plex Sans" pitchFamily="34" charset="-120"/>
              </a:rPr>
              <a:t>You must be registered for a lab section that corresponds to your lecture. Missing more than 3 labs forfeits all lab credit.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1005840"/>
            <a:ext cx="1097280" cy="36576"/>
          </a:xfrm>
          <a:prstGeom prst="rect">
            <a:avLst/>
          </a:prstGeom>
          <a:solidFill>
            <a:srgbClr val="CC3320"/>
          </a:solidFill>
          <a:ln/>
        </p:spPr>
      </p:sp>
      <p:sp>
        <p:nvSpPr>
          <p:cNvPr id="3" name="Text 1"/>
          <p:cNvSpPr txBox="1"/>
          <p:nvPr/>
        </p:nvSpPr>
        <p:spPr>
          <a:xfrm>
            <a:off x="502920" y="411480"/>
            <a:ext cx="11155680" cy="640080"/>
          </a:xfrm>
          <a:prstGeom prst="rect">
            <a:avLst/>
          </a:prstGeom>
          <a:noFill/>
          <a:ln/>
        </p:spPr>
        <p:txBody>
          <a:bodyPr wrap="square" lIns="0" tIns="0" rIns="0" bIns="0" rtlCol="0" anchor="ctr"/>
          <a:lstStyle/>
          <a:p>
            <a:pPr algn="l" indent="0" marL="0">
              <a:buNone/>
            </a:pPr>
            <a:r>
              <a:rPr lang="en-US" sz="3200" b="1" dirty="0">
                <a:solidFill>
                  <a:srgbClr val="111111"/>
                </a:solidFill>
                <a:latin typeface="IBM Plex Sans" pitchFamily="34" charset="0"/>
                <a:ea typeface="IBM Plex Sans" pitchFamily="34" charset="-122"/>
                <a:cs typeface="IBM Plex Sans" pitchFamily="34" charset="-120"/>
              </a:rPr>
              <a:t>Grade Breakdown</a:t>
            </a:r>
            <a:endParaRPr lang="en-US" sz="3200" dirty="0"/>
          </a:p>
        </p:txBody>
      </p:sp>
      <p:sp>
        <p:nvSpPr>
          <p:cNvPr id="4" name="Shape 2"/>
          <p:cNvSpPr/>
          <p:nvPr/>
        </p:nvSpPr>
        <p:spPr>
          <a:xfrm>
            <a:off x="502920" y="1417320"/>
            <a:ext cx="1005840" cy="685800"/>
          </a:xfrm>
          <a:prstGeom prst="rect">
            <a:avLst/>
          </a:prstGeom>
          <a:solidFill>
            <a:srgbClr val="CC3320"/>
          </a:solidFill>
          <a:ln/>
        </p:spPr>
      </p:sp>
      <p:sp>
        <p:nvSpPr>
          <p:cNvPr id="5" name="Text 3"/>
          <p:cNvSpPr txBox="1"/>
          <p:nvPr/>
        </p:nvSpPr>
        <p:spPr>
          <a:xfrm>
            <a:off x="502920" y="1463040"/>
            <a:ext cx="100584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IBM Plex Mono" pitchFamily="34" charset="0"/>
                <a:ea typeface="IBM Plex Mono" pitchFamily="34" charset="-122"/>
                <a:cs typeface="IBM Plex Mono" pitchFamily="34" charset="-120"/>
              </a:rPr>
              <a:t>65%</a:t>
            </a:r>
            <a:endParaRPr lang="en-US" sz="2200" dirty="0"/>
          </a:p>
        </p:txBody>
      </p:sp>
      <p:sp>
        <p:nvSpPr>
          <p:cNvPr id="6" name="Text 4"/>
          <p:cNvSpPr txBox="1"/>
          <p:nvPr/>
        </p:nvSpPr>
        <p:spPr>
          <a:xfrm>
            <a:off x="1691640" y="1463040"/>
            <a:ext cx="2560320" cy="320040"/>
          </a:xfrm>
          <a:prstGeom prst="rect">
            <a:avLst/>
          </a:prstGeom>
          <a:noFill/>
          <a:ln/>
        </p:spPr>
        <p:txBody>
          <a:bodyPr wrap="square" lIns="0" tIns="0" rIns="0" bIns="0" rtlCol="0" anchor="ctr"/>
          <a:lstStyle/>
          <a:p>
            <a:pPr indent="0" marL="0">
              <a:buNone/>
            </a:pPr>
            <a:r>
              <a:rPr lang="en-US" sz="1500" b="1" dirty="0">
                <a:solidFill>
                  <a:srgbClr val="111111"/>
                </a:solidFill>
                <a:latin typeface="IBM Plex Sans" pitchFamily="34" charset="0"/>
                <a:ea typeface="IBM Plex Sans" pitchFamily="34" charset="-122"/>
                <a:cs typeface="IBM Plex Sans" pitchFamily="34" charset="-120"/>
              </a:rPr>
              <a:t>Exams</a:t>
            </a:r>
            <a:endParaRPr lang="en-US" sz="1500" dirty="0"/>
          </a:p>
        </p:txBody>
      </p:sp>
      <p:sp>
        <p:nvSpPr>
          <p:cNvPr id="7" name="Text 5"/>
          <p:cNvSpPr txBox="1"/>
          <p:nvPr/>
        </p:nvSpPr>
        <p:spPr>
          <a:xfrm>
            <a:off x="1691640" y="1783080"/>
            <a:ext cx="9784080" cy="274320"/>
          </a:xfrm>
          <a:prstGeom prst="rect">
            <a:avLst/>
          </a:prstGeom>
          <a:noFill/>
          <a:ln/>
        </p:spPr>
        <p:txBody>
          <a:bodyPr wrap="square" lIns="0" tIns="0" rIns="0" bIns="0" rtlCol="0" anchor="t"/>
          <a:lstStyle/>
          <a:p>
            <a:pPr algn="l" indent="0" marL="0">
              <a:buNone/>
            </a:pPr>
            <a:r>
              <a:rPr lang="en-US" sz="1200" dirty="0">
                <a:solidFill>
                  <a:srgbClr val="444444"/>
                </a:solidFill>
                <a:latin typeface="IBM Plex Sans" pitchFamily="34" charset="0"/>
                <a:ea typeface="IBM Plex Sans" pitchFamily="34" charset="-122"/>
                <a:cs typeface="IBM Plex Sans" pitchFamily="34" charset="-120"/>
              </a:rPr>
              <a:t>Midterm 1 (20%)  ·  Midterm 2 (20%)  ·  Final (25%)</a:t>
            </a:r>
            <a:endParaRPr lang="en-US" sz="1200" dirty="0"/>
          </a:p>
        </p:txBody>
      </p:sp>
      <p:sp>
        <p:nvSpPr>
          <p:cNvPr id="8" name="Shape 6"/>
          <p:cNvSpPr/>
          <p:nvPr/>
        </p:nvSpPr>
        <p:spPr>
          <a:xfrm>
            <a:off x="502920" y="2276856"/>
            <a:ext cx="1005840" cy="685800"/>
          </a:xfrm>
          <a:prstGeom prst="rect">
            <a:avLst/>
          </a:prstGeom>
          <a:solidFill>
            <a:srgbClr val="F4F4F4"/>
          </a:solidFill>
          <a:ln/>
        </p:spPr>
      </p:sp>
      <p:sp>
        <p:nvSpPr>
          <p:cNvPr id="9" name="Text 7"/>
          <p:cNvSpPr txBox="1"/>
          <p:nvPr/>
        </p:nvSpPr>
        <p:spPr>
          <a:xfrm>
            <a:off x="502920" y="2322576"/>
            <a:ext cx="1005840" cy="594360"/>
          </a:xfrm>
          <a:prstGeom prst="rect">
            <a:avLst/>
          </a:prstGeom>
          <a:noFill/>
          <a:ln/>
        </p:spPr>
        <p:txBody>
          <a:bodyPr wrap="square" lIns="0" tIns="0" rIns="0" bIns="0" rtlCol="0" anchor="ctr"/>
          <a:lstStyle/>
          <a:p>
            <a:pPr algn="ctr" indent="0" marL="0">
              <a:buNone/>
            </a:pPr>
            <a:r>
              <a:rPr lang="en-US" sz="2200" b="1" dirty="0">
                <a:solidFill>
                  <a:srgbClr val="CC3320"/>
                </a:solidFill>
                <a:latin typeface="IBM Plex Mono" pitchFamily="34" charset="0"/>
                <a:ea typeface="IBM Plex Mono" pitchFamily="34" charset="-122"/>
                <a:cs typeface="IBM Plex Mono" pitchFamily="34" charset="-120"/>
              </a:rPr>
              <a:t>10%</a:t>
            </a:r>
            <a:endParaRPr lang="en-US" sz="2200" dirty="0"/>
          </a:p>
        </p:txBody>
      </p:sp>
      <p:sp>
        <p:nvSpPr>
          <p:cNvPr id="10" name="Text 8"/>
          <p:cNvSpPr txBox="1"/>
          <p:nvPr/>
        </p:nvSpPr>
        <p:spPr>
          <a:xfrm>
            <a:off x="1691640" y="2322576"/>
            <a:ext cx="2560320" cy="320040"/>
          </a:xfrm>
          <a:prstGeom prst="rect">
            <a:avLst/>
          </a:prstGeom>
          <a:noFill/>
          <a:ln/>
        </p:spPr>
        <p:txBody>
          <a:bodyPr wrap="square" lIns="0" tIns="0" rIns="0" bIns="0" rtlCol="0" anchor="ctr"/>
          <a:lstStyle/>
          <a:p>
            <a:pPr indent="0" marL="0">
              <a:buNone/>
            </a:pPr>
            <a:r>
              <a:rPr lang="en-US" sz="1500" b="1" dirty="0">
                <a:solidFill>
                  <a:srgbClr val="111111"/>
                </a:solidFill>
                <a:latin typeface="IBM Plex Sans" pitchFamily="34" charset="0"/>
                <a:ea typeface="IBM Plex Sans" pitchFamily="34" charset="-122"/>
                <a:cs typeface="IBM Plex Sans" pitchFamily="34" charset="-120"/>
              </a:rPr>
              <a:t>Rephactor</a:t>
            </a:r>
            <a:endParaRPr lang="en-US" sz="1500" dirty="0"/>
          </a:p>
        </p:txBody>
      </p:sp>
      <p:sp>
        <p:nvSpPr>
          <p:cNvPr id="11" name="Text 9"/>
          <p:cNvSpPr txBox="1"/>
          <p:nvPr/>
        </p:nvSpPr>
        <p:spPr>
          <a:xfrm>
            <a:off x="1691640" y="2642616"/>
            <a:ext cx="9784080" cy="274320"/>
          </a:xfrm>
          <a:prstGeom prst="rect">
            <a:avLst/>
          </a:prstGeom>
          <a:noFill/>
          <a:ln/>
        </p:spPr>
        <p:txBody>
          <a:bodyPr wrap="square" lIns="0" tIns="0" rIns="0" bIns="0" rtlCol="0" anchor="t"/>
          <a:lstStyle/>
          <a:p>
            <a:pPr algn="l" indent="0" marL="0">
              <a:buNone/>
            </a:pPr>
            <a:r>
              <a:rPr lang="en-US" sz="1200" dirty="0">
                <a:solidFill>
                  <a:srgbClr val="444444"/>
                </a:solidFill>
                <a:latin typeface="IBM Plex Sans" pitchFamily="34" charset="0"/>
                <a:ea typeface="IBM Plex Sans" pitchFamily="34" charset="-122"/>
                <a:cs typeface="IBM Plex Sans" pitchFamily="34" charset="-120"/>
              </a:rPr>
              <a:t>Quick Checks + Exercise Sets, due before/after each lecture</a:t>
            </a:r>
            <a:endParaRPr lang="en-US" sz="1200" dirty="0"/>
          </a:p>
        </p:txBody>
      </p:sp>
      <p:sp>
        <p:nvSpPr>
          <p:cNvPr id="12" name="Shape 10"/>
          <p:cNvSpPr/>
          <p:nvPr/>
        </p:nvSpPr>
        <p:spPr>
          <a:xfrm>
            <a:off x="502920" y="3136392"/>
            <a:ext cx="1005840" cy="685800"/>
          </a:xfrm>
          <a:prstGeom prst="rect">
            <a:avLst/>
          </a:prstGeom>
          <a:solidFill>
            <a:srgbClr val="F4F4F4"/>
          </a:solidFill>
          <a:ln/>
        </p:spPr>
      </p:sp>
      <p:sp>
        <p:nvSpPr>
          <p:cNvPr id="13" name="Text 11"/>
          <p:cNvSpPr txBox="1"/>
          <p:nvPr/>
        </p:nvSpPr>
        <p:spPr>
          <a:xfrm>
            <a:off x="502920" y="3182112"/>
            <a:ext cx="1005840" cy="594360"/>
          </a:xfrm>
          <a:prstGeom prst="rect">
            <a:avLst/>
          </a:prstGeom>
          <a:noFill/>
          <a:ln/>
        </p:spPr>
        <p:txBody>
          <a:bodyPr wrap="square" lIns="0" tIns="0" rIns="0" bIns="0" rtlCol="0" anchor="ctr"/>
          <a:lstStyle/>
          <a:p>
            <a:pPr algn="ctr" indent="0" marL="0">
              <a:buNone/>
            </a:pPr>
            <a:r>
              <a:rPr lang="en-US" sz="2200" b="1" dirty="0">
                <a:solidFill>
                  <a:srgbClr val="CC3320"/>
                </a:solidFill>
                <a:latin typeface="IBM Plex Mono" pitchFamily="34" charset="0"/>
                <a:ea typeface="IBM Plex Mono" pitchFamily="34" charset="-122"/>
                <a:cs typeface="IBM Plex Mono" pitchFamily="34" charset="-120"/>
              </a:rPr>
              <a:t>10%</a:t>
            </a:r>
            <a:endParaRPr lang="en-US" sz="2200" dirty="0"/>
          </a:p>
        </p:txBody>
      </p:sp>
      <p:sp>
        <p:nvSpPr>
          <p:cNvPr id="14" name="Text 12"/>
          <p:cNvSpPr txBox="1"/>
          <p:nvPr/>
        </p:nvSpPr>
        <p:spPr>
          <a:xfrm>
            <a:off x="1691640" y="3182112"/>
            <a:ext cx="2560320" cy="320040"/>
          </a:xfrm>
          <a:prstGeom prst="rect">
            <a:avLst/>
          </a:prstGeom>
          <a:noFill/>
          <a:ln/>
        </p:spPr>
        <p:txBody>
          <a:bodyPr wrap="square" lIns="0" tIns="0" rIns="0" bIns="0" rtlCol="0" anchor="ctr"/>
          <a:lstStyle/>
          <a:p>
            <a:pPr indent="0" marL="0">
              <a:buNone/>
            </a:pPr>
            <a:r>
              <a:rPr lang="en-US" sz="1500" b="1" dirty="0">
                <a:solidFill>
                  <a:srgbClr val="111111"/>
                </a:solidFill>
                <a:latin typeface="IBM Plex Sans" pitchFamily="34" charset="0"/>
                <a:ea typeface="IBM Plex Sans" pitchFamily="34" charset="-122"/>
                <a:cs typeface="IBM Plex Sans" pitchFamily="34" charset="-120"/>
              </a:rPr>
              <a:t>Lab</a:t>
            </a:r>
            <a:endParaRPr lang="en-US" sz="1500" dirty="0"/>
          </a:p>
        </p:txBody>
      </p:sp>
      <p:sp>
        <p:nvSpPr>
          <p:cNvPr id="15" name="Text 13"/>
          <p:cNvSpPr txBox="1"/>
          <p:nvPr/>
        </p:nvSpPr>
        <p:spPr>
          <a:xfrm>
            <a:off x="1691640" y="3502152"/>
            <a:ext cx="9784080" cy="274320"/>
          </a:xfrm>
          <a:prstGeom prst="rect">
            <a:avLst/>
          </a:prstGeom>
          <a:noFill/>
          <a:ln/>
        </p:spPr>
        <p:txBody>
          <a:bodyPr wrap="square" lIns="0" tIns="0" rIns="0" bIns="0" rtlCol="0" anchor="t"/>
          <a:lstStyle/>
          <a:p>
            <a:pPr algn="l" indent="0" marL="0">
              <a:buNone/>
            </a:pPr>
            <a:r>
              <a:rPr lang="en-US" sz="1200" dirty="0">
                <a:solidFill>
                  <a:srgbClr val="444444"/>
                </a:solidFill>
                <a:latin typeface="IBM Plex Sans" pitchFamily="34" charset="0"/>
                <a:ea typeface="IBM Plex Sans" pitchFamily="34" charset="-122"/>
                <a:cs typeface="IBM Plex Sans" pitchFamily="34" charset="-120"/>
              </a:rPr>
              <a:t>Attendance + effort in supervised weekly sessions</a:t>
            </a:r>
            <a:endParaRPr lang="en-US" sz="1200" dirty="0"/>
          </a:p>
        </p:txBody>
      </p:sp>
      <p:sp>
        <p:nvSpPr>
          <p:cNvPr id="16" name="Shape 14"/>
          <p:cNvSpPr/>
          <p:nvPr/>
        </p:nvSpPr>
        <p:spPr>
          <a:xfrm>
            <a:off x="502920" y="3995928"/>
            <a:ext cx="1005840" cy="685800"/>
          </a:xfrm>
          <a:prstGeom prst="rect">
            <a:avLst/>
          </a:prstGeom>
          <a:solidFill>
            <a:srgbClr val="F4F4F4"/>
          </a:solidFill>
          <a:ln/>
        </p:spPr>
      </p:sp>
      <p:sp>
        <p:nvSpPr>
          <p:cNvPr id="17" name="Text 15"/>
          <p:cNvSpPr txBox="1"/>
          <p:nvPr/>
        </p:nvSpPr>
        <p:spPr>
          <a:xfrm>
            <a:off x="502920" y="4041648"/>
            <a:ext cx="1005840" cy="594360"/>
          </a:xfrm>
          <a:prstGeom prst="rect">
            <a:avLst/>
          </a:prstGeom>
          <a:noFill/>
          <a:ln/>
        </p:spPr>
        <p:txBody>
          <a:bodyPr wrap="square" lIns="0" tIns="0" rIns="0" bIns="0" rtlCol="0" anchor="ctr"/>
          <a:lstStyle/>
          <a:p>
            <a:pPr algn="ctr" indent="0" marL="0">
              <a:buNone/>
            </a:pPr>
            <a:r>
              <a:rPr lang="en-US" sz="2200" b="1" dirty="0">
                <a:solidFill>
                  <a:srgbClr val="CC3320"/>
                </a:solidFill>
                <a:latin typeface="IBM Plex Mono" pitchFamily="34" charset="0"/>
                <a:ea typeface="IBM Plex Mono" pitchFamily="34" charset="-122"/>
                <a:cs typeface="IBM Plex Mono" pitchFamily="34" charset="-120"/>
              </a:rPr>
              <a:t>10%</a:t>
            </a:r>
            <a:endParaRPr lang="en-US" sz="2200" dirty="0"/>
          </a:p>
        </p:txBody>
      </p:sp>
      <p:sp>
        <p:nvSpPr>
          <p:cNvPr id="18" name="Text 16"/>
          <p:cNvSpPr txBox="1"/>
          <p:nvPr/>
        </p:nvSpPr>
        <p:spPr>
          <a:xfrm>
            <a:off x="1691640" y="4041648"/>
            <a:ext cx="2560320" cy="320040"/>
          </a:xfrm>
          <a:prstGeom prst="rect">
            <a:avLst/>
          </a:prstGeom>
          <a:noFill/>
          <a:ln/>
        </p:spPr>
        <p:txBody>
          <a:bodyPr wrap="square" lIns="0" tIns="0" rIns="0" bIns="0" rtlCol="0" anchor="ctr"/>
          <a:lstStyle/>
          <a:p>
            <a:pPr indent="0" marL="0">
              <a:buNone/>
            </a:pPr>
            <a:r>
              <a:rPr lang="en-US" sz="1500" b="1" dirty="0">
                <a:solidFill>
                  <a:srgbClr val="111111"/>
                </a:solidFill>
                <a:latin typeface="IBM Plex Sans" pitchFamily="34" charset="0"/>
                <a:ea typeface="IBM Plex Sans" pitchFamily="34" charset="-122"/>
                <a:cs typeface="IBM Plex Sans" pitchFamily="34" charset="-120"/>
              </a:rPr>
              <a:t>Lab Exams</a:t>
            </a:r>
            <a:endParaRPr lang="en-US" sz="1500" dirty="0"/>
          </a:p>
        </p:txBody>
      </p:sp>
      <p:sp>
        <p:nvSpPr>
          <p:cNvPr id="19" name="Text 17"/>
          <p:cNvSpPr txBox="1"/>
          <p:nvPr/>
        </p:nvSpPr>
        <p:spPr>
          <a:xfrm>
            <a:off x="1691640" y="4361688"/>
            <a:ext cx="9784080" cy="274320"/>
          </a:xfrm>
          <a:prstGeom prst="rect">
            <a:avLst/>
          </a:prstGeom>
          <a:noFill/>
          <a:ln/>
        </p:spPr>
        <p:txBody>
          <a:bodyPr wrap="square" lIns="0" tIns="0" rIns="0" bIns="0" rtlCol="0" anchor="t"/>
          <a:lstStyle/>
          <a:p>
            <a:pPr algn="l" indent="0" marL="0">
              <a:buNone/>
            </a:pPr>
            <a:r>
              <a:rPr lang="en-US" sz="1200" dirty="0">
                <a:solidFill>
                  <a:srgbClr val="444444"/>
                </a:solidFill>
                <a:latin typeface="IBM Plex Sans" pitchFamily="34" charset="0"/>
                <a:ea typeface="IBM Plex Sans" pitchFamily="34" charset="-122"/>
                <a:cs typeface="IBM Plex Sans" pitchFamily="34" charset="-120"/>
              </a:rPr>
              <a:t>Periodic in-lab assessments. Lowest score dropped.</a:t>
            </a:r>
            <a:endParaRPr lang="en-US" sz="1200" dirty="0"/>
          </a:p>
        </p:txBody>
      </p:sp>
      <p:sp>
        <p:nvSpPr>
          <p:cNvPr id="20" name="Shape 18"/>
          <p:cNvSpPr/>
          <p:nvPr/>
        </p:nvSpPr>
        <p:spPr>
          <a:xfrm>
            <a:off x="502920" y="4855464"/>
            <a:ext cx="1005840" cy="685800"/>
          </a:xfrm>
          <a:prstGeom prst="rect">
            <a:avLst/>
          </a:prstGeom>
          <a:solidFill>
            <a:srgbClr val="F4F4F4"/>
          </a:solidFill>
          <a:ln/>
        </p:spPr>
      </p:sp>
      <p:sp>
        <p:nvSpPr>
          <p:cNvPr id="21" name="Text 19"/>
          <p:cNvSpPr txBox="1"/>
          <p:nvPr/>
        </p:nvSpPr>
        <p:spPr>
          <a:xfrm>
            <a:off x="502920" y="4901184"/>
            <a:ext cx="1005840" cy="594360"/>
          </a:xfrm>
          <a:prstGeom prst="rect">
            <a:avLst/>
          </a:prstGeom>
          <a:noFill/>
          <a:ln/>
        </p:spPr>
        <p:txBody>
          <a:bodyPr wrap="square" lIns="0" tIns="0" rIns="0" bIns="0" rtlCol="0" anchor="ctr"/>
          <a:lstStyle/>
          <a:p>
            <a:pPr algn="ctr" indent="0" marL="0">
              <a:buNone/>
            </a:pPr>
            <a:r>
              <a:rPr lang="en-US" sz="2200" b="1" dirty="0">
                <a:solidFill>
                  <a:srgbClr val="CC3320"/>
                </a:solidFill>
                <a:latin typeface="IBM Plex Mono" pitchFamily="34" charset="0"/>
                <a:ea typeface="IBM Plex Mono" pitchFamily="34" charset="-122"/>
                <a:cs typeface="IBM Plex Mono" pitchFamily="34" charset="-120"/>
              </a:rPr>
              <a:t>5%</a:t>
            </a:r>
            <a:endParaRPr lang="en-US" sz="2200" dirty="0"/>
          </a:p>
        </p:txBody>
      </p:sp>
      <p:sp>
        <p:nvSpPr>
          <p:cNvPr id="22" name="Text 20"/>
          <p:cNvSpPr txBox="1"/>
          <p:nvPr/>
        </p:nvSpPr>
        <p:spPr>
          <a:xfrm>
            <a:off x="1691640" y="4901184"/>
            <a:ext cx="2560320" cy="320040"/>
          </a:xfrm>
          <a:prstGeom prst="rect">
            <a:avLst/>
          </a:prstGeom>
          <a:noFill/>
          <a:ln/>
        </p:spPr>
        <p:txBody>
          <a:bodyPr wrap="square" lIns="0" tIns="0" rIns="0" bIns="0" rtlCol="0" anchor="ctr"/>
          <a:lstStyle/>
          <a:p>
            <a:pPr indent="0" marL="0">
              <a:buNone/>
            </a:pPr>
            <a:r>
              <a:rPr lang="en-US" sz="1500" b="1" dirty="0">
                <a:solidFill>
                  <a:srgbClr val="111111"/>
                </a:solidFill>
                <a:latin typeface="IBM Plex Sans" pitchFamily="34" charset="0"/>
                <a:ea typeface="IBM Plex Sans" pitchFamily="34" charset="-122"/>
                <a:cs typeface="IBM Plex Sans" pitchFamily="34" charset="-120"/>
              </a:rPr>
              <a:t>Attendance</a:t>
            </a:r>
            <a:endParaRPr lang="en-US" sz="1500" dirty="0"/>
          </a:p>
        </p:txBody>
      </p:sp>
      <p:sp>
        <p:nvSpPr>
          <p:cNvPr id="23" name="Text 21"/>
          <p:cNvSpPr txBox="1"/>
          <p:nvPr/>
        </p:nvSpPr>
        <p:spPr>
          <a:xfrm>
            <a:off x="1691640" y="5221224"/>
            <a:ext cx="9784080" cy="274320"/>
          </a:xfrm>
          <a:prstGeom prst="rect">
            <a:avLst/>
          </a:prstGeom>
          <a:noFill/>
          <a:ln/>
        </p:spPr>
        <p:txBody>
          <a:bodyPr wrap="square" lIns="0" tIns="0" rIns="0" bIns="0" rtlCol="0" anchor="t"/>
          <a:lstStyle/>
          <a:p>
            <a:pPr algn="l" indent="0" marL="0">
              <a:buNone/>
            </a:pPr>
            <a:r>
              <a:rPr lang="en-US" sz="1200" dirty="0">
                <a:solidFill>
                  <a:srgbClr val="444444"/>
                </a:solidFill>
                <a:latin typeface="IBM Plex Sans" pitchFamily="34" charset="0"/>
                <a:ea typeface="IBM Plex Sans" pitchFamily="34" charset="-122"/>
                <a:cs typeface="IBM Plex Sans" pitchFamily="34" charset="-120"/>
              </a:rPr>
              <a:t>Recorded at professor's discretion. Max 3 unexcused absences.</a:t>
            </a:r>
            <a:endParaRPr lang="en-US" sz="1200" dirty="0"/>
          </a:p>
        </p:txBody>
      </p:sp>
      <p:sp>
        <p:nvSpPr>
          <p:cNvPr id="24" name="Shape 22"/>
          <p:cNvSpPr/>
          <p:nvPr/>
        </p:nvSpPr>
        <p:spPr>
          <a:xfrm>
            <a:off x="502920" y="5715000"/>
            <a:ext cx="1005840" cy="685800"/>
          </a:xfrm>
          <a:prstGeom prst="rect">
            <a:avLst/>
          </a:prstGeom>
          <a:solidFill>
            <a:srgbClr val="F4F4F4"/>
          </a:solidFill>
          <a:ln/>
        </p:spPr>
      </p:sp>
      <p:sp>
        <p:nvSpPr>
          <p:cNvPr id="25" name="Text 23"/>
          <p:cNvSpPr txBox="1"/>
          <p:nvPr/>
        </p:nvSpPr>
        <p:spPr>
          <a:xfrm>
            <a:off x="502920" y="5760720"/>
            <a:ext cx="1005840" cy="594360"/>
          </a:xfrm>
          <a:prstGeom prst="rect">
            <a:avLst/>
          </a:prstGeom>
          <a:noFill/>
          <a:ln/>
        </p:spPr>
        <p:txBody>
          <a:bodyPr wrap="square" lIns="0" tIns="0" rIns="0" bIns="0" rtlCol="0" anchor="ctr"/>
          <a:lstStyle/>
          <a:p>
            <a:pPr algn="ctr" indent="0" marL="0">
              <a:buNone/>
            </a:pPr>
            <a:r>
              <a:rPr lang="en-US" sz="2200" b="1" dirty="0">
                <a:solidFill>
                  <a:srgbClr val="CC3320"/>
                </a:solidFill>
                <a:latin typeface="IBM Plex Mono" pitchFamily="34" charset="0"/>
                <a:ea typeface="IBM Plex Mono" pitchFamily="34" charset="-122"/>
                <a:cs typeface="IBM Plex Mono" pitchFamily="34" charset="-120"/>
              </a:rPr>
              <a:t>0%</a:t>
            </a:r>
            <a:endParaRPr lang="en-US" sz="2200" dirty="0"/>
          </a:p>
        </p:txBody>
      </p:sp>
      <p:sp>
        <p:nvSpPr>
          <p:cNvPr id="26" name="Text 24"/>
          <p:cNvSpPr txBox="1"/>
          <p:nvPr/>
        </p:nvSpPr>
        <p:spPr>
          <a:xfrm>
            <a:off x="1691640" y="5760720"/>
            <a:ext cx="2560320" cy="320040"/>
          </a:xfrm>
          <a:prstGeom prst="rect">
            <a:avLst/>
          </a:prstGeom>
          <a:noFill/>
          <a:ln/>
        </p:spPr>
        <p:txBody>
          <a:bodyPr wrap="square" lIns="0" tIns="0" rIns="0" bIns="0" rtlCol="0" anchor="ctr"/>
          <a:lstStyle/>
          <a:p>
            <a:pPr indent="0" marL="0">
              <a:buNone/>
            </a:pPr>
            <a:r>
              <a:rPr lang="en-US" sz="1500" b="1" dirty="0">
                <a:solidFill>
                  <a:srgbClr val="111111"/>
                </a:solidFill>
                <a:latin typeface="IBM Plex Sans" pitchFamily="34" charset="0"/>
                <a:ea typeface="IBM Plex Sans" pitchFamily="34" charset="-122"/>
                <a:cs typeface="IBM Plex Sans" pitchFamily="34" charset="-120"/>
              </a:rPr>
              <a:t>Homework</a:t>
            </a:r>
            <a:endParaRPr lang="en-US" sz="1500" dirty="0"/>
          </a:p>
        </p:txBody>
      </p:sp>
      <p:sp>
        <p:nvSpPr>
          <p:cNvPr id="27" name="Text 25"/>
          <p:cNvSpPr txBox="1"/>
          <p:nvPr/>
        </p:nvSpPr>
        <p:spPr>
          <a:xfrm>
            <a:off x="1691640" y="6080760"/>
            <a:ext cx="9784080" cy="274320"/>
          </a:xfrm>
          <a:prstGeom prst="rect">
            <a:avLst/>
          </a:prstGeom>
          <a:noFill/>
          <a:ln/>
        </p:spPr>
        <p:txBody>
          <a:bodyPr wrap="square" lIns="0" tIns="0" rIns="0" bIns="0" rtlCol="0" anchor="t"/>
          <a:lstStyle/>
          <a:p>
            <a:pPr algn="l" indent="0" marL="0">
              <a:buNone/>
            </a:pPr>
            <a:r>
              <a:rPr lang="en-US" sz="1200" dirty="0">
                <a:solidFill>
                  <a:srgbClr val="444444"/>
                </a:solidFill>
                <a:latin typeface="IBM Plex Sans" pitchFamily="34" charset="0"/>
                <a:ea typeface="IBM Plex Sans" pitchFamily="34" charset="-122"/>
                <a:cs typeface="IBM Plex Sans" pitchFamily="34" charset="-120"/>
              </a:rPr>
              <a:t>Strongly encouraged and reviewed by CAs, but ungraded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1005840"/>
            <a:ext cx="1097280" cy="36576"/>
          </a:xfrm>
          <a:prstGeom prst="rect">
            <a:avLst/>
          </a:prstGeom>
          <a:solidFill>
            <a:srgbClr val="CC3320"/>
          </a:solidFill>
          <a:ln/>
        </p:spPr>
      </p:sp>
      <p:sp>
        <p:nvSpPr>
          <p:cNvPr id="3" name="Text 1"/>
          <p:cNvSpPr txBox="1"/>
          <p:nvPr/>
        </p:nvSpPr>
        <p:spPr>
          <a:xfrm>
            <a:off x="502920" y="411480"/>
            <a:ext cx="11155680" cy="640080"/>
          </a:xfrm>
          <a:prstGeom prst="rect">
            <a:avLst/>
          </a:prstGeom>
          <a:noFill/>
          <a:ln/>
        </p:spPr>
        <p:txBody>
          <a:bodyPr wrap="square" lIns="0" tIns="0" rIns="0" bIns="0" rtlCol="0" anchor="ctr"/>
          <a:lstStyle/>
          <a:p>
            <a:pPr algn="l" indent="0" marL="0">
              <a:buNone/>
            </a:pPr>
            <a:r>
              <a:rPr lang="en-US" sz="3200" b="1" dirty="0">
                <a:solidFill>
                  <a:srgbClr val="111111"/>
                </a:solidFill>
                <a:latin typeface="IBM Plex Sans" pitchFamily="34" charset="0"/>
                <a:ea typeface="IBM Plex Sans" pitchFamily="34" charset="-122"/>
                <a:cs typeface="IBM Plex Sans" pitchFamily="34" charset="-120"/>
              </a:rPr>
              <a:t>Key Policies</a:t>
            </a:r>
            <a:endParaRPr lang="en-US" sz="3200" dirty="0"/>
          </a:p>
        </p:txBody>
      </p:sp>
      <p:sp>
        <p:nvSpPr>
          <p:cNvPr id="4" name="Text 2"/>
          <p:cNvSpPr txBox="1"/>
          <p:nvPr/>
        </p:nvSpPr>
        <p:spPr>
          <a:xfrm>
            <a:off x="502920" y="141732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NO PHONES</a:t>
            </a:r>
            <a:endParaRPr lang="en-US" sz="1000" dirty="0"/>
          </a:p>
        </p:txBody>
      </p:sp>
      <p:sp>
        <p:nvSpPr>
          <p:cNvPr id="5" name="Text 3"/>
          <p:cNvSpPr txBox="1"/>
          <p:nvPr/>
        </p:nvSpPr>
        <p:spPr>
          <a:xfrm>
            <a:off x="502920" y="1691640"/>
            <a:ext cx="11155680" cy="685800"/>
          </a:xfrm>
          <a:prstGeom prst="rect">
            <a:avLst/>
          </a:prstGeom>
          <a:noFill/>
          <a:ln/>
        </p:spPr>
        <p:txBody>
          <a:bodyPr wrap="square" lIns="0" tIns="0" rIns="0" bIns="0" rtlCol="0" anchor="t"/>
          <a:lstStyle/>
          <a:p>
            <a:pPr algn="l" indent="0" marL="0">
              <a:buNone/>
            </a:pPr>
            <a:r>
              <a:rPr lang="en-US" sz="1400" dirty="0">
                <a:solidFill>
                  <a:srgbClr val="444444"/>
                </a:solidFill>
                <a:latin typeface="IBM Plex Sans" pitchFamily="34" charset="0"/>
                <a:ea typeface="IBM Plex Sans" pitchFamily="34" charset="-122"/>
                <a:cs typeface="IBM Plex Sans" pitchFamily="34" charset="-120"/>
              </a:rPr>
              <a:t>I know your attention span is already gone (mine too, honestly). Phones away during lecture and lab anyway. Repeated use may get you marked absent, and phone use during assessments is an academic integrity violation.</a:t>
            </a:r>
            <a:endParaRPr lang="en-US" sz="1400" dirty="0"/>
          </a:p>
        </p:txBody>
      </p:sp>
      <p:sp>
        <p:nvSpPr>
          <p:cNvPr id="6" name="Shape 4"/>
          <p:cNvSpPr/>
          <p:nvPr/>
        </p:nvSpPr>
        <p:spPr>
          <a:xfrm>
            <a:off x="502920" y="2514600"/>
            <a:ext cx="11155680" cy="9144"/>
          </a:xfrm>
          <a:prstGeom prst="rect">
            <a:avLst/>
          </a:prstGeom>
          <a:solidFill>
            <a:srgbClr val="F4F4F4"/>
          </a:solidFill>
          <a:ln/>
        </p:spPr>
      </p:sp>
      <p:sp>
        <p:nvSpPr>
          <p:cNvPr id="7" name="Text 5"/>
          <p:cNvSpPr txBox="1"/>
          <p:nvPr/>
        </p:nvSpPr>
        <p:spPr>
          <a:xfrm>
            <a:off x="502920" y="265176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AI TOOLS</a:t>
            </a:r>
            <a:endParaRPr lang="en-US" sz="1000" dirty="0"/>
          </a:p>
        </p:txBody>
      </p:sp>
      <p:sp>
        <p:nvSpPr>
          <p:cNvPr id="8" name="Text 6"/>
          <p:cNvSpPr txBox="1"/>
          <p:nvPr/>
        </p:nvSpPr>
        <p:spPr>
          <a:xfrm>
            <a:off x="502920" y="2926080"/>
            <a:ext cx="11155680" cy="685800"/>
          </a:xfrm>
          <a:prstGeom prst="rect">
            <a:avLst/>
          </a:prstGeom>
          <a:noFill/>
          <a:ln/>
        </p:spPr>
        <p:txBody>
          <a:bodyPr wrap="square" lIns="0" tIns="0" rIns="0" bIns="0" rtlCol="0" anchor="t"/>
          <a:lstStyle/>
          <a:p>
            <a:pPr algn="l" indent="0" marL="0">
              <a:buNone/>
            </a:pPr>
            <a:r>
              <a:rPr lang="en-US" sz="1400" dirty="0">
                <a:solidFill>
                  <a:srgbClr val="444444"/>
                </a:solidFill>
                <a:latin typeface="IBM Plex Sans" pitchFamily="34" charset="0"/>
                <a:ea typeface="IBM Plex Sans" pitchFamily="34" charset="-122"/>
                <a:cs typeface="IBM Plex Sans" pitchFamily="34" charset="-120"/>
              </a:rPr>
              <a:t>Yes, I know these exist too. Using ChatGPT or similar tools on graded work (unless I say so) is academic misconduct. Using them to brainstorm before you write is fine. Submitting their output as yours is not.</a:t>
            </a:r>
            <a:endParaRPr lang="en-US" sz="1400" dirty="0"/>
          </a:p>
        </p:txBody>
      </p:sp>
      <p:sp>
        <p:nvSpPr>
          <p:cNvPr id="9" name="Shape 7"/>
          <p:cNvSpPr/>
          <p:nvPr/>
        </p:nvSpPr>
        <p:spPr>
          <a:xfrm>
            <a:off x="502920" y="3749040"/>
            <a:ext cx="11155680" cy="9144"/>
          </a:xfrm>
          <a:prstGeom prst="rect">
            <a:avLst/>
          </a:prstGeom>
          <a:solidFill>
            <a:srgbClr val="F4F4F4"/>
          </a:solidFill>
          <a:ln/>
        </p:spPr>
      </p:sp>
      <p:sp>
        <p:nvSpPr>
          <p:cNvPr id="10" name="Text 8"/>
          <p:cNvSpPr txBox="1"/>
          <p:nvPr/>
        </p:nvSpPr>
        <p:spPr>
          <a:xfrm>
            <a:off x="502920" y="388620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ATTENDANCE</a:t>
            </a:r>
            <a:endParaRPr lang="en-US" sz="1000" dirty="0"/>
          </a:p>
        </p:txBody>
      </p:sp>
      <p:sp>
        <p:nvSpPr>
          <p:cNvPr id="11" name="Text 9"/>
          <p:cNvSpPr txBox="1"/>
          <p:nvPr/>
        </p:nvSpPr>
        <p:spPr>
          <a:xfrm>
            <a:off x="502920" y="4160520"/>
            <a:ext cx="11155680" cy="685800"/>
          </a:xfrm>
          <a:prstGeom prst="rect">
            <a:avLst/>
          </a:prstGeom>
          <a:noFill/>
          <a:ln/>
        </p:spPr>
        <p:txBody>
          <a:bodyPr wrap="square" lIns="0" tIns="0" rIns="0" bIns="0" rtlCol="0" anchor="t"/>
          <a:lstStyle/>
          <a:p>
            <a:pPr algn="l" indent="0" marL="0">
              <a:buNone/>
            </a:pPr>
            <a:r>
              <a:rPr lang="en-US" sz="1400" dirty="0">
                <a:solidFill>
                  <a:srgbClr val="444444"/>
                </a:solidFill>
                <a:latin typeface="IBM Plex Sans" pitchFamily="34" charset="0"/>
                <a:ea typeface="IBM Plex Sans" pitchFamily="34" charset="-122"/>
                <a:cs typeface="IBM Plex Sans" pitchFamily="34" charset="-120"/>
              </a:rPr>
              <a:t>Life happens, which is why you get 3 unexcused absences for lecture and 3 for labs before you lose credit. More than 15 minutes late counts as absent. Anything beyond that goes through the Office of Student Advocacy.</a:t>
            </a:r>
            <a:endParaRPr lang="en-US" sz="1400" dirty="0"/>
          </a:p>
        </p:txBody>
      </p:sp>
      <p:sp>
        <p:nvSpPr>
          <p:cNvPr id="12" name="Shape 10"/>
          <p:cNvSpPr/>
          <p:nvPr/>
        </p:nvSpPr>
        <p:spPr>
          <a:xfrm>
            <a:off x="502920" y="4983480"/>
            <a:ext cx="11155680" cy="9144"/>
          </a:xfrm>
          <a:prstGeom prst="rect">
            <a:avLst/>
          </a:prstGeom>
          <a:solidFill>
            <a:srgbClr val="F4F4F4"/>
          </a:solidFill>
          <a:ln/>
        </p:spPr>
      </p:sp>
      <p:sp>
        <p:nvSpPr>
          <p:cNvPr id="13" name="Text 11"/>
          <p:cNvSpPr txBox="1"/>
          <p:nvPr/>
        </p:nvSpPr>
        <p:spPr>
          <a:xfrm>
            <a:off x="502920" y="512064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ACADEMIC INTEGRITY</a:t>
            </a:r>
            <a:endParaRPr lang="en-US" sz="1000" dirty="0"/>
          </a:p>
        </p:txBody>
      </p:sp>
      <p:sp>
        <p:nvSpPr>
          <p:cNvPr id="14" name="Text 12"/>
          <p:cNvSpPr txBox="1"/>
          <p:nvPr/>
        </p:nvSpPr>
        <p:spPr>
          <a:xfrm>
            <a:off x="502920" y="5394960"/>
            <a:ext cx="11155680" cy="685800"/>
          </a:xfrm>
          <a:prstGeom prst="rect">
            <a:avLst/>
          </a:prstGeom>
          <a:noFill/>
          <a:ln/>
        </p:spPr>
        <p:txBody>
          <a:bodyPr wrap="square" lIns="0" tIns="0" rIns="0" bIns="0" rtlCol="0" anchor="t"/>
          <a:lstStyle/>
          <a:p>
            <a:pPr algn="l" indent="0" marL="0">
              <a:buNone/>
            </a:pPr>
            <a:r>
              <a:rPr lang="en-US" sz="1400" dirty="0">
                <a:solidFill>
                  <a:srgbClr val="444444"/>
                </a:solidFill>
                <a:latin typeface="IBM Plex Sans" pitchFamily="34" charset="0"/>
                <a:ea typeface="IBM Plex Sans" pitchFamily="34" charset="-122"/>
                <a:cs typeface="IBM Plex Sans" pitchFamily="34" charset="-120"/>
              </a:rPr>
              <a:t>Programming together is fun. Submitting the same code is not collaboration, it's misconduct. Keep your work yours, and don't post homework code on Ed Stem. I pursue all cases.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1005840"/>
            <a:ext cx="1097280" cy="36576"/>
          </a:xfrm>
          <a:prstGeom prst="rect">
            <a:avLst/>
          </a:prstGeom>
          <a:solidFill>
            <a:srgbClr val="CC3320"/>
          </a:solidFill>
          <a:ln/>
        </p:spPr>
      </p:sp>
      <p:sp>
        <p:nvSpPr>
          <p:cNvPr id="3" name="Text 1"/>
          <p:cNvSpPr txBox="1"/>
          <p:nvPr/>
        </p:nvSpPr>
        <p:spPr>
          <a:xfrm>
            <a:off x="502920" y="411480"/>
            <a:ext cx="11155680" cy="640080"/>
          </a:xfrm>
          <a:prstGeom prst="rect">
            <a:avLst/>
          </a:prstGeom>
          <a:noFill/>
          <a:ln/>
        </p:spPr>
        <p:txBody>
          <a:bodyPr wrap="square" lIns="0" tIns="0" rIns="0" bIns="0" rtlCol="0" anchor="ctr"/>
          <a:lstStyle/>
          <a:p>
            <a:pPr algn="l" indent="0" marL="0">
              <a:buNone/>
            </a:pPr>
            <a:r>
              <a:rPr lang="en-US" sz="3200" b="1" dirty="0">
                <a:solidFill>
                  <a:srgbClr val="111111"/>
                </a:solidFill>
                <a:latin typeface="IBM Plex Sans" pitchFamily="34" charset="0"/>
                <a:ea typeface="IBM Plex Sans" pitchFamily="34" charset="-122"/>
                <a:cs typeface="IBM Plex Sans" pitchFamily="34" charset="-120"/>
              </a:rPr>
              <a:t>Textbook &amp; Software</a:t>
            </a:r>
            <a:endParaRPr lang="en-US" sz="3200" dirty="0"/>
          </a:p>
        </p:txBody>
      </p:sp>
      <p:sp>
        <p:nvSpPr>
          <p:cNvPr id="4" name="Shape 2"/>
          <p:cNvSpPr/>
          <p:nvPr/>
        </p:nvSpPr>
        <p:spPr>
          <a:xfrm>
            <a:off x="502920" y="1417320"/>
            <a:ext cx="5303520" cy="3200400"/>
          </a:xfrm>
          <a:prstGeom prst="rect">
            <a:avLst/>
          </a:prstGeom>
          <a:solidFill>
            <a:srgbClr val="F4F4F4"/>
          </a:solidFill>
          <a:ln/>
        </p:spPr>
      </p:sp>
      <p:sp>
        <p:nvSpPr>
          <p:cNvPr id="5" name="Text 3"/>
          <p:cNvSpPr txBox="1"/>
          <p:nvPr/>
        </p:nvSpPr>
        <p:spPr>
          <a:xfrm>
            <a:off x="777240" y="1627632"/>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TEXTBOOK</a:t>
            </a:r>
            <a:endParaRPr lang="en-US" sz="1000" dirty="0"/>
          </a:p>
        </p:txBody>
      </p:sp>
      <p:sp>
        <p:nvSpPr>
          <p:cNvPr id="6" name="Text 4"/>
          <p:cNvSpPr txBox="1"/>
          <p:nvPr/>
        </p:nvSpPr>
        <p:spPr>
          <a:xfrm>
            <a:off x="777240" y="1920240"/>
            <a:ext cx="4754880" cy="457200"/>
          </a:xfrm>
          <a:prstGeom prst="rect">
            <a:avLst/>
          </a:prstGeom>
          <a:noFill/>
          <a:ln/>
        </p:spPr>
        <p:txBody>
          <a:bodyPr wrap="square" lIns="0" tIns="0" rIns="0" bIns="0" rtlCol="0" anchor="ctr"/>
          <a:lstStyle/>
          <a:p>
            <a:pPr indent="0" marL="0">
              <a:buNone/>
            </a:pPr>
            <a:r>
              <a:rPr lang="en-US" sz="2000" b="1" dirty="0">
                <a:solidFill>
                  <a:srgbClr val="111111"/>
                </a:solidFill>
                <a:latin typeface="IBM Plex Sans" pitchFamily="34" charset="0"/>
                <a:ea typeface="IBM Plex Sans" pitchFamily="34" charset="-122"/>
                <a:cs typeface="IBM Plex Sans" pitchFamily="34" charset="-120"/>
              </a:rPr>
              <a:t>Rephactor Python</a:t>
            </a:r>
            <a:endParaRPr lang="en-US" sz="2000" dirty="0"/>
          </a:p>
        </p:txBody>
      </p:sp>
      <p:sp>
        <p:nvSpPr>
          <p:cNvPr id="7" name="Text 5"/>
          <p:cNvSpPr txBox="1"/>
          <p:nvPr/>
        </p:nvSpPr>
        <p:spPr>
          <a:xfrm>
            <a:off x="777240" y="2468880"/>
            <a:ext cx="4754880" cy="1005840"/>
          </a:xfrm>
          <a:prstGeom prst="rect">
            <a:avLst/>
          </a:prstGeom>
          <a:noFill/>
          <a:ln/>
        </p:spPr>
        <p:txBody>
          <a:bodyPr wrap="square" lIns="0" tIns="0" rIns="0" bIns="0" rtlCol="0" anchor="t"/>
          <a:lstStyle/>
          <a:p>
            <a:pPr algn="l" indent="0" marL="0">
              <a:buNone/>
            </a:pPr>
            <a:r>
              <a:rPr lang="en-US" sz="1400" dirty="0">
                <a:solidFill>
                  <a:srgbClr val="444444"/>
                </a:solidFill>
                <a:latin typeface="IBM Plex Sans" pitchFamily="34" charset="0"/>
                <a:ea typeface="IBM Plex Sans" pitchFamily="34" charset="-122"/>
                <a:cs typeface="IBM Plex Sans" pitchFamily="34" charset="-120"/>
              </a:rPr>
              <a:t>$48, purchased directly at rephactor.com</a:t>
            </a:r>
            <a:endParaRPr lang="en-US" sz="1400" dirty="0"/>
          </a:p>
          <a:p>
            <a:pPr algn="l" indent="0" marL="0">
              <a:buNone/>
            </a:pPr>
            <a:r>
              <a:rPr lang="en-US" sz="1400" dirty="0">
                <a:solidFill>
                  <a:srgbClr val="444444"/>
                </a:solidFill>
                <a:latin typeface="IBM Plex Sans" pitchFamily="34" charset="0"/>
                <a:ea typeface="IBM Plex Sans" pitchFamily="34" charset="-122"/>
                <a:cs typeface="IBM Plex Sans" pitchFamily="34" charset="-120"/>
              </a:rPr>
              <a:t>Register with your NYU email address</a:t>
            </a:r>
            <a:endParaRPr lang="en-US" sz="1400" dirty="0"/>
          </a:p>
          <a:p>
            <a:pPr algn="l" indent="0" marL="0">
              <a:buNone/>
            </a:pPr>
            <a:r>
              <a:rPr lang="en-US" sz="1400" dirty="0">
                <a:solidFill>
                  <a:srgbClr val="444444"/>
                </a:solidFill>
                <a:latin typeface="IBM Plex Sans" pitchFamily="34" charset="0"/>
                <a:ea typeface="IBM Plex Sans" pitchFamily="34" charset="-122"/>
                <a:cs typeface="IBM Plex Sans" pitchFamily="34" charset="-120"/>
              </a:rPr>
              <a:t>Your professor will send you a course code</a:t>
            </a:r>
            <a:endParaRPr lang="en-US" sz="1400" dirty="0"/>
          </a:p>
        </p:txBody>
      </p:sp>
      <p:sp>
        <p:nvSpPr>
          <p:cNvPr id="8" name="Text 6"/>
          <p:cNvSpPr txBox="1"/>
          <p:nvPr/>
        </p:nvSpPr>
        <p:spPr>
          <a:xfrm>
            <a:off x="777240" y="3520440"/>
            <a:ext cx="4754880" cy="685800"/>
          </a:xfrm>
          <a:prstGeom prst="rect">
            <a:avLst/>
          </a:prstGeom>
          <a:noFill/>
          <a:ln/>
        </p:spPr>
        <p:txBody>
          <a:bodyPr wrap="square" lIns="0" tIns="0" rIns="0" bIns="0" rtlCol="0" anchor="ctr"/>
          <a:lstStyle/>
          <a:p>
            <a:pPr indent="0" marL="0">
              <a:buNone/>
            </a:pPr>
            <a:r>
              <a:rPr lang="en-US" sz="1100" dirty="0">
                <a:solidFill>
                  <a:srgbClr val="444444"/>
                </a:solidFill>
                <a:latin typeface="IBM Plex Mono" pitchFamily="34" charset="0"/>
                <a:ea typeface="IBM Plex Mono" pitchFamily="34" charset="-122"/>
                <a:cs typeface="IBM Plex Mono" pitchFamily="34" charset="-120"/>
              </a:rPr>
              <a:t>Quick Checks due by 8 AM day-of</a:t>
            </a:r>
            <a:endParaRPr lang="en-US" sz="1100" dirty="0"/>
          </a:p>
          <a:p>
            <a:pPr indent="0" marL="0">
              <a:buNone/>
            </a:pPr>
            <a:r>
              <a:rPr lang="en-US" sz="1100" dirty="0">
                <a:solidFill>
                  <a:srgbClr val="444444"/>
                </a:solidFill>
                <a:latin typeface="IBM Plex Mono" pitchFamily="34" charset="0"/>
                <a:ea typeface="IBM Plex Mono" pitchFamily="34" charset="-122"/>
                <a:cs typeface="IBM Plex Mono" pitchFamily="34" charset="-120"/>
              </a:rPr>
              <a:t>Exercise Sets due by 9 AM day-after</a:t>
            </a:r>
            <a:endParaRPr lang="en-US" sz="1100" dirty="0"/>
          </a:p>
        </p:txBody>
      </p:sp>
      <p:sp>
        <p:nvSpPr>
          <p:cNvPr id="9" name="Shape 7"/>
          <p:cNvSpPr/>
          <p:nvPr/>
        </p:nvSpPr>
        <p:spPr>
          <a:xfrm>
            <a:off x="6355080" y="1417320"/>
            <a:ext cx="5303520" cy="3200400"/>
          </a:xfrm>
          <a:prstGeom prst="rect">
            <a:avLst/>
          </a:prstGeom>
          <a:solidFill>
            <a:srgbClr val="F4F4F4"/>
          </a:solidFill>
          <a:ln/>
        </p:spPr>
      </p:sp>
      <p:sp>
        <p:nvSpPr>
          <p:cNvPr id="10" name="Text 8"/>
          <p:cNvSpPr txBox="1"/>
          <p:nvPr/>
        </p:nvSpPr>
        <p:spPr>
          <a:xfrm>
            <a:off x="6629400" y="1627632"/>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SOFTWARE</a:t>
            </a:r>
            <a:endParaRPr lang="en-US" sz="1000" dirty="0"/>
          </a:p>
        </p:txBody>
      </p:sp>
      <p:sp>
        <p:nvSpPr>
          <p:cNvPr id="11" name="Text 9"/>
          <p:cNvSpPr txBox="1"/>
          <p:nvPr/>
        </p:nvSpPr>
        <p:spPr>
          <a:xfrm>
            <a:off x="6629400" y="1920240"/>
            <a:ext cx="4754880" cy="457200"/>
          </a:xfrm>
          <a:prstGeom prst="rect">
            <a:avLst/>
          </a:prstGeom>
          <a:noFill/>
          <a:ln/>
        </p:spPr>
        <p:txBody>
          <a:bodyPr wrap="square" lIns="0" tIns="0" rIns="0" bIns="0" rtlCol="0" anchor="ctr"/>
          <a:lstStyle/>
          <a:p>
            <a:pPr indent="0" marL="0">
              <a:buNone/>
            </a:pPr>
            <a:r>
              <a:rPr lang="en-US" sz="2000" b="1" dirty="0">
                <a:solidFill>
                  <a:srgbClr val="111111"/>
                </a:solidFill>
                <a:latin typeface="IBM Plex Sans" pitchFamily="34" charset="0"/>
                <a:ea typeface="IBM Plex Sans" pitchFamily="34" charset="-122"/>
                <a:cs typeface="IBM Plex Sans" pitchFamily="34" charset="-120"/>
              </a:rPr>
              <a:t>Python 3</a:t>
            </a:r>
            <a:endParaRPr lang="en-US" sz="2000" dirty="0"/>
          </a:p>
        </p:txBody>
      </p:sp>
      <p:sp>
        <p:nvSpPr>
          <p:cNvPr id="12" name="Text 10"/>
          <p:cNvSpPr txBox="1"/>
          <p:nvPr/>
        </p:nvSpPr>
        <p:spPr>
          <a:xfrm>
            <a:off x="6629400" y="2468880"/>
            <a:ext cx="4754880" cy="1371600"/>
          </a:xfrm>
          <a:prstGeom prst="rect">
            <a:avLst/>
          </a:prstGeom>
          <a:noFill/>
          <a:ln/>
        </p:spPr>
        <p:txBody>
          <a:bodyPr wrap="square" lIns="0" tIns="0" rIns="0" bIns="0" rtlCol="0" anchor="t"/>
          <a:lstStyle/>
          <a:p>
            <a:pPr algn="l" indent="0" marL="0">
              <a:buNone/>
            </a:pPr>
            <a:r>
              <a:rPr lang="en-US" sz="1400" dirty="0">
                <a:solidFill>
                  <a:srgbClr val="444444"/>
                </a:solidFill>
                <a:latin typeface="IBM Plex Sans" pitchFamily="34" charset="0"/>
                <a:ea typeface="IBM Plex Sans" pitchFamily="34" charset="-122"/>
                <a:cs typeface="IBM Plex Sans" pitchFamily="34" charset="-120"/>
              </a:rPr>
              <a:t>Any Python editor works:</a:t>
            </a:r>
            <a:endParaRPr lang="en-US" sz="1400" dirty="0"/>
          </a:p>
          <a:p>
            <a:pPr algn="l" indent="0" marL="0">
              <a:buNone/>
            </a:pPr>
            <a:r>
              <a:rPr lang="en-US" sz="1400" dirty="0">
                <a:solidFill>
                  <a:srgbClr val="444444"/>
                </a:solidFill>
                <a:latin typeface="IBM Plex Sans" pitchFamily="34" charset="0"/>
                <a:ea typeface="IBM Plex Sans" pitchFamily="34" charset="-122"/>
                <a:cs typeface="IBM Plex Sans" pitchFamily="34" charset="-120"/>
              </a:rPr>
              <a:t>IDLE  ·  PyCharm  ·  Thonny</a:t>
            </a:r>
            <a:endParaRPr lang="en-US" sz="1400" dirty="0"/>
          </a:p>
          <a:p>
            <a:pPr algn="l" indent="0" marL="0">
              <a:buNone/>
            </a:pPr>
            <a:endParaRPr lang="en-US" sz="1400" dirty="0"/>
          </a:p>
          <a:p>
            <a:pPr algn="l" indent="0" marL="0">
              <a:buNone/>
            </a:pPr>
            <a:r>
              <a:rPr lang="en-US" sz="1400" dirty="0">
                <a:solidFill>
                  <a:srgbClr val="444444"/>
                </a:solidFill>
                <a:latin typeface="IBM Plex Sans" pitchFamily="34" charset="0"/>
                <a:ea typeface="IBM Plex Sans" pitchFamily="34" charset="-122"/>
                <a:cs typeface="IBM Plex Sans" pitchFamily="34" charset="-120"/>
              </a:rPr>
              <a:t>Some editors bundle the compiler;</a:t>
            </a:r>
            <a:endParaRPr lang="en-US" sz="1400" dirty="0"/>
          </a:p>
          <a:p>
            <a:pPr algn="l" indent="0" marL="0">
              <a:buNone/>
            </a:pPr>
            <a:r>
              <a:rPr lang="en-US" sz="1400" dirty="0">
                <a:solidFill>
                  <a:srgbClr val="444444"/>
                </a:solidFill>
                <a:latin typeface="IBM Plex Sans" pitchFamily="34" charset="0"/>
                <a:ea typeface="IBM Plex Sans" pitchFamily="34" charset="-122"/>
                <a:cs typeface="IBM Plex Sans" pitchFamily="34" charset="-120"/>
              </a:rPr>
              <a:t>check your editor's install instructions.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1005840"/>
            <a:ext cx="1097280" cy="36576"/>
          </a:xfrm>
          <a:prstGeom prst="rect">
            <a:avLst/>
          </a:prstGeom>
          <a:solidFill>
            <a:srgbClr val="CC3320"/>
          </a:solidFill>
          <a:ln/>
        </p:spPr>
      </p:sp>
      <p:sp>
        <p:nvSpPr>
          <p:cNvPr id="3" name="Text 1"/>
          <p:cNvSpPr txBox="1"/>
          <p:nvPr/>
        </p:nvSpPr>
        <p:spPr>
          <a:xfrm>
            <a:off x="502920" y="411480"/>
            <a:ext cx="11155680" cy="640080"/>
          </a:xfrm>
          <a:prstGeom prst="rect">
            <a:avLst/>
          </a:prstGeom>
          <a:noFill/>
          <a:ln/>
        </p:spPr>
        <p:txBody>
          <a:bodyPr wrap="square" lIns="0" tIns="0" rIns="0" bIns="0" rtlCol="0" anchor="ctr"/>
          <a:lstStyle/>
          <a:p>
            <a:pPr algn="l" indent="0" marL="0">
              <a:buNone/>
            </a:pPr>
            <a:r>
              <a:rPr lang="en-US" sz="3200" b="1" dirty="0">
                <a:solidFill>
                  <a:srgbClr val="111111"/>
                </a:solidFill>
                <a:latin typeface="IBM Plex Sans" pitchFamily="34" charset="0"/>
                <a:ea typeface="IBM Plex Sans" pitchFamily="34" charset="-122"/>
                <a:cs typeface="IBM Plex Sans" pitchFamily="34" charset="-120"/>
              </a:rPr>
              <a:t>Schedule at a Glance</a:t>
            </a:r>
            <a:endParaRPr lang="en-US" sz="3200" dirty="0"/>
          </a:p>
        </p:txBody>
      </p:sp>
      <p:sp>
        <p:nvSpPr>
          <p:cNvPr id="4" name="Text 2"/>
          <p:cNvSpPr txBox="1"/>
          <p:nvPr/>
        </p:nvSpPr>
        <p:spPr>
          <a:xfrm>
            <a:off x="502920" y="1097280"/>
            <a:ext cx="11155680" cy="365760"/>
          </a:xfrm>
          <a:prstGeom prst="rect">
            <a:avLst/>
          </a:prstGeom>
          <a:noFill/>
          <a:ln/>
        </p:spPr>
        <p:txBody>
          <a:bodyPr wrap="square" lIns="0" tIns="0" rIns="0" bIns="0" rtlCol="0" anchor="ctr"/>
          <a:lstStyle/>
          <a:p>
            <a:pPr algn="l" indent="0" marL="0">
              <a:buNone/>
            </a:pPr>
            <a:r>
              <a:rPr lang="en-US" sz="1600" dirty="0">
                <a:solidFill>
                  <a:srgbClr val="999999"/>
                </a:solidFill>
                <a:latin typeface="IBM Plex Sans" pitchFamily="34" charset="0"/>
                <a:ea typeface="IBM Plex Sans" pitchFamily="34" charset="-122"/>
                <a:cs typeface="IBM Plex Sans" pitchFamily="34" charset="-120"/>
              </a:rPr>
              <a:t>16 weeks, subject to small adjustments</a:t>
            </a:r>
            <a:endParaRPr lang="en-US" sz="1600" dirty="0"/>
          </a:p>
        </p:txBody>
      </p:sp>
      <p:sp>
        <p:nvSpPr>
          <p:cNvPr id="5" name="Shape 3"/>
          <p:cNvSpPr/>
          <p:nvPr/>
        </p:nvSpPr>
        <p:spPr>
          <a:xfrm>
            <a:off x="502920" y="1417320"/>
            <a:ext cx="5303520" cy="420624"/>
          </a:xfrm>
          <a:prstGeom prst="rect">
            <a:avLst/>
          </a:prstGeom>
          <a:solidFill>
            <a:srgbClr val="F4F4F4"/>
          </a:solidFill>
          <a:ln/>
        </p:spPr>
      </p:sp>
      <p:sp>
        <p:nvSpPr>
          <p:cNvPr id="6" name="Text 4"/>
          <p:cNvSpPr txBox="1"/>
          <p:nvPr/>
        </p:nvSpPr>
        <p:spPr>
          <a:xfrm>
            <a:off x="640080" y="1490472"/>
            <a:ext cx="731520" cy="274320"/>
          </a:xfrm>
          <a:prstGeom prst="rect">
            <a:avLst/>
          </a:prstGeom>
          <a:noFill/>
          <a:ln/>
        </p:spPr>
        <p:txBody>
          <a:bodyPr wrap="square" lIns="0" tIns="0" rIns="0" bIns="0" rtlCol="0" anchor="ctr"/>
          <a:lstStyle/>
          <a:p>
            <a:pPr indent="0" marL="0">
              <a:buNone/>
            </a:pPr>
            <a:r>
              <a:rPr lang="en-US" sz="1000" b="1" dirty="0">
                <a:solidFill>
                  <a:srgbClr val="CC3320"/>
                </a:solidFill>
                <a:latin typeface="IBM Plex Mono" pitchFamily="34" charset="0"/>
                <a:ea typeface="IBM Plex Mono" pitchFamily="34" charset="-122"/>
                <a:cs typeface="IBM Plex Mono" pitchFamily="34" charset="-120"/>
              </a:rPr>
              <a:t>Wk 1–2</a:t>
            </a:r>
            <a:endParaRPr lang="en-US" sz="1000" dirty="0"/>
          </a:p>
        </p:txBody>
      </p:sp>
      <p:sp>
        <p:nvSpPr>
          <p:cNvPr id="7" name="Text 5"/>
          <p:cNvSpPr txBox="1"/>
          <p:nvPr/>
        </p:nvSpPr>
        <p:spPr>
          <a:xfrm>
            <a:off x="1508760" y="1490472"/>
            <a:ext cx="4114800" cy="274320"/>
          </a:xfrm>
          <a:prstGeom prst="rect">
            <a:avLst/>
          </a:prstGeom>
          <a:noFill/>
          <a:ln/>
        </p:spPr>
        <p:txBody>
          <a:bodyPr wrap="square" lIns="0" tIns="0" rIns="0" bIns="0" rtlCol="0" anchor="ctr"/>
          <a:lstStyle/>
          <a:p>
            <a:pPr indent="0" marL="0">
              <a:buNone/>
            </a:pPr>
            <a:r>
              <a:rPr lang="en-US" sz="1300" dirty="0">
                <a:solidFill>
                  <a:srgbClr val="111111"/>
                </a:solidFill>
                <a:latin typeface="IBM Plex Sans" pitchFamily="34" charset="0"/>
                <a:ea typeface="IBM Plex Sans" pitchFamily="34" charset="-122"/>
                <a:cs typeface="IBM Plex Sans" pitchFamily="34" charset="-120"/>
              </a:rPr>
              <a:t>Intro, variables, data types, operators</a:t>
            </a:r>
            <a:endParaRPr lang="en-US" sz="1300" dirty="0"/>
          </a:p>
        </p:txBody>
      </p:sp>
      <p:sp>
        <p:nvSpPr>
          <p:cNvPr id="8" name="Shape 6"/>
          <p:cNvSpPr/>
          <p:nvPr/>
        </p:nvSpPr>
        <p:spPr>
          <a:xfrm>
            <a:off x="6355080" y="1417320"/>
            <a:ext cx="5303520" cy="420624"/>
          </a:xfrm>
          <a:prstGeom prst="rect">
            <a:avLst/>
          </a:prstGeom>
          <a:solidFill>
            <a:srgbClr val="F4F4F4"/>
          </a:solidFill>
          <a:ln/>
        </p:spPr>
      </p:sp>
      <p:sp>
        <p:nvSpPr>
          <p:cNvPr id="9" name="Text 7"/>
          <p:cNvSpPr txBox="1"/>
          <p:nvPr/>
        </p:nvSpPr>
        <p:spPr>
          <a:xfrm>
            <a:off x="6492240" y="1490472"/>
            <a:ext cx="731520" cy="274320"/>
          </a:xfrm>
          <a:prstGeom prst="rect">
            <a:avLst/>
          </a:prstGeom>
          <a:noFill/>
          <a:ln/>
        </p:spPr>
        <p:txBody>
          <a:bodyPr wrap="square" lIns="0" tIns="0" rIns="0" bIns="0" rtlCol="0" anchor="ctr"/>
          <a:lstStyle/>
          <a:p>
            <a:pPr indent="0" marL="0">
              <a:buNone/>
            </a:pPr>
            <a:r>
              <a:rPr lang="en-US" sz="1000" b="1" dirty="0">
                <a:solidFill>
                  <a:srgbClr val="CC3320"/>
                </a:solidFill>
                <a:latin typeface="IBM Plex Mono" pitchFamily="34" charset="0"/>
                <a:ea typeface="IBM Plex Mono" pitchFamily="34" charset="-122"/>
                <a:cs typeface="IBM Plex Mono" pitchFamily="34" charset="-120"/>
              </a:rPr>
              <a:t>Wk 3–4</a:t>
            </a:r>
            <a:endParaRPr lang="en-US" sz="1000" dirty="0"/>
          </a:p>
        </p:txBody>
      </p:sp>
      <p:sp>
        <p:nvSpPr>
          <p:cNvPr id="10" name="Text 8"/>
          <p:cNvSpPr txBox="1"/>
          <p:nvPr/>
        </p:nvSpPr>
        <p:spPr>
          <a:xfrm>
            <a:off x="7360920" y="1490472"/>
            <a:ext cx="4114800" cy="274320"/>
          </a:xfrm>
          <a:prstGeom prst="rect">
            <a:avLst/>
          </a:prstGeom>
          <a:noFill/>
          <a:ln/>
        </p:spPr>
        <p:txBody>
          <a:bodyPr wrap="square" lIns="0" tIns="0" rIns="0" bIns="0" rtlCol="0" anchor="ctr"/>
          <a:lstStyle/>
          <a:p>
            <a:pPr indent="0" marL="0">
              <a:buNone/>
            </a:pPr>
            <a:r>
              <a:rPr lang="en-US" sz="1300" dirty="0">
                <a:solidFill>
                  <a:srgbClr val="111111"/>
                </a:solidFill>
                <a:latin typeface="IBM Plex Sans" pitchFamily="34" charset="0"/>
                <a:ea typeface="IBM Plex Sans" pitchFamily="34" charset="-122"/>
                <a:cs typeface="IBM Plex Sans" pitchFamily="34" charset="-120"/>
              </a:rPr>
              <a:t>Booleans, libraries, selection statements</a:t>
            </a:r>
            <a:endParaRPr lang="en-US" sz="1300" dirty="0"/>
          </a:p>
        </p:txBody>
      </p:sp>
      <p:sp>
        <p:nvSpPr>
          <p:cNvPr id="11" name="Shape 9"/>
          <p:cNvSpPr/>
          <p:nvPr/>
        </p:nvSpPr>
        <p:spPr>
          <a:xfrm>
            <a:off x="502920" y="1911096"/>
            <a:ext cx="5303520" cy="420624"/>
          </a:xfrm>
          <a:prstGeom prst="rect">
            <a:avLst/>
          </a:prstGeom>
          <a:solidFill>
            <a:srgbClr val="F4F4F4"/>
          </a:solidFill>
          <a:ln/>
        </p:spPr>
      </p:sp>
      <p:sp>
        <p:nvSpPr>
          <p:cNvPr id="12" name="Text 10"/>
          <p:cNvSpPr txBox="1"/>
          <p:nvPr/>
        </p:nvSpPr>
        <p:spPr>
          <a:xfrm>
            <a:off x="640080" y="1984248"/>
            <a:ext cx="731520" cy="274320"/>
          </a:xfrm>
          <a:prstGeom prst="rect">
            <a:avLst/>
          </a:prstGeom>
          <a:noFill/>
          <a:ln/>
        </p:spPr>
        <p:txBody>
          <a:bodyPr wrap="square" lIns="0" tIns="0" rIns="0" bIns="0" rtlCol="0" anchor="ctr"/>
          <a:lstStyle/>
          <a:p>
            <a:pPr indent="0" marL="0">
              <a:buNone/>
            </a:pPr>
            <a:r>
              <a:rPr lang="en-US" sz="1000" b="1" dirty="0">
                <a:solidFill>
                  <a:srgbClr val="CC3320"/>
                </a:solidFill>
                <a:latin typeface="IBM Plex Mono" pitchFamily="34" charset="0"/>
                <a:ea typeface="IBM Plex Mono" pitchFamily="34" charset="-122"/>
                <a:cs typeface="IBM Plex Mono" pitchFamily="34" charset="-120"/>
              </a:rPr>
              <a:t>Wk 5–6</a:t>
            </a:r>
            <a:endParaRPr lang="en-US" sz="1000" dirty="0"/>
          </a:p>
        </p:txBody>
      </p:sp>
      <p:sp>
        <p:nvSpPr>
          <p:cNvPr id="13" name="Text 11"/>
          <p:cNvSpPr txBox="1"/>
          <p:nvPr/>
        </p:nvSpPr>
        <p:spPr>
          <a:xfrm>
            <a:off x="1508760" y="1984248"/>
            <a:ext cx="4114800" cy="274320"/>
          </a:xfrm>
          <a:prstGeom prst="rect">
            <a:avLst/>
          </a:prstGeom>
          <a:noFill/>
          <a:ln/>
        </p:spPr>
        <p:txBody>
          <a:bodyPr wrap="square" lIns="0" tIns="0" rIns="0" bIns="0" rtlCol="0" anchor="ctr"/>
          <a:lstStyle/>
          <a:p>
            <a:pPr indent="0" marL="0">
              <a:buNone/>
            </a:pPr>
            <a:r>
              <a:rPr lang="en-US" sz="1300" dirty="0">
                <a:solidFill>
                  <a:srgbClr val="111111"/>
                </a:solidFill>
                <a:latin typeface="IBM Plex Sans" pitchFamily="34" charset="0"/>
                <a:ea typeface="IBM Plex Sans" pitchFamily="34" charset="-122"/>
                <a:cs typeface="IBM Plex Sans" pitchFamily="34" charset="-120"/>
              </a:rPr>
              <a:t>Loops, strings</a:t>
            </a:r>
            <a:endParaRPr lang="en-US" sz="1300" dirty="0"/>
          </a:p>
        </p:txBody>
      </p:sp>
      <p:sp>
        <p:nvSpPr>
          <p:cNvPr id="14" name="Shape 12"/>
          <p:cNvSpPr/>
          <p:nvPr/>
        </p:nvSpPr>
        <p:spPr>
          <a:xfrm>
            <a:off x="6355080" y="1911096"/>
            <a:ext cx="5303520" cy="420624"/>
          </a:xfrm>
          <a:prstGeom prst="rect">
            <a:avLst/>
          </a:prstGeom>
          <a:solidFill>
            <a:srgbClr val="F4F4F4"/>
          </a:solidFill>
          <a:ln/>
        </p:spPr>
      </p:sp>
      <p:sp>
        <p:nvSpPr>
          <p:cNvPr id="15" name="Text 13"/>
          <p:cNvSpPr txBox="1"/>
          <p:nvPr/>
        </p:nvSpPr>
        <p:spPr>
          <a:xfrm>
            <a:off x="6492240" y="1984248"/>
            <a:ext cx="731520" cy="274320"/>
          </a:xfrm>
          <a:prstGeom prst="rect">
            <a:avLst/>
          </a:prstGeom>
          <a:noFill/>
          <a:ln/>
        </p:spPr>
        <p:txBody>
          <a:bodyPr wrap="square" lIns="0" tIns="0" rIns="0" bIns="0" rtlCol="0" anchor="ctr"/>
          <a:lstStyle/>
          <a:p>
            <a:pPr indent="0" marL="0">
              <a:buNone/>
            </a:pPr>
            <a:r>
              <a:rPr lang="en-US" sz="1000" b="1" dirty="0">
                <a:solidFill>
                  <a:srgbClr val="CC3320"/>
                </a:solidFill>
                <a:latin typeface="IBM Plex Mono" pitchFamily="34" charset="0"/>
                <a:ea typeface="IBM Plex Mono" pitchFamily="34" charset="-122"/>
                <a:cs typeface="IBM Plex Mono" pitchFamily="34" charset="-120"/>
              </a:rPr>
              <a:t>Wk 7–8</a:t>
            </a:r>
            <a:endParaRPr lang="en-US" sz="1000" dirty="0"/>
          </a:p>
        </p:txBody>
      </p:sp>
      <p:sp>
        <p:nvSpPr>
          <p:cNvPr id="16" name="Text 14"/>
          <p:cNvSpPr txBox="1"/>
          <p:nvPr/>
        </p:nvSpPr>
        <p:spPr>
          <a:xfrm>
            <a:off x="7360920" y="1984248"/>
            <a:ext cx="4114800" cy="274320"/>
          </a:xfrm>
          <a:prstGeom prst="rect">
            <a:avLst/>
          </a:prstGeom>
          <a:noFill/>
          <a:ln/>
        </p:spPr>
        <p:txBody>
          <a:bodyPr wrap="square" lIns="0" tIns="0" rIns="0" bIns="0" rtlCol="0" anchor="ctr"/>
          <a:lstStyle/>
          <a:p>
            <a:pPr indent="0" marL="0">
              <a:buNone/>
            </a:pPr>
            <a:r>
              <a:rPr lang="en-US" sz="1300" dirty="0">
                <a:solidFill>
                  <a:srgbClr val="111111"/>
                </a:solidFill>
                <a:latin typeface="IBM Plex Sans" pitchFamily="34" charset="0"/>
                <a:ea typeface="IBM Plex Sans" pitchFamily="34" charset="-122"/>
                <a:cs typeface="IBM Plex Sans" pitchFamily="34" charset="-120"/>
              </a:rPr>
              <a:t>Functions, file basics</a:t>
            </a:r>
            <a:endParaRPr lang="en-US" sz="1300" dirty="0"/>
          </a:p>
        </p:txBody>
      </p:sp>
      <p:sp>
        <p:nvSpPr>
          <p:cNvPr id="17" name="Shape 15"/>
          <p:cNvSpPr/>
          <p:nvPr/>
        </p:nvSpPr>
        <p:spPr>
          <a:xfrm>
            <a:off x="502920" y="2404872"/>
            <a:ext cx="5303520" cy="420624"/>
          </a:xfrm>
          <a:prstGeom prst="rect">
            <a:avLst/>
          </a:prstGeom>
          <a:solidFill>
            <a:srgbClr val="CC3320"/>
          </a:solidFill>
          <a:ln/>
        </p:spPr>
      </p:sp>
      <p:sp>
        <p:nvSpPr>
          <p:cNvPr id="18" name="Text 16"/>
          <p:cNvSpPr txBox="1"/>
          <p:nvPr/>
        </p:nvSpPr>
        <p:spPr>
          <a:xfrm>
            <a:off x="640080" y="2478024"/>
            <a:ext cx="731520" cy="274320"/>
          </a:xfrm>
          <a:prstGeom prst="rect">
            <a:avLst/>
          </a:prstGeom>
          <a:noFill/>
          <a:ln/>
        </p:spPr>
        <p:txBody>
          <a:bodyPr wrap="square" lIns="0" tIns="0" rIns="0" bIns="0" rtlCol="0" anchor="ctr"/>
          <a:lstStyle/>
          <a:p>
            <a:pPr indent="0" marL="0">
              <a:buNone/>
            </a:pPr>
            <a:r>
              <a:rPr lang="en-US" sz="1000" b="1" dirty="0">
                <a:solidFill>
                  <a:srgbClr val="FFFFFF"/>
                </a:solidFill>
                <a:latin typeface="IBM Plex Mono" pitchFamily="34" charset="0"/>
                <a:ea typeface="IBM Plex Mono" pitchFamily="34" charset="-122"/>
                <a:cs typeface="IBM Plex Mono" pitchFamily="34" charset="-120"/>
              </a:rPr>
              <a:t>Wk 9</a:t>
            </a:r>
            <a:endParaRPr lang="en-US" sz="1000" dirty="0"/>
          </a:p>
        </p:txBody>
      </p:sp>
      <p:sp>
        <p:nvSpPr>
          <p:cNvPr id="19" name="Text 17"/>
          <p:cNvSpPr txBox="1"/>
          <p:nvPr/>
        </p:nvSpPr>
        <p:spPr>
          <a:xfrm>
            <a:off x="1508760" y="2478024"/>
            <a:ext cx="4114800" cy="274320"/>
          </a:xfrm>
          <a:prstGeom prst="rect">
            <a:avLst/>
          </a:prstGeom>
          <a:noFill/>
          <a:ln/>
        </p:spPr>
        <p:txBody>
          <a:bodyPr wrap="square" lIns="0" tIns="0" rIns="0" bIns="0" rtlCol="0" anchor="ctr"/>
          <a:lstStyle/>
          <a:p>
            <a:pPr indent="0" marL="0">
              <a:buNone/>
            </a:pPr>
            <a:r>
              <a:rPr lang="en-US" sz="1300" dirty="0">
                <a:solidFill>
                  <a:srgbClr val="FFFFFF"/>
                </a:solidFill>
                <a:latin typeface="IBM Plex Sans" pitchFamily="34" charset="0"/>
                <a:ea typeface="IBM Plex Sans" pitchFamily="34" charset="-122"/>
                <a:cs typeface="IBM Plex Sans" pitchFamily="34" charset="-120"/>
              </a:rPr>
              <a:t>EXAM 1  ·  File I/O</a:t>
            </a:r>
            <a:endParaRPr lang="en-US" sz="1300" dirty="0"/>
          </a:p>
        </p:txBody>
      </p:sp>
      <p:sp>
        <p:nvSpPr>
          <p:cNvPr id="20" name="Shape 18"/>
          <p:cNvSpPr/>
          <p:nvPr/>
        </p:nvSpPr>
        <p:spPr>
          <a:xfrm>
            <a:off x="6355080" y="2404872"/>
            <a:ext cx="5303520" cy="420624"/>
          </a:xfrm>
          <a:prstGeom prst="rect">
            <a:avLst/>
          </a:prstGeom>
          <a:solidFill>
            <a:srgbClr val="F4F4F4"/>
          </a:solidFill>
          <a:ln/>
        </p:spPr>
      </p:sp>
      <p:sp>
        <p:nvSpPr>
          <p:cNvPr id="21" name="Text 19"/>
          <p:cNvSpPr txBox="1"/>
          <p:nvPr/>
        </p:nvSpPr>
        <p:spPr>
          <a:xfrm>
            <a:off x="6492240" y="2478024"/>
            <a:ext cx="731520" cy="274320"/>
          </a:xfrm>
          <a:prstGeom prst="rect">
            <a:avLst/>
          </a:prstGeom>
          <a:noFill/>
          <a:ln/>
        </p:spPr>
        <p:txBody>
          <a:bodyPr wrap="square" lIns="0" tIns="0" rIns="0" bIns="0" rtlCol="0" anchor="ctr"/>
          <a:lstStyle/>
          <a:p>
            <a:pPr indent="0" marL="0">
              <a:buNone/>
            </a:pPr>
            <a:r>
              <a:rPr lang="en-US" sz="1000" b="1" dirty="0">
                <a:solidFill>
                  <a:srgbClr val="CC3320"/>
                </a:solidFill>
                <a:latin typeface="IBM Plex Mono" pitchFamily="34" charset="0"/>
                <a:ea typeface="IBM Plex Mono" pitchFamily="34" charset="-122"/>
                <a:cs typeface="IBM Plex Mono" pitchFamily="34" charset="-120"/>
              </a:rPr>
              <a:t>Wk 10–11</a:t>
            </a:r>
            <a:endParaRPr lang="en-US" sz="1000" dirty="0"/>
          </a:p>
        </p:txBody>
      </p:sp>
      <p:sp>
        <p:nvSpPr>
          <p:cNvPr id="22" name="Text 20"/>
          <p:cNvSpPr txBox="1"/>
          <p:nvPr/>
        </p:nvSpPr>
        <p:spPr>
          <a:xfrm>
            <a:off x="7360920" y="2478024"/>
            <a:ext cx="4114800" cy="274320"/>
          </a:xfrm>
          <a:prstGeom prst="rect">
            <a:avLst/>
          </a:prstGeom>
          <a:noFill/>
          <a:ln/>
        </p:spPr>
        <p:txBody>
          <a:bodyPr wrap="square" lIns="0" tIns="0" rIns="0" bIns="0" rtlCol="0" anchor="ctr"/>
          <a:lstStyle/>
          <a:p>
            <a:pPr indent="0" marL="0">
              <a:buNone/>
            </a:pPr>
            <a:r>
              <a:rPr lang="en-US" sz="1300" dirty="0">
                <a:solidFill>
                  <a:srgbClr val="111111"/>
                </a:solidFill>
                <a:latin typeface="IBM Plex Sans" pitchFamily="34" charset="0"/>
                <a:ea typeface="IBM Plex Sans" pitchFamily="34" charset="-122"/>
                <a:cs typeface="IBM Plex Sans" pitchFamily="34" charset="-120"/>
              </a:rPr>
              <a:t>Exceptions, lists, tuples, memory maps</a:t>
            </a:r>
            <a:endParaRPr lang="en-US" sz="1300" dirty="0"/>
          </a:p>
        </p:txBody>
      </p:sp>
      <p:sp>
        <p:nvSpPr>
          <p:cNvPr id="23" name="Shape 21"/>
          <p:cNvSpPr/>
          <p:nvPr/>
        </p:nvSpPr>
        <p:spPr>
          <a:xfrm>
            <a:off x="502920" y="2898648"/>
            <a:ext cx="5303520" cy="420624"/>
          </a:xfrm>
          <a:prstGeom prst="rect">
            <a:avLst/>
          </a:prstGeom>
          <a:solidFill>
            <a:srgbClr val="F4F4F4"/>
          </a:solidFill>
          <a:ln/>
        </p:spPr>
      </p:sp>
      <p:sp>
        <p:nvSpPr>
          <p:cNvPr id="24" name="Text 22"/>
          <p:cNvSpPr txBox="1"/>
          <p:nvPr/>
        </p:nvSpPr>
        <p:spPr>
          <a:xfrm>
            <a:off x="640080" y="2971800"/>
            <a:ext cx="731520" cy="274320"/>
          </a:xfrm>
          <a:prstGeom prst="rect">
            <a:avLst/>
          </a:prstGeom>
          <a:noFill/>
          <a:ln/>
        </p:spPr>
        <p:txBody>
          <a:bodyPr wrap="square" lIns="0" tIns="0" rIns="0" bIns="0" rtlCol="0" anchor="ctr"/>
          <a:lstStyle/>
          <a:p>
            <a:pPr indent="0" marL="0">
              <a:buNone/>
            </a:pPr>
            <a:r>
              <a:rPr lang="en-US" sz="1000" b="1" dirty="0">
                <a:solidFill>
                  <a:srgbClr val="CC3320"/>
                </a:solidFill>
                <a:latin typeface="IBM Plex Mono" pitchFamily="34" charset="0"/>
                <a:ea typeface="IBM Plex Mono" pitchFamily="34" charset="-122"/>
                <a:cs typeface="IBM Plex Mono" pitchFamily="34" charset="-120"/>
              </a:rPr>
              <a:t>Wk 12–13</a:t>
            </a:r>
            <a:endParaRPr lang="en-US" sz="1000" dirty="0"/>
          </a:p>
        </p:txBody>
      </p:sp>
      <p:sp>
        <p:nvSpPr>
          <p:cNvPr id="25" name="Text 23"/>
          <p:cNvSpPr txBox="1"/>
          <p:nvPr/>
        </p:nvSpPr>
        <p:spPr>
          <a:xfrm>
            <a:off x="1508760" y="2971800"/>
            <a:ext cx="4114800" cy="274320"/>
          </a:xfrm>
          <a:prstGeom prst="rect">
            <a:avLst/>
          </a:prstGeom>
          <a:noFill/>
          <a:ln/>
        </p:spPr>
        <p:txBody>
          <a:bodyPr wrap="square" lIns="0" tIns="0" rIns="0" bIns="0" rtlCol="0" anchor="ctr"/>
          <a:lstStyle/>
          <a:p>
            <a:pPr indent="0" marL="0">
              <a:buNone/>
            </a:pPr>
            <a:r>
              <a:rPr lang="en-US" sz="1300" dirty="0">
                <a:solidFill>
                  <a:srgbClr val="111111"/>
                </a:solidFill>
                <a:latin typeface="IBM Plex Sans" pitchFamily="34" charset="0"/>
                <a:ea typeface="IBM Plex Sans" pitchFamily="34" charset="-122"/>
                <a:cs typeface="IBM Plex Sans" pitchFamily="34" charset="-120"/>
              </a:rPr>
              <a:t>Dictionaries</a:t>
            </a:r>
            <a:endParaRPr lang="en-US" sz="1300" dirty="0"/>
          </a:p>
        </p:txBody>
      </p:sp>
      <p:sp>
        <p:nvSpPr>
          <p:cNvPr id="26" name="Shape 24"/>
          <p:cNvSpPr/>
          <p:nvPr/>
        </p:nvSpPr>
        <p:spPr>
          <a:xfrm>
            <a:off x="6355080" y="2898648"/>
            <a:ext cx="5303520" cy="420624"/>
          </a:xfrm>
          <a:prstGeom prst="rect">
            <a:avLst/>
          </a:prstGeom>
          <a:solidFill>
            <a:srgbClr val="CC3320"/>
          </a:solidFill>
          <a:ln/>
        </p:spPr>
      </p:sp>
      <p:sp>
        <p:nvSpPr>
          <p:cNvPr id="27" name="Text 25"/>
          <p:cNvSpPr txBox="1"/>
          <p:nvPr/>
        </p:nvSpPr>
        <p:spPr>
          <a:xfrm>
            <a:off x="6492240" y="2971800"/>
            <a:ext cx="731520" cy="274320"/>
          </a:xfrm>
          <a:prstGeom prst="rect">
            <a:avLst/>
          </a:prstGeom>
          <a:noFill/>
          <a:ln/>
        </p:spPr>
        <p:txBody>
          <a:bodyPr wrap="square" lIns="0" tIns="0" rIns="0" bIns="0" rtlCol="0" anchor="ctr"/>
          <a:lstStyle/>
          <a:p>
            <a:pPr indent="0" marL="0">
              <a:buNone/>
            </a:pPr>
            <a:r>
              <a:rPr lang="en-US" sz="1000" b="1" dirty="0">
                <a:solidFill>
                  <a:srgbClr val="FFFFFF"/>
                </a:solidFill>
                <a:latin typeface="IBM Plex Mono" pitchFamily="34" charset="0"/>
                <a:ea typeface="IBM Plex Mono" pitchFamily="34" charset="-122"/>
                <a:cs typeface="IBM Plex Mono" pitchFamily="34" charset="-120"/>
              </a:rPr>
              <a:t>Wk 13</a:t>
            </a:r>
            <a:endParaRPr lang="en-US" sz="1000" dirty="0"/>
          </a:p>
        </p:txBody>
      </p:sp>
      <p:sp>
        <p:nvSpPr>
          <p:cNvPr id="28" name="Text 26"/>
          <p:cNvSpPr txBox="1"/>
          <p:nvPr/>
        </p:nvSpPr>
        <p:spPr>
          <a:xfrm>
            <a:off x="7360920" y="2971800"/>
            <a:ext cx="4114800" cy="274320"/>
          </a:xfrm>
          <a:prstGeom prst="rect">
            <a:avLst/>
          </a:prstGeom>
          <a:noFill/>
          <a:ln/>
        </p:spPr>
        <p:txBody>
          <a:bodyPr wrap="square" lIns="0" tIns="0" rIns="0" bIns="0" rtlCol="0" anchor="ctr"/>
          <a:lstStyle/>
          <a:p>
            <a:pPr indent="0" marL="0">
              <a:buNone/>
            </a:pPr>
            <a:r>
              <a:rPr lang="en-US" sz="1300" dirty="0">
                <a:solidFill>
                  <a:srgbClr val="FFFFFF"/>
                </a:solidFill>
                <a:latin typeface="IBM Plex Sans" pitchFamily="34" charset="0"/>
                <a:ea typeface="IBM Plex Sans" pitchFamily="34" charset="-122"/>
                <a:cs typeface="IBM Plex Sans" pitchFamily="34" charset="-120"/>
              </a:rPr>
              <a:t>EXAM 2</a:t>
            </a:r>
            <a:endParaRPr lang="en-US" sz="1300" dirty="0"/>
          </a:p>
        </p:txBody>
      </p:sp>
      <p:sp>
        <p:nvSpPr>
          <p:cNvPr id="29" name="Shape 27"/>
          <p:cNvSpPr/>
          <p:nvPr/>
        </p:nvSpPr>
        <p:spPr>
          <a:xfrm>
            <a:off x="502920" y="3392424"/>
            <a:ext cx="5303520" cy="420624"/>
          </a:xfrm>
          <a:prstGeom prst="rect">
            <a:avLst/>
          </a:prstGeom>
          <a:solidFill>
            <a:srgbClr val="F4F4F4"/>
          </a:solidFill>
          <a:ln/>
        </p:spPr>
      </p:sp>
      <p:sp>
        <p:nvSpPr>
          <p:cNvPr id="30" name="Text 28"/>
          <p:cNvSpPr txBox="1"/>
          <p:nvPr/>
        </p:nvSpPr>
        <p:spPr>
          <a:xfrm>
            <a:off x="640080" y="3465576"/>
            <a:ext cx="731520" cy="274320"/>
          </a:xfrm>
          <a:prstGeom prst="rect">
            <a:avLst/>
          </a:prstGeom>
          <a:noFill/>
          <a:ln/>
        </p:spPr>
        <p:txBody>
          <a:bodyPr wrap="square" lIns="0" tIns="0" rIns="0" bIns="0" rtlCol="0" anchor="ctr"/>
          <a:lstStyle/>
          <a:p>
            <a:pPr indent="0" marL="0">
              <a:buNone/>
            </a:pPr>
            <a:r>
              <a:rPr lang="en-US" sz="1000" b="1" dirty="0">
                <a:solidFill>
                  <a:srgbClr val="CC3320"/>
                </a:solidFill>
                <a:latin typeface="IBM Plex Mono" pitchFamily="34" charset="0"/>
                <a:ea typeface="IBM Plex Mono" pitchFamily="34" charset="-122"/>
                <a:cs typeface="IBM Plex Mono" pitchFamily="34" charset="-120"/>
              </a:rPr>
              <a:t>Wk 14–15</a:t>
            </a:r>
            <a:endParaRPr lang="en-US" sz="1000" dirty="0"/>
          </a:p>
        </p:txBody>
      </p:sp>
      <p:sp>
        <p:nvSpPr>
          <p:cNvPr id="31" name="Text 29"/>
          <p:cNvSpPr txBox="1"/>
          <p:nvPr/>
        </p:nvSpPr>
        <p:spPr>
          <a:xfrm>
            <a:off x="1508760" y="3465576"/>
            <a:ext cx="4114800" cy="274320"/>
          </a:xfrm>
          <a:prstGeom prst="rect">
            <a:avLst/>
          </a:prstGeom>
          <a:noFill/>
          <a:ln/>
        </p:spPr>
        <p:txBody>
          <a:bodyPr wrap="square" lIns="0" tIns="0" rIns="0" bIns="0" rtlCol="0" anchor="ctr"/>
          <a:lstStyle/>
          <a:p>
            <a:pPr indent="0" marL="0">
              <a:buNone/>
            </a:pPr>
            <a:r>
              <a:rPr lang="en-US" sz="1300" dirty="0">
                <a:solidFill>
                  <a:srgbClr val="111111"/>
                </a:solidFill>
                <a:latin typeface="IBM Plex Sans" pitchFamily="34" charset="0"/>
                <a:ea typeface="IBM Plex Sans" pitchFamily="34" charset="-122"/>
                <a:cs typeface="IBM Plex Sans" pitchFamily="34" charset="-120"/>
              </a:rPr>
              <a:t>Comprehensions, OOP (3 parts)</a:t>
            </a:r>
            <a:endParaRPr lang="en-US" sz="1300" dirty="0"/>
          </a:p>
        </p:txBody>
      </p:sp>
      <p:sp>
        <p:nvSpPr>
          <p:cNvPr id="32" name="Shape 30"/>
          <p:cNvSpPr/>
          <p:nvPr/>
        </p:nvSpPr>
        <p:spPr>
          <a:xfrm>
            <a:off x="6355080" y="3392424"/>
            <a:ext cx="5303520" cy="420624"/>
          </a:xfrm>
          <a:prstGeom prst="rect">
            <a:avLst/>
          </a:prstGeom>
          <a:solidFill>
            <a:srgbClr val="F4F4F4"/>
          </a:solidFill>
          <a:ln/>
        </p:spPr>
      </p:sp>
      <p:sp>
        <p:nvSpPr>
          <p:cNvPr id="33" name="Text 31"/>
          <p:cNvSpPr txBox="1"/>
          <p:nvPr/>
        </p:nvSpPr>
        <p:spPr>
          <a:xfrm>
            <a:off x="6492240" y="3465576"/>
            <a:ext cx="731520" cy="274320"/>
          </a:xfrm>
          <a:prstGeom prst="rect">
            <a:avLst/>
          </a:prstGeom>
          <a:noFill/>
          <a:ln/>
        </p:spPr>
        <p:txBody>
          <a:bodyPr wrap="square" lIns="0" tIns="0" rIns="0" bIns="0" rtlCol="0" anchor="ctr"/>
          <a:lstStyle/>
          <a:p>
            <a:pPr indent="0" marL="0">
              <a:buNone/>
            </a:pPr>
            <a:r>
              <a:rPr lang="en-US" sz="1000" b="1" dirty="0">
                <a:solidFill>
                  <a:srgbClr val="CC3320"/>
                </a:solidFill>
                <a:latin typeface="IBM Plex Mono" pitchFamily="34" charset="0"/>
                <a:ea typeface="IBM Plex Mono" pitchFamily="34" charset="-122"/>
                <a:cs typeface="IBM Plex Mono" pitchFamily="34" charset="-120"/>
              </a:rPr>
              <a:t>Wk 15–16</a:t>
            </a:r>
            <a:endParaRPr lang="en-US" sz="1000" dirty="0"/>
          </a:p>
        </p:txBody>
      </p:sp>
      <p:sp>
        <p:nvSpPr>
          <p:cNvPr id="34" name="Text 32"/>
          <p:cNvSpPr txBox="1"/>
          <p:nvPr/>
        </p:nvSpPr>
        <p:spPr>
          <a:xfrm>
            <a:off x="7360920" y="3465576"/>
            <a:ext cx="4114800" cy="274320"/>
          </a:xfrm>
          <a:prstGeom prst="rect">
            <a:avLst/>
          </a:prstGeom>
          <a:noFill/>
          <a:ln/>
        </p:spPr>
        <p:txBody>
          <a:bodyPr wrap="square" lIns="0" tIns="0" rIns="0" bIns="0" rtlCol="0" anchor="ctr"/>
          <a:lstStyle/>
          <a:p>
            <a:pPr indent="0" marL="0">
              <a:buNone/>
            </a:pPr>
            <a:r>
              <a:rPr lang="en-US" sz="1300" dirty="0">
                <a:solidFill>
                  <a:srgbClr val="111111"/>
                </a:solidFill>
                <a:latin typeface="IBM Plex Sans" pitchFamily="34" charset="0"/>
                <a:ea typeface="IBM Plex Sans" pitchFamily="34" charset="-122"/>
                <a:cs typeface="IBM Plex Sans" pitchFamily="34" charset="-120"/>
              </a:rPr>
              <a:t>Recursion, final review</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1005840"/>
            <a:ext cx="1097280" cy="36576"/>
          </a:xfrm>
          <a:prstGeom prst="rect">
            <a:avLst/>
          </a:prstGeom>
          <a:solidFill>
            <a:srgbClr val="CC3320"/>
          </a:solidFill>
          <a:ln/>
        </p:spPr>
      </p:sp>
      <p:sp>
        <p:nvSpPr>
          <p:cNvPr id="3" name="Text 1"/>
          <p:cNvSpPr txBox="1"/>
          <p:nvPr/>
        </p:nvSpPr>
        <p:spPr>
          <a:xfrm>
            <a:off x="502920" y="411480"/>
            <a:ext cx="11155680" cy="640080"/>
          </a:xfrm>
          <a:prstGeom prst="rect">
            <a:avLst/>
          </a:prstGeom>
          <a:noFill/>
          <a:ln/>
        </p:spPr>
        <p:txBody>
          <a:bodyPr wrap="square" lIns="0" tIns="0" rIns="0" bIns="0" rtlCol="0" anchor="ctr"/>
          <a:lstStyle/>
          <a:p>
            <a:pPr algn="l" indent="0" marL="0">
              <a:buNone/>
            </a:pPr>
            <a:r>
              <a:rPr lang="en-US" sz="3200" b="1" dirty="0">
                <a:solidFill>
                  <a:srgbClr val="111111"/>
                </a:solidFill>
                <a:latin typeface="IBM Plex Sans" pitchFamily="34" charset="0"/>
                <a:ea typeface="IBM Plex Sans" pitchFamily="34" charset="-122"/>
                <a:cs typeface="IBM Plex Sans" pitchFamily="34" charset="-120"/>
              </a:rPr>
              <a:t>Getting Help</a:t>
            </a:r>
            <a:endParaRPr lang="en-US" sz="3200" dirty="0"/>
          </a:p>
        </p:txBody>
      </p:sp>
      <p:sp>
        <p:nvSpPr>
          <p:cNvPr id="4" name="Shape 2"/>
          <p:cNvSpPr/>
          <p:nvPr/>
        </p:nvSpPr>
        <p:spPr>
          <a:xfrm>
            <a:off x="502920" y="1417320"/>
            <a:ext cx="3611880" cy="4389120"/>
          </a:xfrm>
          <a:prstGeom prst="rect">
            <a:avLst/>
          </a:prstGeom>
          <a:solidFill>
            <a:srgbClr val="F4F4F4"/>
          </a:solidFill>
          <a:ln/>
        </p:spPr>
      </p:sp>
      <p:sp>
        <p:nvSpPr>
          <p:cNvPr id="5" name="Text 3"/>
          <p:cNvSpPr txBox="1"/>
          <p:nvPr/>
        </p:nvSpPr>
        <p:spPr>
          <a:xfrm>
            <a:off x="731520" y="1627632"/>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INSTRUCTOR OFFICE HOURS</a:t>
            </a:r>
            <a:endParaRPr lang="en-US" sz="1000" dirty="0"/>
          </a:p>
        </p:txBody>
      </p:sp>
      <p:sp>
        <p:nvSpPr>
          <p:cNvPr id="6" name="Text 4"/>
          <p:cNvSpPr txBox="1"/>
          <p:nvPr/>
        </p:nvSpPr>
        <p:spPr>
          <a:xfrm>
            <a:off x="731520" y="2011680"/>
            <a:ext cx="3154680" cy="2286000"/>
          </a:xfrm>
          <a:prstGeom prst="rect">
            <a:avLst/>
          </a:prstGeom>
          <a:noFill/>
          <a:ln/>
        </p:spPr>
        <p:txBody>
          <a:bodyPr wrap="square" lIns="0" tIns="0" rIns="0" bIns="0" rtlCol="0" anchor="t"/>
          <a:lstStyle/>
          <a:p>
            <a:pPr algn="l" indent="0" marL="0">
              <a:buNone/>
            </a:pPr>
            <a:r>
              <a:rPr lang="en-US" sz="1300" dirty="0">
                <a:solidFill>
                  <a:srgbClr val="444444"/>
                </a:solidFill>
                <a:latin typeface="IBM Plex Sans" pitchFamily="34" charset="0"/>
                <a:ea typeface="IBM Plex Sans" pitchFamily="34" charset="-122"/>
                <a:cs typeface="IBM Plex Sans" pitchFamily="34" charset="-120"/>
              </a:rPr>
              <a:t>Book via the link in Brightspace. Come with specific questions; we're happy to help you work through things.</a:t>
            </a:r>
            <a:endParaRPr lang="en-US" sz="1300" dirty="0"/>
          </a:p>
        </p:txBody>
      </p:sp>
      <p:sp>
        <p:nvSpPr>
          <p:cNvPr id="7" name="Shape 5"/>
          <p:cNvSpPr/>
          <p:nvPr/>
        </p:nvSpPr>
        <p:spPr>
          <a:xfrm>
            <a:off x="4389120" y="1417320"/>
            <a:ext cx="3611880" cy="4389120"/>
          </a:xfrm>
          <a:prstGeom prst="rect">
            <a:avLst/>
          </a:prstGeom>
          <a:solidFill>
            <a:srgbClr val="F4F4F4"/>
          </a:solidFill>
          <a:ln/>
        </p:spPr>
      </p:sp>
      <p:sp>
        <p:nvSpPr>
          <p:cNvPr id="8" name="Text 6"/>
          <p:cNvSpPr txBox="1"/>
          <p:nvPr/>
        </p:nvSpPr>
        <p:spPr>
          <a:xfrm>
            <a:off x="4617720" y="1627632"/>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CA OFFICE HOURS</a:t>
            </a:r>
            <a:endParaRPr lang="en-US" sz="1000" dirty="0"/>
          </a:p>
        </p:txBody>
      </p:sp>
      <p:sp>
        <p:nvSpPr>
          <p:cNvPr id="9" name="Text 7"/>
          <p:cNvSpPr txBox="1"/>
          <p:nvPr/>
        </p:nvSpPr>
        <p:spPr>
          <a:xfrm>
            <a:off x="4617720" y="2011680"/>
            <a:ext cx="3154680" cy="2286000"/>
          </a:xfrm>
          <a:prstGeom prst="rect">
            <a:avLst/>
          </a:prstGeom>
          <a:noFill/>
          <a:ln/>
        </p:spPr>
        <p:txBody>
          <a:bodyPr wrap="square" lIns="0" tIns="0" rIns="0" bIns="0" rtlCol="0" anchor="t"/>
          <a:lstStyle/>
          <a:p>
            <a:pPr algn="l" indent="0" marL="0">
              <a:buNone/>
            </a:pPr>
            <a:r>
              <a:rPr lang="en-US" sz="1300" dirty="0">
                <a:solidFill>
                  <a:srgbClr val="444444"/>
                </a:solidFill>
                <a:latin typeface="IBM Plex Sans" pitchFamily="34" charset="0"/>
                <a:ea typeface="IBM Plex Sans" pitchFamily="34" charset="-122"/>
                <a:cs typeface="IBM Plex Sans" pitchFamily="34" charset="-120"/>
              </a:rPr>
              <a:t>Walk-in hours posted on Brightspace. Start your assignment first so CAs can help you move forward, not start from scratch.</a:t>
            </a:r>
            <a:endParaRPr lang="en-US" sz="1300" dirty="0"/>
          </a:p>
        </p:txBody>
      </p:sp>
      <p:sp>
        <p:nvSpPr>
          <p:cNvPr id="10" name="Shape 8"/>
          <p:cNvSpPr/>
          <p:nvPr/>
        </p:nvSpPr>
        <p:spPr>
          <a:xfrm>
            <a:off x="8275320" y="1417320"/>
            <a:ext cx="3611880" cy="4389120"/>
          </a:xfrm>
          <a:prstGeom prst="rect">
            <a:avLst/>
          </a:prstGeom>
          <a:solidFill>
            <a:srgbClr val="F4F4F4"/>
          </a:solidFill>
          <a:ln/>
        </p:spPr>
      </p:sp>
      <p:sp>
        <p:nvSpPr>
          <p:cNvPr id="11" name="Text 9"/>
          <p:cNvSpPr txBox="1"/>
          <p:nvPr/>
        </p:nvSpPr>
        <p:spPr>
          <a:xfrm>
            <a:off x="8503920" y="1627632"/>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ED STEM</a:t>
            </a:r>
            <a:endParaRPr lang="en-US" sz="1000" dirty="0"/>
          </a:p>
        </p:txBody>
      </p:sp>
      <p:sp>
        <p:nvSpPr>
          <p:cNvPr id="12" name="Text 10"/>
          <p:cNvSpPr txBox="1"/>
          <p:nvPr/>
        </p:nvSpPr>
        <p:spPr>
          <a:xfrm>
            <a:off x="8503920" y="2011680"/>
            <a:ext cx="3154680" cy="2286000"/>
          </a:xfrm>
          <a:prstGeom prst="rect">
            <a:avLst/>
          </a:prstGeom>
          <a:noFill/>
          <a:ln/>
        </p:spPr>
        <p:txBody>
          <a:bodyPr wrap="square" lIns="0" tIns="0" rIns="0" bIns="0" rtlCol="0" anchor="t"/>
          <a:lstStyle/>
          <a:p>
            <a:pPr algn="l" indent="0" marL="0">
              <a:buNone/>
            </a:pPr>
            <a:r>
              <a:rPr lang="en-US" sz="1300" dirty="0">
                <a:solidFill>
                  <a:srgbClr val="444444"/>
                </a:solidFill>
                <a:latin typeface="IBM Plex Sans" pitchFamily="34" charset="0"/>
                <a:ea typeface="IBM Plex Sans" pitchFamily="34" charset="-122"/>
                <a:cs typeface="IBM Plex Sans" pitchFamily="34" charset="-120"/>
              </a:rPr>
              <a:t>Discussion forum via Brightspace. No homework code in posts. Use your real name. Grade disputes belong in office hours.</a:t>
            </a:r>
            <a:endParaRPr lang="en-US" sz="1300" dirty="0"/>
          </a:p>
        </p:txBody>
      </p:sp>
      <p:sp>
        <p:nvSpPr>
          <p:cNvPr id="13" name="Text 11"/>
          <p:cNvSpPr txBox="1"/>
          <p:nvPr/>
        </p:nvSpPr>
        <p:spPr>
          <a:xfrm>
            <a:off x="502920" y="5577840"/>
            <a:ext cx="11155680" cy="274320"/>
          </a:xfrm>
          <a:prstGeom prst="rect">
            <a:avLst/>
          </a:prstGeom>
          <a:noFill/>
          <a:ln/>
        </p:spPr>
        <p:txBody>
          <a:bodyPr wrap="square" lIns="0" tIns="0" rIns="0" bIns="0" rtlCol="0" anchor="ctr"/>
          <a:lstStyle/>
          <a:p>
            <a:pPr algn="l" indent="0" marL="0">
              <a:buNone/>
            </a:pPr>
            <a:r>
              <a:rPr lang="en-US" sz="1000" b="1" dirty="0">
                <a:solidFill>
                  <a:srgbClr val="CC3320"/>
                </a:solidFill>
                <a:latin typeface="IBM Plex Mono" pitchFamily="34" charset="0"/>
                <a:ea typeface="IBM Plex Mono" pitchFamily="34" charset="-122"/>
                <a:cs typeface="IBM Plex Mono" pitchFamily="34" charset="-120"/>
              </a:rPr>
              <a:t>DISABILITIES &amp; ACCOMMODATIONS</a:t>
            </a:r>
            <a:endParaRPr lang="en-US" sz="1000" dirty="0"/>
          </a:p>
        </p:txBody>
      </p:sp>
      <p:sp>
        <p:nvSpPr>
          <p:cNvPr id="14" name="Text 12"/>
          <p:cNvSpPr txBox="1"/>
          <p:nvPr/>
        </p:nvSpPr>
        <p:spPr>
          <a:xfrm>
            <a:off x="502920" y="5833872"/>
            <a:ext cx="11155680" cy="274320"/>
          </a:xfrm>
          <a:prstGeom prst="rect">
            <a:avLst/>
          </a:prstGeom>
          <a:noFill/>
          <a:ln/>
        </p:spPr>
        <p:txBody>
          <a:bodyPr wrap="square" lIns="0" tIns="0" rIns="0" bIns="0" rtlCol="0" anchor="t"/>
          <a:lstStyle/>
          <a:p>
            <a:pPr algn="l" indent="0" marL="0">
              <a:buNone/>
            </a:pPr>
            <a:r>
              <a:rPr lang="en-US" sz="1200" dirty="0">
                <a:solidFill>
                  <a:srgbClr val="444444"/>
                </a:solidFill>
                <a:latin typeface="IBM Plex Sans" pitchFamily="34" charset="0"/>
                <a:ea typeface="IBM Plex Sans" pitchFamily="34" charset="-122"/>
                <a:cs typeface="IBM Plex Sans" pitchFamily="34" charset="-120"/>
              </a:rPr>
              <a:t>Moses Center for Students with Disabilities: mosescsd@nyu.edu  ·  212-998-4980  ·  726 Broadway, 3rd floor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502920" y="2286000"/>
            <a:ext cx="11155680" cy="1280160"/>
          </a:xfrm>
          <a:prstGeom prst="rect">
            <a:avLst/>
          </a:prstGeom>
          <a:noFill/>
          <a:ln/>
        </p:spPr>
        <p:txBody>
          <a:bodyPr wrap="square" lIns="0" tIns="0" rIns="0" bIns="0" rtlCol="0" anchor="ctr"/>
          <a:lstStyle/>
          <a:p>
            <a:pPr indent="0" marL="0">
              <a:buNone/>
            </a:pPr>
            <a:r>
              <a:rPr lang="en-US" sz="6400" b="1" dirty="0">
                <a:solidFill>
                  <a:srgbClr val="FFFFFF"/>
                </a:solidFill>
                <a:latin typeface="IBM Plex Sans" pitchFamily="34" charset="0"/>
                <a:ea typeface="IBM Plex Sans" pitchFamily="34" charset="-122"/>
                <a:cs typeface="IBM Plex Sans" pitchFamily="34" charset="-120"/>
              </a:rPr>
              <a:t>Questions?</a:t>
            </a:r>
            <a:endParaRPr lang="en-US" sz="6400" dirty="0"/>
          </a:p>
        </p:txBody>
      </p:sp>
      <p:sp>
        <p:nvSpPr>
          <p:cNvPr id="3" name="Shape 1"/>
          <p:cNvSpPr/>
          <p:nvPr/>
        </p:nvSpPr>
        <p:spPr>
          <a:xfrm>
            <a:off x="502920" y="6217920"/>
            <a:ext cx="11155680" cy="36576"/>
          </a:xfrm>
          <a:prstGeom prst="rect">
            <a:avLst/>
          </a:prstGeom>
          <a:solidFill>
            <a:srgbClr val="CC3320"/>
          </a:solidFill>
          <a:ln/>
        </p:spPr>
      </p:sp>
      <p:sp>
        <p:nvSpPr>
          <p:cNvPr id="4" name="Text 2"/>
          <p:cNvSpPr txBox="1"/>
          <p:nvPr/>
        </p:nvSpPr>
        <p:spPr>
          <a:xfrm>
            <a:off x="502920" y="6355080"/>
            <a:ext cx="11155680" cy="274320"/>
          </a:xfrm>
          <a:prstGeom prst="rect">
            <a:avLst/>
          </a:prstGeom>
          <a:noFill/>
          <a:ln/>
        </p:spPr>
        <p:txBody>
          <a:bodyPr wrap="square" lIns="0" tIns="0" rIns="0" bIns="0" rtlCol="0" anchor="ctr"/>
          <a:lstStyle/>
          <a:p>
            <a:pPr indent="0" marL="0">
              <a:buNone/>
            </a:pPr>
            <a:r>
              <a:rPr lang="en-US" sz="1100" dirty="0">
                <a:solidFill>
                  <a:srgbClr val="999999"/>
                </a:solidFill>
                <a:latin typeface="IBM Plex Mono" pitchFamily="34" charset="0"/>
                <a:ea typeface="IBM Plex Mono" pitchFamily="34" charset="-122"/>
                <a:cs typeface="IBM Plex Mono" pitchFamily="34" charset="-120"/>
              </a:rPr>
              <a:t>CS-UY 1114  ·  Fall 2026  ·  NYU Tandon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2026-08-31T13:04:13Z</dcterms:created>
  <dcterms:modified xsi:type="dcterms:W3CDTF">2026-08-31T13:04:13Z</dcterms:modified>
</cp:coreProperties>
</file>