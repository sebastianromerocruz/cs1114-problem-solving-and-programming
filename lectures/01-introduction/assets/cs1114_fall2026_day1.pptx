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s/slide17.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1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GB" sz="1800" b="0" u="none" strike="noStrike">
                <a:solidFill>
                  <a:schemeClr val="dk1"/>
                </a:solidFill>
                <a:effectLst/>
                <a:uFillTx/>
                <a:latin typeface="Calibri"/>
              </a:rPr>
              <a:t>Click to move the slide</a:t>
            </a:r>
            <a:endParaRPr lang="en-GB"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GB" sz="2000" b="0" u="none" strike="noStrike">
                <a:solidFill>
                  <a:srgbClr val="000000"/>
                </a:solidFill>
                <a:effectLst/>
                <a:uFillTx/>
                <a:latin typeface="Arial"/>
              </a:rPr>
              <a:t>Click to edit the notes format</a:t>
            </a:r>
            <a:endParaRPr lang="en-GB"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GB" sz="1400" b="0" u="none" strike="noStrike">
                <a:solidFill>
                  <a:srgbClr val="000000"/>
                </a:solidFill>
                <a:effectLst/>
                <a:uFillTx/>
                <a:latin typeface="Times New Roman"/>
              </a:defRPr>
            </a:lvl1pPr>
          </a:lstStyle>
          <a:p>
            <a:pPr indent="0" algn="l">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7459C289-4DFC-40BF-9684-906E6BCEC57B}" type="slidenum">
              <a:rPr lang="en-GB" sz="1400" b="0" u="none" strike="noStrike">
                <a:solidFill>
                  <a:srgbClr val="000000"/>
                </a:solidFill>
                <a:effectLst/>
                <a:uFillTx/>
                <a:latin typeface="Times New Roman"/>
              </a:rPr>
              <a:t>1</a:t>
            </a:fld>
            <a:endParaRPr lang="en-GB"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685800" y="1143000"/>
            <a:ext cx="5486040" cy="3085920"/>
          </a:xfrm>
          <a:prstGeom prst="rect">
            <a:avLst/>
          </a:prstGeom>
          <a:ln w="0">
            <a:noFill/>
          </a:ln>
        </p:spPr>
      </p:sp>
      <p:sp>
        <p:nvSpPr>
          <p:cNvPr id="2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263"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4A2AAB3-FDDB-4FB5-AA7B-341D7833435D}"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685800" y="1143000"/>
            <a:ext cx="5486040" cy="3085920"/>
          </a:xfrm>
          <a:prstGeom prst="rect">
            <a:avLst/>
          </a:prstGeom>
          <a:ln w="0">
            <a:noFill/>
          </a:ln>
        </p:spPr>
      </p:sp>
      <p:sp>
        <p:nvSpPr>
          <p:cNvPr id="2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266"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1E9835E-19CD-449E-90B1-D97035A59147}"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sldImg"/>
          </p:nvPr>
        </p:nvSpPr>
        <p:spPr>
          <a:xfrm>
            <a:off x="685800" y="1143000"/>
            <a:ext cx="5486040" cy="3085920"/>
          </a:xfrm>
          <a:prstGeom prst="rect">
            <a:avLst/>
          </a:prstGeom>
          <a:ln w="0">
            <a:noFill/>
          </a:ln>
        </p:spPr>
      </p:sp>
      <p:sp>
        <p:nvSpPr>
          <p:cNvPr id="2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269"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5B070F1-397A-4C6B-A63B-F668776C8ED6}"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sldImg"/>
          </p:nvPr>
        </p:nvSpPr>
        <p:spPr>
          <a:xfrm>
            <a:off x="685800" y="1143000"/>
            <a:ext cx="5486040" cy="3085920"/>
          </a:xfrm>
          <a:prstGeom prst="rect">
            <a:avLst/>
          </a:prstGeom>
          <a:ln w="0">
            <a:noFill/>
          </a:ln>
        </p:spPr>
      </p:sp>
      <p:sp>
        <p:nvSpPr>
          <p:cNvPr id="2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272"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4BBAE62-12A2-4FFC-87D9-7CC6881CC5EC}"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sldImg"/>
          </p:nvPr>
        </p:nvSpPr>
        <p:spPr>
          <a:xfrm>
            <a:off x="685800" y="1143000"/>
            <a:ext cx="5486040" cy="3085920"/>
          </a:xfrm>
          <a:prstGeom prst="rect">
            <a:avLst/>
          </a:prstGeom>
          <a:ln w="0">
            <a:noFill/>
          </a:ln>
        </p:spPr>
      </p:sp>
      <p:sp>
        <p:nvSpPr>
          <p:cNvPr id="2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275"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88EAE4-6ADB-4DB1-AA19-5D59B281FEC2}"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685800" y="1143000"/>
            <a:ext cx="5486040" cy="3085920"/>
          </a:xfrm>
          <a:prstGeom prst="rect">
            <a:avLst/>
          </a:prstGeom>
          <a:ln w="0">
            <a:noFill/>
          </a:ln>
        </p:spPr>
      </p:sp>
      <p:sp>
        <p:nvSpPr>
          <p:cNvPr id="2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278"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4E798CA-8E91-458E-95B1-E3F90D06AFE5}"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sldImg"/>
          </p:nvPr>
        </p:nvSpPr>
        <p:spPr>
          <a:xfrm>
            <a:off x="685800" y="1143000"/>
            <a:ext cx="5486040" cy="3085920"/>
          </a:xfrm>
          <a:prstGeom prst="rect">
            <a:avLst/>
          </a:prstGeom>
          <a:ln w="0">
            <a:noFill/>
          </a:ln>
        </p:spPr>
      </p:sp>
      <p:sp>
        <p:nvSpPr>
          <p:cNvPr id="2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281"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C3A0978-C029-45DB-B9F9-FCB2A97E6AF3}"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sldImg"/>
          </p:nvPr>
        </p:nvSpPr>
        <p:spPr>
          <a:xfrm>
            <a:off x="685800" y="1143000"/>
            <a:ext cx="5486040" cy="3085920"/>
          </a:xfrm>
          <a:prstGeom prst="rect">
            <a:avLst/>
          </a:prstGeom>
          <a:ln w="0">
            <a:noFill/>
          </a:ln>
        </p:spPr>
      </p:sp>
      <p:sp>
        <p:nvSpPr>
          <p:cNvPr id="2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284"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9D04BA6-7A21-4261-ABBC-5114C868A76A}"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sldImg"/>
          </p:nvPr>
        </p:nvSpPr>
        <p:spPr>
          <a:xfrm>
            <a:off x="685800" y="1143000"/>
            <a:ext cx="5486040" cy="3085920"/>
          </a:xfrm>
          <a:prstGeom prst="rect">
            <a:avLst/>
          </a:prstGeom>
          <a:ln w="0">
            <a:noFill/>
          </a:ln>
        </p:spPr>
      </p:sp>
      <p:sp>
        <p:nvSpPr>
          <p:cNvPr id="2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287"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6F75BC-6649-429D-85C8-F3336E24F58C}"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685800" y="1143000"/>
            <a:ext cx="5486040" cy="3085920"/>
          </a:xfrm>
          <a:prstGeom prst="rect">
            <a:avLst/>
          </a:prstGeom>
          <a:ln w="0">
            <a:noFill/>
          </a:ln>
        </p:spPr>
      </p:sp>
      <p:sp>
        <p:nvSpPr>
          <p:cNvPr id="2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290"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F77D22A-DD36-4993-A31B-40BE589D3A2B}"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685800" y="1143000"/>
            <a:ext cx="5486040" cy="3085920"/>
          </a:xfrm>
          <a:prstGeom prst="rect">
            <a:avLst/>
          </a:prstGeom>
          <a:ln w="0">
            <a:noFill/>
          </a:ln>
        </p:spPr>
      </p:sp>
      <p:sp>
        <p:nvSpPr>
          <p:cNvPr id="2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293"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24E1984-E3F5-44D6-BF06-DAE2561E37E6}"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685800" y="1143000"/>
            <a:ext cx="5486040" cy="3085920"/>
          </a:xfrm>
          <a:prstGeom prst="rect">
            <a:avLst/>
          </a:prstGeom>
          <a:ln w="0">
            <a:noFill/>
          </a:ln>
        </p:spPr>
      </p:sp>
      <p:sp>
        <p:nvSpPr>
          <p:cNvPr id="2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296"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3F347E7-8A1A-4177-BAF7-ACBF193E589C}"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sldImg"/>
          </p:nvPr>
        </p:nvSpPr>
        <p:spPr>
          <a:xfrm>
            <a:off x="685800" y="1143000"/>
            <a:ext cx="5486040" cy="3085920"/>
          </a:xfrm>
          <a:prstGeom prst="rect">
            <a:avLst/>
          </a:prstGeom>
          <a:ln w="0">
            <a:noFill/>
          </a:ln>
        </p:spPr>
      </p:sp>
      <p:sp>
        <p:nvSpPr>
          <p:cNvPr id="2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299"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311B348-A7DC-4C13-A3CA-6C0B0EFA6924}"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685800" y="1143000"/>
            <a:ext cx="5486040" cy="3085920"/>
          </a:xfrm>
          <a:prstGeom prst="rect">
            <a:avLst/>
          </a:prstGeom>
          <a:ln w="0">
            <a:noFill/>
          </a:ln>
        </p:spPr>
      </p:sp>
      <p:sp>
        <p:nvSpPr>
          <p:cNvPr id="3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302"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C295193-36EF-4B7C-BE54-1EB9638CC8CC}" type="slidenum">
              <a:rPr lang="en-US" sz="1200" b="0" u="none" strike="noStrike">
                <a:solidFill>
                  <a:schemeClr val="dk1"/>
                </a:solidFill>
                <a:effectLst/>
                <a:uFillTx/>
                <a:latin typeface="+mn-lt"/>
                <a:ea typeface="+mn-ea"/>
              </a:rPr>
              <a:t>1</a:t>
            </a:fld>
            <a:endParaRPr lang="en-GB"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sldImg"/>
          </p:nvPr>
        </p:nvSpPr>
        <p:spPr>
          <a:xfrm>
            <a:off x="685800" y="1143000"/>
            <a:ext cx="5486040" cy="3085920"/>
          </a:xfrm>
          <a:prstGeom prst="rect">
            <a:avLst/>
          </a:prstGeom>
          <a:ln w="0">
            <a:noFill/>
          </a:ln>
        </p:spPr>
      </p:sp>
      <p:sp>
        <p:nvSpPr>
          <p:cNvPr id="3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305"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13645D6-6425-4C10-A77E-67A72114B9DE}"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Img"/>
          </p:nvPr>
        </p:nvSpPr>
        <p:spPr>
          <a:xfrm>
            <a:off x="685800" y="1143000"/>
            <a:ext cx="5486040" cy="3085920"/>
          </a:xfrm>
          <a:prstGeom prst="rect">
            <a:avLst/>
          </a:prstGeom>
          <a:ln w="0">
            <a:noFill/>
          </a:ln>
        </p:spPr>
      </p:sp>
      <p:sp>
        <p:nvSpPr>
          <p:cNvPr id="3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308"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50FE08C-0D98-46CE-8D7E-705C4E6DF16B}"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685800" y="1143000"/>
            <a:ext cx="5486040" cy="3085920"/>
          </a:xfrm>
          <a:prstGeom prst="rect">
            <a:avLst/>
          </a:prstGeom>
          <a:ln w="0">
            <a:noFill/>
          </a:ln>
        </p:spPr>
      </p:sp>
      <p:sp>
        <p:nvSpPr>
          <p:cNvPr id="3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GB" sz="1800" b="0" u="none" strike="noStrike">
              <a:solidFill>
                <a:srgbClr val="000000"/>
              </a:solidFill>
              <a:effectLst/>
              <a:uFillTx/>
              <a:latin typeface="Arial"/>
            </a:endParaRPr>
          </a:p>
        </p:txBody>
      </p:sp>
      <p:sp>
        <p:nvSpPr>
          <p:cNvPr id="311"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F08E210-3451-45CD-977D-70FB11B2211F}"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GB" sz="1800" b="0" u="none" strike="noStrike">
                <a:solidFill>
                  <a:schemeClr val="dk1"/>
                </a:solidFill>
                <a:effectLst/>
                <a:uFillTx/>
                <a:latin typeface="Calibri"/>
              </a:defRPr>
            </a:lvl1pPr>
          </a:lstStyle>
          <a:p>
            <a:pPr indent="0" algn="l">
              <a:buNone/>
            </a:pPr>
            <a:r>
              <a:rPr lang="en-GB" sz="1800" b="0" u="none" strike="noStrike">
                <a:solidFill>
                  <a:schemeClr val="dk1"/>
                </a:solidFill>
                <a:effectLst/>
                <a:uFillTx/>
                <a:latin typeface="Calibri"/>
              </a:rPr>
              <a:t>Click to edit the title text format</a:t>
            </a:r>
            <a:endParaRPr lang="en-GB"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GB"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GB"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GB"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GB"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GB"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GB"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GB"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GB" sz="3200" b="0" u="none" strike="noStrike">
                <a:solidFill>
                  <a:schemeClr val="dk1"/>
                </a:solidFill>
                <a:effectLst/>
                <a:uFillTx/>
                <a:latin typeface="Calibri"/>
              </a:rPr>
              <a:t>Click to edit the outline text format</a:t>
            </a:r>
            <a:endParaRPr lang="en-GB"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GB" sz="2400" b="0" u="none" strike="noStrike">
                <a:solidFill>
                  <a:schemeClr val="dk1"/>
                </a:solidFill>
                <a:effectLst/>
                <a:uFillTx/>
                <a:latin typeface="Calibri"/>
              </a:rPr>
              <a:t>Second Outline Level</a:t>
            </a:r>
            <a:endParaRPr lang="en-GB"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GB" sz="2000" b="0" u="none" strike="noStrike">
                <a:solidFill>
                  <a:schemeClr val="dk1"/>
                </a:solidFill>
                <a:effectLst/>
                <a:uFillTx/>
                <a:latin typeface="Calibri"/>
              </a:rPr>
              <a:t>Third Outline Level</a:t>
            </a:r>
            <a:endParaRPr lang="en-GB"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GB" sz="2000" b="0" u="none" strike="noStrike">
                <a:solidFill>
                  <a:schemeClr val="dk1"/>
                </a:solidFill>
                <a:effectLst/>
                <a:uFillTx/>
                <a:latin typeface="Calibri"/>
              </a:rPr>
              <a:t>Fourth Outline Level</a:t>
            </a:r>
            <a:endParaRPr lang="en-GB"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GB" sz="2000" b="0" u="none" strike="noStrike">
                <a:solidFill>
                  <a:schemeClr val="dk1"/>
                </a:solidFill>
                <a:effectLst/>
                <a:uFillTx/>
                <a:latin typeface="Calibri"/>
              </a:rPr>
              <a:t>Fifth Outline Level</a:t>
            </a:r>
            <a:endParaRPr lang="en-GB"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GB" sz="2000" b="0" u="none" strike="noStrike">
                <a:solidFill>
                  <a:schemeClr val="dk1"/>
                </a:solidFill>
                <a:effectLst/>
                <a:uFillTx/>
                <a:latin typeface="Calibri"/>
              </a:rPr>
              <a:t>Sixth Outline Level</a:t>
            </a:r>
            <a:endParaRPr lang="en-GB"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GB" sz="2000" b="0" u="none" strike="noStrike">
                <a:solidFill>
                  <a:schemeClr val="dk1"/>
                </a:solidFill>
                <a:effectLst/>
                <a:uFillTx/>
                <a:latin typeface="Calibri"/>
              </a:rPr>
              <a:t>Seventh Outline Level</a:t>
            </a:r>
            <a:endParaRPr lang="en-GB"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0" name="Text 0"/>
          <p:cNvSpPr/>
          <p:nvPr/>
        </p:nvSpPr>
        <p:spPr>
          <a:xfrm>
            <a:off x="502920" y="1463040"/>
            <a:ext cx="1115532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200" b="1" u="none" strike="noStrike">
                <a:solidFill>
                  <a:srgbClr val="CC3320"/>
                </a:solidFill>
                <a:effectLst/>
                <a:uFillTx/>
                <a:latin typeface="IBM Plex Mono"/>
                <a:ea typeface="IBM Plex Mono"/>
              </a:rPr>
              <a:t>CS-UY 1114</a:t>
            </a:r>
            <a:endParaRPr lang="en-GB" sz="7200" b="0" u="none" strike="noStrike">
              <a:solidFill>
                <a:srgbClr val="FFFFFF"/>
              </a:solidFill>
              <a:effectLst/>
              <a:uFillTx/>
              <a:latin typeface="Arial"/>
            </a:endParaRPr>
          </a:p>
        </p:txBody>
      </p:sp>
      <p:sp>
        <p:nvSpPr>
          <p:cNvPr id="11" name="Text 1"/>
          <p:cNvSpPr/>
          <p:nvPr/>
        </p:nvSpPr>
        <p:spPr>
          <a:xfrm>
            <a:off x="502920" y="251460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0" u="none" strike="noStrike">
                <a:solidFill>
                  <a:srgbClr val="FFFFFF"/>
                </a:solidFill>
                <a:effectLst/>
                <a:uFillTx/>
                <a:latin typeface="IBM Plex Sans"/>
                <a:ea typeface="IBM Plex Sans"/>
              </a:rPr>
              <a:t>Introduction to Programming and Problem Solving</a:t>
            </a:r>
            <a:endParaRPr lang="en-GB" sz="2800" b="0" u="none" strike="noStrike">
              <a:solidFill>
                <a:srgbClr val="FFFFFF"/>
              </a:solidFill>
              <a:effectLst/>
              <a:uFillTx/>
              <a:latin typeface="Arial"/>
            </a:endParaRPr>
          </a:p>
        </p:txBody>
      </p:sp>
      <p:sp>
        <p:nvSpPr>
          <p:cNvPr id="12" name="Text 2"/>
          <p:cNvSpPr/>
          <p:nvPr/>
        </p:nvSpPr>
        <p:spPr>
          <a:xfrm>
            <a:off x="502920" y="3200400"/>
            <a:ext cx="111553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999999"/>
                </a:solidFill>
                <a:effectLst/>
                <a:uFillTx/>
                <a:latin typeface="IBM Plex Mono"/>
                <a:ea typeface="IBM Plex Mono"/>
              </a:rPr>
              <a:t>Fall 2026  ·  NYU Tandon School of Engineering</a:t>
            </a:r>
            <a:endParaRPr lang="en-GB" sz="1300" b="0" u="none" strike="noStrike">
              <a:solidFill>
                <a:srgbClr val="FFFFFF"/>
              </a:solidFill>
              <a:effectLst/>
              <a:uFillTx/>
              <a:latin typeface="Arial"/>
            </a:endParaRPr>
          </a:p>
        </p:txBody>
      </p:sp>
      <p:sp>
        <p:nvSpPr>
          <p:cNvPr id="13" name="Shape 3"/>
          <p:cNvSpPr/>
          <p:nvPr/>
        </p:nvSpPr>
        <p:spPr>
          <a:xfrm>
            <a:off x="502920" y="6217920"/>
            <a:ext cx="111553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14" name="Text 4"/>
          <p:cNvSpPr/>
          <p:nvPr/>
        </p:nvSpPr>
        <p:spPr>
          <a:xfrm>
            <a:off x="502920" y="635508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999999"/>
                </a:solidFill>
                <a:effectLst/>
                <a:uFillTx/>
                <a:latin typeface="IBM Plex Mono"/>
                <a:ea typeface="IBM Plex Mono"/>
              </a:rPr>
              <a:t>S. Arfaoui  ·  S. Romero Cruz</a:t>
            </a:r>
            <a:endParaRPr lang="en-GB"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Shape 0"/>
          <p:cNvSpPr/>
          <p:nvPr/>
        </p:nvSpPr>
        <p:spPr>
          <a:xfrm>
            <a:off x="502920" y="1005840"/>
            <a:ext cx="10969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16" name="Text 1"/>
          <p:cNvSpPr/>
          <p:nvPr/>
        </p:nvSpPr>
        <p:spPr>
          <a:xfrm>
            <a:off x="502920" y="41148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11111"/>
                </a:solidFill>
                <a:effectLst/>
                <a:uFillTx/>
                <a:latin typeface="IBM Plex Sans"/>
                <a:ea typeface="IBM Plex Sans"/>
              </a:rPr>
              <a:t>Your Instructors</a:t>
            </a:r>
            <a:endParaRPr lang="en-GB" sz="3200" b="0" u="none" strike="noStrike">
              <a:solidFill>
                <a:srgbClr val="000000"/>
              </a:solidFill>
              <a:effectLst/>
              <a:uFillTx/>
              <a:latin typeface="Arial"/>
            </a:endParaRPr>
          </a:p>
        </p:txBody>
      </p:sp>
      <p:sp>
        <p:nvSpPr>
          <p:cNvPr id="17" name="Shape 2"/>
          <p:cNvSpPr/>
          <p:nvPr/>
        </p:nvSpPr>
        <p:spPr>
          <a:xfrm>
            <a:off x="502920" y="1417320"/>
            <a:ext cx="5303160" cy="393156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8" name="Text 3"/>
          <p:cNvSpPr/>
          <p:nvPr/>
        </p:nvSpPr>
        <p:spPr>
          <a:xfrm>
            <a:off x="777240" y="164592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INSTRUCTOR</a:t>
            </a:r>
            <a:endParaRPr lang="en-GB" sz="1000" b="0" u="none" strike="noStrike">
              <a:solidFill>
                <a:srgbClr val="000000"/>
              </a:solidFill>
              <a:effectLst/>
              <a:uFillTx/>
              <a:latin typeface="Arial"/>
            </a:endParaRPr>
          </a:p>
        </p:txBody>
      </p:sp>
      <p:sp>
        <p:nvSpPr>
          <p:cNvPr id="19" name="Text 4"/>
          <p:cNvSpPr/>
          <p:nvPr/>
        </p:nvSpPr>
        <p:spPr>
          <a:xfrm>
            <a:off x="777240" y="1965960"/>
            <a:ext cx="475452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111111"/>
                </a:solidFill>
                <a:effectLst/>
                <a:uFillTx/>
                <a:latin typeface="IBM Plex Sans"/>
                <a:ea typeface="IBM Plex Sans"/>
              </a:rPr>
              <a:t>Salim Arfaoui</a:t>
            </a:r>
            <a:endParaRPr lang="en-GB" sz="2200" b="0" u="none" strike="noStrike">
              <a:solidFill>
                <a:srgbClr val="000000"/>
              </a:solidFill>
              <a:effectLst/>
              <a:uFillTx/>
              <a:latin typeface="Arial"/>
            </a:endParaRPr>
          </a:p>
        </p:txBody>
      </p:sp>
      <p:sp>
        <p:nvSpPr>
          <p:cNvPr id="20" name="Text 5"/>
          <p:cNvSpPr/>
          <p:nvPr/>
        </p:nvSpPr>
        <p:spPr>
          <a:xfrm>
            <a:off x="777240" y="2468880"/>
            <a:ext cx="47545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999999"/>
                </a:solidFill>
                <a:effectLst/>
                <a:uFillTx/>
                <a:latin typeface="IBM Plex Mono"/>
                <a:ea typeface="IBM Plex Mono"/>
              </a:rPr>
              <a:t>he / him</a:t>
            </a:r>
            <a:endParaRPr lang="en-GB" sz="1100" b="0" u="none" strike="noStrike">
              <a:solidFill>
                <a:srgbClr val="000000"/>
              </a:solidFill>
              <a:effectLst/>
              <a:uFillTx/>
              <a:latin typeface="Arial"/>
            </a:endParaRPr>
          </a:p>
        </p:txBody>
      </p:sp>
      <p:sp>
        <p:nvSpPr>
          <p:cNvPr id="21" name="Text 6"/>
          <p:cNvSpPr/>
          <p:nvPr/>
        </p:nvSpPr>
        <p:spPr>
          <a:xfrm>
            <a:off x="777240" y="2834640"/>
            <a:ext cx="11155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111111"/>
                </a:solidFill>
                <a:effectLst/>
                <a:uFillTx/>
                <a:latin typeface="IBM Plex Sans"/>
                <a:ea typeface="IBM Plex Sans"/>
              </a:rPr>
              <a:t>sa6468@nyu.edu</a:t>
            </a:r>
            <a:endParaRPr lang="en-GB" sz="1500" b="0" u="none" strike="noStrike">
              <a:solidFill>
                <a:srgbClr val="000000"/>
              </a:solidFill>
              <a:effectLst/>
              <a:uFillTx/>
              <a:latin typeface="Arial"/>
            </a:endParaRPr>
          </a:p>
        </p:txBody>
      </p:sp>
      <p:sp>
        <p:nvSpPr>
          <p:cNvPr id="22" name="Text 7"/>
          <p:cNvSpPr/>
          <p:nvPr/>
        </p:nvSpPr>
        <p:spPr>
          <a:xfrm>
            <a:off x="777240" y="3200400"/>
            <a:ext cx="11155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111111"/>
                </a:solidFill>
                <a:effectLst/>
                <a:uFillTx/>
                <a:latin typeface="IBM Plex Sans"/>
                <a:ea typeface="IBM Plex Sans"/>
              </a:rPr>
              <a:t>Sections: ALEC, BLEC</a:t>
            </a:r>
            <a:endParaRPr lang="en-GB" sz="1500" b="0" u="none" strike="noStrike">
              <a:solidFill>
                <a:srgbClr val="000000"/>
              </a:solidFill>
              <a:effectLst/>
              <a:uFillTx/>
              <a:latin typeface="Arial"/>
            </a:endParaRPr>
          </a:p>
        </p:txBody>
      </p:sp>
      <p:sp>
        <p:nvSpPr>
          <p:cNvPr id="23" name="Text 8"/>
          <p:cNvSpPr/>
          <p:nvPr/>
        </p:nvSpPr>
        <p:spPr>
          <a:xfrm>
            <a:off x="777240" y="3858840"/>
            <a:ext cx="47545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444444"/>
                </a:solidFill>
                <a:effectLst/>
                <a:uFillTx/>
                <a:latin typeface="IBM Plex Mono"/>
                <a:ea typeface="IBM Plex Mono"/>
              </a:rPr>
              <a:t>MW 9:30–10:50 AM  ·  6 MTC 315</a:t>
            </a:r>
            <a:endParaRPr lang="en-GB" sz="1100" b="0" u="none" strike="noStrike">
              <a:solidFill>
                <a:srgbClr val="000000"/>
              </a:solidFill>
              <a:effectLst/>
              <a:uFillTx/>
              <a:latin typeface="Arial"/>
            </a:endParaRPr>
          </a:p>
        </p:txBody>
      </p:sp>
      <p:sp>
        <p:nvSpPr>
          <p:cNvPr id="24" name="Text 9"/>
          <p:cNvSpPr/>
          <p:nvPr/>
        </p:nvSpPr>
        <p:spPr>
          <a:xfrm>
            <a:off x="777240" y="4114800"/>
            <a:ext cx="47545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444444"/>
                </a:solidFill>
                <a:effectLst/>
                <a:uFillTx/>
                <a:latin typeface="IBM Plex Mono"/>
                <a:ea typeface="IBM Plex Mono"/>
              </a:rPr>
              <a:t>MW 11:00 AM–12:20 PM  ·  6 MTC 475</a:t>
            </a:r>
            <a:endParaRPr lang="en-GB" sz="1100" b="0" u="none" strike="noStrike">
              <a:solidFill>
                <a:srgbClr val="000000"/>
              </a:solidFill>
              <a:effectLst/>
              <a:uFillTx/>
              <a:latin typeface="Arial"/>
            </a:endParaRPr>
          </a:p>
        </p:txBody>
      </p:sp>
      <p:sp>
        <p:nvSpPr>
          <p:cNvPr id="25" name="Shape 10"/>
          <p:cNvSpPr/>
          <p:nvPr/>
        </p:nvSpPr>
        <p:spPr>
          <a:xfrm>
            <a:off x="6355080" y="1417320"/>
            <a:ext cx="5303160" cy="393156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6" name="Text 11"/>
          <p:cNvSpPr/>
          <p:nvPr/>
        </p:nvSpPr>
        <p:spPr>
          <a:xfrm>
            <a:off x="6629400" y="164592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INSTRUCTOR</a:t>
            </a:r>
            <a:endParaRPr lang="en-GB" sz="1000" b="0" u="none" strike="noStrike">
              <a:solidFill>
                <a:srgbClr val="000000"/>
              </a:solidFill>
              <a:effectLst/>
              <a:uFillTx/>
              <a:latin typeface="Arial"/>
            </a:endParaRPr>
          </a:p>
        </p:txBody>
      </p:sp>
      <p:sp>
        <p:nvSpPr>
          <p:cNvPr id="27" name="Text 12"/>
          <p:cNvSpPr/>
          <p:nvPr/>
        </p:nvSpPr>
        <p:spPr>
          <a:xfrm>
            <a:off x="6629400" y="1965960"/>
            <a:ext cx="475452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111111"/>
                </a:solidFill>
                <a:effectLst/>
                <a:uFillTx/>
                <a:latin typeface="IBM Plex Sans"/>
                <a:ea typeface="IBM Plex Sans"/>
              </a:rPr>
              <a:t>Sebastián Romero Cruz</a:t>
            </a:r>
            <a:endParaRPr lang="en-GB" sz="2200" b="0" u="none" strike="noStrike">
              <a:solidFill>
                <a:srgbClr val="000000"/>
              </a:solidFill>
              <a:effectLst/>
              <a:uFillTx/>
              <a:latin typeface="Arial"/>
            </a:endParaRPr>
          </a:p>
        </p:txBody>
      </p:sp>
      <p:sp>
        <p:nvSpPr>
          <p:cNvPr id="28" name="Text 13"/>
          <p:cNvSpPr/>
          <p:nvPr/>
        </p:nvSpPr>
        <p:spPr>
          <a:xfrm>
            <a:off x="6629400" y="2468880"/>
            <a:ext cx="47545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999999"/>
                </a:solidFill>
                <a:effectLst/>
                <a:uFillTx/>
                <a:latin typeface="IBM Plex Mono"/>
                <a:ea typeface="IBM Plex Mono"/>
              </a:rPr>
              <a:t>they / them</a:t>
            </a:r>
            <a:endParaRPr lang="en-GB" sz="1100" b="0" u="none" strike="noStrike">
              <a:solidFill>
                <a:srgbClr val="000000"/>
              </a:solidFill>
              <a:effectLst/>
              <a:uFillTx/>
              <a:latin typeface="Arial"/>
            </a:endParaRPr>
          </a:p>
        </p:txBody>
      </p:sp>
      <p:sp>
        <p:nvSpPr>
          <p:cNvPr id="29" name="Text 14"/>
          <p:cNvSpPr/>
          <p:nvPr/>
        </p:nvSpPr>
        <p:spPr>
          <a:xfrm>
            <a:off x="6629400" y="2834640"/>
            <a:ext cx="11155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111111"/>
                </a:solidFill>
                <a:effectLst/>
                <a:uFillTx/>
                <a:latin typeface="IBM Plex Sans"/>
                <a:ea typeface="IBM Plex Sans"/>
              </a:rPr>
              <a:t>src402@nyu.edu</a:t>
            </a:r>
            <a:endParaRPr lang="en-GB" sz="1500" b="0" u="none" strike="noStrike">
              <a:solidFill>
                <a:srgbClr val="000000"/>
              </a:solidFill>
              <a:effectLst/>
              <a:uFillTx/>
              <a:latin typeface="Arial"/>
            </a:endParaRPr>
          </a:p>
        </p:txBody>
      </p:sp>
      <p:sp>
        <p:nvSpPr>
          <p:cNvPr id="30" name="Text 15"/>
          <p:cNvSpPr/>
          <p:nvPr/>
        </p:nvSpPr>
        <p:spPr>
          <a:xfrm>
            <a:off x="6629400" y="3200400"/>
            <a:ext cx="11155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111111"/>
                </a:solidFill>
                <a:effectLst/>
                <a:uFillTx/>
                <a:latin typeface="IBM Plex Sans"/>
                <a:ea typeface="IBM Plex Sans"/>
              </a:rPr>
              <a:t>370 Jay St, RM 843</a:t>
            </a:r>
            <a:endParaRPr lang="en-GB" sz="1500" b="0" u="none" strike="noStrike">
              <a:solidFill>
                <a:srgbClr val="000000"/>
              </a:solidFill>
              <a:effectLst/>
              <a:uFillTx/>
              <a:latin typeface="Arial"/>
            </a:endParaRPr>
          </a:p>
        </p:txBody>
      </p:sp>
      <p:sp>
        <p:nvSpPr>
          <p:cNvPr id="31" name="Text 16"/>
          <p:cNvSpPr/>
          <p:nvPr/>
        </p:nvSpPr>
        <p:spPr>
          <a:xfrm>
            <a:off x="6629400" y="3566160"/>
            <a:ext cx="11155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111111"/>
                </a:solidFill>
                <a:effectLst/>
                <a:uFillTx/>
                <a:latin typeface="IBM Plex Sans"/>
                <a:ea typeface="IBM Plex Sans"/>
              </a:rPr>
              <a:t>Section: CLEC</a:t>
            </a:r>
            <a:endParaRPr lang="en-GB" sz="1500" b="0" u="none" strike="noStrike">
              <a:solidFill>
                <a:srgbClr val="000000"/>
              </a:solidFill>
              <a:effectLst/>
              <a:uFillTx/>
              <a:latin typeface="Arial"/>
            </a:endParaRPr>
          </a:p>
        </p:txBody>
      </p:sp>
      <p:sp>
        <p:nvSpPr>
          <p:cNvPr id="32" name="Text 17"/>
          <p:cNvSpPr/>
          <p:nvPr/>
        </p:nvSpPr>
        <p:spPr>
          <a:xfrm>
            <a:off x="6629400" y="3858840"/>
            <a:ext cx="47545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444444"/>
                </a:solidFill>
                <a:effectLst/>
                <a:uFillTx/>
                <a:latin typeface="IBM Plex Mono"/>
                <a:ea typeface="IBM Plex Mono"/>
              </a:rPr>
              <a:t>MW 5:00–6:20 PM  ·  6 MTC 215</a:t>
            </a:r>
            <a:endParaRPr lang="en-GB"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pic>
        <p:nvPicPr>
          <p:cNvPr id="33" name="Image 0" descr="/home/claude/portrait_cropped.jpg"/>
          <p:cNvPicPr/>
          <p:nvPr/>
        </p:nvPicPr>
        <p:blipFill>
          <a:blip r:embed="rId1"/>
          <a:stretch/>
        </p:blipFill>
        <p:spPr>
          <a:xfrm>
            <a:off x="0" y="0"/>
            <a:ext cx="5303160" cy="6857640"/>
          </a:xfrm>
          <a:prstGeom prst="rect">
            <a:avLst/>
          </a:prstGeom>
          <a:noFill/>
          <a:ln w="0">
            <a:noFill/>
          </a:ln>
        </p:spPr>
      </p:pic>
      <p:sp>
        <p:nvSpPr>
          <p:cNvPr id="34" name="Text 0"/>
          <p:cNvSpPr/>
          <p:nvPr/>
        </p:nvSpPr>
        <p:spPr>
          <a:xfrm>
            <a:off x="5760720" y="54864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WHO I AM</a:t>
            </a:r>
            <a:endParaRPr lang="en-GB" sz="1000" b="0" u="none" strike="noStrike">
              <a:solidFill>
                <a:srgbClr val="FFFFFF"/>
              </a:solidFill>
              <a:effectLst/>
              <a:uFillTx/>
              <a:latin typeface="Arial"/>
            </a:endParaRPr>
          </a:p>
        </p:txBody>
      </p:sp>
      <p:sp>
        <p:nvSpPr>
          <p:cNvPr id="35" name="Text 1"/>
          <p:cNvSpPr/>
          <p:nvPr/>
        </p:nvSpPr>
        <p:spPr>
          <a:xfrm>
            <a:off x="5760720" y="868680"/>
            <a:ext cx="5851800" cy="1462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rgbClr val="FFFFFF"/>
                </a:solidFill>
                <a:effectLst/>
                <a:uFillTx/>
                <a:latin typeface="IBM Plex Sans"/>
                <a:ea typeface="IBM Plex Sans"/>
              </a:rPr>
              <a:t>Sebastián</a:t>
            </a:r>
            <a:endParaRPr lang="en-GB" sz="3600" b="0" u="none" strike="noStrike">
              <a:solidFill>
                <a:srgbClr val="FFFFFF"/>
              </a:solidFill>
              <a:effectLst/>
              <a:uFillTx/>
              <a:latin typeface="Arial"/>
            </a:endParaRPr>
          </a:p>
          <a:p>
            <a:pPr defTabSz="914400">
              <a:lnSpc>
                <a:spcPct val="100000"/>
              </a:lnSpc>
              <a:tabLst>
                <a:tab pos="0" algn="l"/>
              </a:tabLst>
            </a:pPr>
            <a:r>
              <a:rPr lang="en-US" sz="3600" b="1" u="none" strike="noStrike">
                <a:solidFill>
                  <a:srgbClr val="FFFFFF"/>
                </a:solidFill>
                <a:effectLst/>
                <a:uFillTx/>
                <a:latin typeface="IBM Plex Sans"/>
                <a:ea typeface="IBM Plex Sans"/>
              </a:rPr>
              <a:t>Romero Cruz</a:t>
            </a:r>
            <a:endParaRPr lang="en-GB" sz="3600" b="0" u="none" strike="noStrike">
              <a:solidFill>
                <a:srgbClr val="FFFFFF"/>
              </a:solidFill>
              <a:effectLst/>
              <a:uFillTx/>
              <a:latin typeface="Arial"/>
            </a:endParaRPr>
          </a:p>
        </p:txBody>
      </p:sp>
      <p:sp>
        <p:nvSpPr>
          <p:cNvPr id="36" name="Text 2"/>
          <p:cNvSpPr/>
          <p:nvPr/>
        </p:nvSpPr>
        <p:spPr>
          <a:xfrm>
            <a:off x="5760720" y="2377440"/>
            <a:ext cx="5851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999999"/>
                </a:solidFill>
                <a:effectLst/>
                <a:uFillTx/>
                <a:latin typeface="IBM Plex Mono"/>
                <a:ea typeface="IBM Plex Mono"/>
              </a:rPr>
              <a:t>they / them</a:t>
            </a:r>
            <a:endParaRPr lang="en-GB" sz="1200" b="0" u="none" strike="noStrike">
              <a:solidFill>
                <a:srgbClr val="FFFFFF"/>
              </a:solidFill>
              <a:effectLst/>
              <a:uFillTx/>
              <a:latin typeface="Arial"/>
            </a:endParaRPr>
          </a:p>
        </p:txBody>
      </p:sp>
      <p:sp>
        <p:nvSpPr>
          <p:cNvPr id="37" name="Shape 3"/>
          <p:cNvSpPr/>
          <p:nvPr/>
        </p:nvSpPr>
        <p:spPr>
          <a:xfrm>
            <a:off x="5760720" y="2788920"/>
            <a:ext cx="585180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38" name="Text 4"/>
          <p:cNvSpPr/>
          <p:nvPr/>
        </p:nvSpPr>
        <p:spPr>
          <a:xfrm>
            <a:off x="5760720" y="3017520"/>
            <a:ext cx="585180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trike="noStrike">
                <a:solidFill>
                  <a:srgbClr val="CC3320"/>
                </a:solidFill>
                <a:effectLst/>
                <a:uFillTx/>
                <a:latin typeface="IBM Plex Mono"/>
                <a:ea typeface="IBM Plex Mono"/>
              </a:rPr>
              <a:t>BACKGROUND</a:t>
            </a:r>
            <a:endParaRPr lang="en-GB" sz="900" b="0" u="none" strike="noStrike">
              <a:solidFill>
                <a:srgbClr val="FFFFFF"/>
              </a:solidFill>
              <a:effectLst/>
              <a:uFillTx/>
              <a:latin typeface="Arial"/>
            </a:endParaRPr>
          </a:p>
        </p:txBody>
      </p:sp>
      <p:sp>
        <p:nvSpPr>
          <p:cNvPr id="39" name="Text 5"/>
          <p:cNvSpPr/>
          <p:nvPr/>
        </p:nvSpPr>
        <p:spPr>
          <a:xfrm>
            <a:off x="5760720" y="3273480"/>
            <a:ext cx="585180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999999"/>
                </a:solidFill>
                <a:effectLst/>
                <a:uFillTx/>
                <a:latin typeface="IBM Plex Sans"/>
                <a:ea typeface="IBM Plex Sans"/>
              </a:rPr>
              <a:t>B.S. Chemical &amp; Biomolecular Engineering, NYU Tandon (2017)</a:t>
            </a:r>
            <a:endParaRPr lang="en-GB"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999999"/>
                </a:solidFill>
                <a:effectLst/>
                <a:uFillTx/>
                <a:latin typeface="IBM Plex Sans"/>
                <a:ea typeface="IBM Plex Sans"/>
              </a:rPr>
              <a:t>M.S. Computer Science, NYU Tandon (2020)</a:t>
            </a:r>
            <a:endParaRPr lang="en-GB"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999999"/>
                </a:solidFill>
                <a:effectLst/>
                <a:uFillTx/>
                <a:latin typeface="IBM Plex Sans"/>
                <a:ea typeface="IBM Plex Sans"/>
              </a:rPr>
              <a:t>Teaching at Tandon since January 2020</a:t>
            </a:r>
            <a:endParaRPr lang="en-GB" sz="1300" b="0" u="none" strike="noStrike">
              <a:solidFill>
                <a:srgbClr val="FFFFFF"/>
              </a:solidFill>
              <a:effectLst/>
              <a:uFillTx/>
              <a:latin typeface="Arial"/>
            </a:endParaRPr>
          </a:p>
        </p:txBody>
      </p:sp>
      <p:sp>
        <p:nvSpPr>
          <p:cNvPr id="40" name="Text 6"/>
          <p:cNvSpPr/>
          <p:nvPr/>
        </p:nvSpPr>
        <p:spPr>
          <a:xfrm>
            <a:off x="5760720" y="4160520"/>
            <a:ext cx="585180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trike="noStrike">
                <a:solidFill>
                  <a:srgbClr val="CC3320"/>
                </a:solidFill>
                <a:effectLst/>
                <a:uFillTx/>
                <a:latin typeface="IBM Plex Mono"/>
                <a:ea typeface="IBM Plex Mono"/>
              </a:rPr>
              <a:t>ALSO TEACHES</a:t>
            </a:r>
            <a:endParaRPr lang="en-GB" sz="900" b="0" u="none" strike="noStrike">
              <a:solidFill>
                <a:srgbClr val="FFFFFF"/>
              </a:solidFill>
              <a:effectLst/>
              <a:uFillTx/>
              <a:latin typeface="Arial"/>
            </a:endParaRPr>
          </a:p>
        </p:txBody>
      </p:sp>
      <p:sp>
        <p:nvSpPr>
          <p:cNvPr id="41" name="Text 7"/>
          <p:cNvSpPr/>
          <p:nvPr/>
        </p:nvSpPr>
        <p:spPr>
          <a:xfrm>
            <a:off x="5760720" y="4416480"/>
            <a:ext cx="585180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999999"/>
                </a:solidFill>
                <a:effectLst/>
                <a:uFillTx/>
                <a:latin typeface="IBM Plex Sans"/>
                <a:ea typeface="IBM Plex Sans"/>
              </a:rPr>
              <a:t>CS-UY 1134 | Data Structures &amp; Algorithms</a:t>
            </a:r>
            <a:endParaRPr lang="en-GB"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999999"/>
                </a:solidFill>
                <a:effectLst/>
                <a:uFillTx/>
                <a:latin typeface="IBM Plex Sans"/>
                <a:ea typeface="IBM Plex Sans"/>
              </a:rPr>
              <a:t>CS-UY 3113 | Intro to Game Programming</a:t>
            </a:r>
            <a:endParaRPr lang="en-GB"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999999"/>
                </a:solidFill>
                <a:effectLst/>
                <a:uFillTx/>
                <a:latin typeface="IBM Plex Sans"/>
                <a:ea typeface="IBM Plex Sans"/>
              </a:rPr>
              <a:t>CS-UY 2214 </a:t>
            </a:r>
            <a:r>
              <a:rPr lang="en-US" sz="1300" b="0" u="none" strike="noStrike">
                <a:solidFill>
                  <a:srgbClr val="999999"/>
                </a:solidFill>
                <a:effectLst/>
                <a:uFillTx/>
                <a:latin typeface="IBM Plex Sans"/>
                <a:ea typeface="IBM Plex Sans"/>
              </a:rPr>
              <a:t>| Computer Architecture &amp; Organisation</a:t>
            </a:r>
            <a:endParaRPr lang="en-GB" sz="1300" b="0" u="none" strike="noStrike">
              <a:solidFill>
                <a:srgbClr val="FFFFFF"/>
              </a:solidFill>
              <a:effectLst/>
              <a:uFillTx/>
              <a:latin typeface="Arial"/>
            </a:endParaRPr>
          </a:p>
        </p:txBody>
      </p:sp>
      <p:sp>
        <p:nvSpPr>
          <p:cNvPr id="42" name="Text 8"/>
          <p:cNvSpPr/>
          <p:nvPr/>
        </p:nvSpPr>
        <p:spPr>
          <a:xfrm>
            <a:off x="5760720" y="5303520"/>
            <a:ext cx="585180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trike="noStrike">
                <a:solidFill>
                  <a:srgbClr val="CC3320"/>
                </a:solidFill>
                <a:effectLst/>
                <a:uFillTx/>
                <a:latin typeface="IBM Plex Mono"/>
                <a:ea typeface="IBM Plex Mono"/>
              </a:rPr>
              <a:t>REACH ME</a:t>
            </a:r>
            <a:endParaRPr lang="en-GB" sz="900" b="0" u="none" strike="noStrike">
              <a:solidFill>
                <a:srgbClr val="FFFFFF"/>
              </a:solidFill>
              <a:effectLst/>
              <a:uFillTx/>
              <a:latin typeface="Arial"/>
            </a:endParaRPr>
          </a:p>
        </p:txBody>
      </p:sp>
      <p:sp>
        <p:nvSpPr>
          <p:cNvPr id="43" name="Text 9"/>
          <p:cNvSpPr/>
          <p:nvPr/>
        </p:nvSpPr>
        <p:spPr>
          <a:xfrm>
            <a:off x="5760720" y="5559480"/>
            <a:ext cx="585180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999999"/>
                </a:solidFill>
                <a:effectLst/>
                <a:uFillTx/>
                <a:latin typeface="IBM Plex Sans"/>
                <a:ea typeface="IBM Plex Sans"/>
              </a:rPr>
              <a:t>Sebastian.romerocruz@nyu.edu</a:t>
            </a:r>
            <a:endParaRPr lang="en-GB"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999999"/>
                </a:solidFill>
                <a:effectLst/>
                <a:uFillTx/>
                <a:latin typeface="IBM Plex Sans"/>
                <a:ea typeface="IBM Plex Sans"/>
              </a:rPr>
              <a:t>calendly.com/profromerocruz</a:t>
            </a:r>
            <a:endParaRPr lang="en-GB"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999999"/>
                </a:solidFill>
                <a:effectLst/>
                <a:uFillTx/>
                <a:latin typeface="IBM Plex Sans"/>
                <a:ea typeface="IBM Plex Sans"/>
              </a:rPr>
              <a:t>@sebastianromerocruz on GitHub</a:t>
            </a:r>
            <a:endParaRPr lang="en-GB" sz="1300" b="0" u="none" strike="noStrike">
              <a:solidFill>
                <a:srgbClr val="FFFFFF"/>
              </a:solidFill>
              <a:effectLst/>
              <a:uFillTx/>
              <a:latin typeface="Arial"/>
            </a:endParaRPr>
          </a:p>
        </p:txBody>
      </p:sp>
      <p:sp>
        <p:nvSpPr>
          <p:cNvPr id="44" name="Shape 10"/>
          <p:cNvSpPr/>
          <p:nvPr/>
        </p:nvSpPr>
        <p:spPr>
          <a:xfrm>
            <a:off x="5760720" y="6492240"/>
            <a:ext cx="5851800" cy="36360"/>
          </a:xfrm>
          <a:prstGeom prst="rect">
            <a:avLst/>
          </a:prstGeom>
          <a:solidFill>
            <a:srgbClr val="333333"/>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45" name="Text 11"/>
          <p:cNvSpPr/>
          <p:nvPr/>
        </p:nvSpPr>
        <p:spPr>
          <a:xfrm>
            <a:off x="5760720" y="6565320"/>
            <a:ext cx="585180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999999"/>
                </a:solidFill>
                <a:effectLst/>
                <a:uFillTx/>
                <a:latin typeface="IBM Plex Mono"/>
                <a:ea typeface="IBM Plex Mono"/>
              </a:rPr>
              <a:t>Office hours by booking. I prefer a 5-min Zoom to a lost email.</a:t>
            </a:r>
            <a:endParaRPr lang="en-GB"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Shape 0"/>
          <p:cNvSpPr/>
          <p:nvPr/>
        </p:nvSpPr>
        <p:spPr>
          <a:xfrm>
            <a:off x="502920" y="1005840"/>
            <a:ext cx="10969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47" name="Text 1"/>
          <p:cNvSpPr/>
          <p:nvPr/>
        </p:nvSpPr>
        <p:spPr>
          <a:xfrm>
            <a:off x="502920" y="41148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11111"/>
                </a:solidFill>
                <a:effectLst/>
                <a:uFillTx/>
                <a:latin typeface="IBM Plex Sans"/>
                <a:ea typeface="IBM Plex Sans"/>
              </a:rPr>
              <a:t>What This Course Is</a:t>
            </a:r>
            <a:endParaRPr lang="en-GB" sz="3200" b="0" u="none" strike="noStrike">
              <a:solidFill>
                <a:srgbClr val="000000"/>
              </a:solidFill>
              <a:effectLst/>
              <a:uFillTx/>
              <a:latin typeface="Arial"/>
            </a:endParaRPr>
          </a:p>
        </p:txBody>
      </p:sp>
      <p:sp>
        <p:nvSpPr>
          <p:cNvPr id="48" name="Text 2"/>
          <p:cNvSpPr/>
          <p:nvPr/>
        </p:nvSpPr>
        <p:spPr>
          <a:xfrm>
            <a:off x="502920" y="1188720"/>
            <a:ext cx="1115532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rgbClr val="111111"/>
                </a:solidFill>
                <a:effectLst/>
                <a:uFillTx/>
                <a:latin typeface="IBM Plex Sans"/>
                <a:ea typeface="IBM Plex Sans"/>
              </a:rPr>
              <a:t>An introduction to problem solving and computer programming using Python, built for CS and CE majors with limited prior experience.</a:t>
            </a:r>
            <a:endParaRPr lang="en-GB" sz="1800" b="0" u="none" strike="noStrike">
              <a:solidFill>
                <a:srgbClr val="000000"/>
              </a:solidFill>
              <a:effectLst/>
              <a:uFillTx/>
              <a:latin typeface="Arial"/>
            </a:endParaRPr>
          </a:p>
        </p:txBody>
      </p:sp>
      <p:sp>
        <p:nvSpPr>
          <p:cNvPr id="49" name="Shape 3"/>
          <p:cNvSpPr/>
          <p:nvPr/>
        </p:nvSpPr>
        <p:spPr>
          <a:xfrm>
            <a:off x="502920" y="2103120"/>
            <a:ext cx="5303160" cy="146268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0" name="Text 4"/>
          <p:cNvSpPr/>
          <p:nvPr/>
        </p:nvSpPr>
        <p:spPr>
          <a:xfrm>
            <a:off x="777240" y="2286000"/>
            <a:ext cx="47545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CC3320"/>
                </a:solidFill>
                <a:effectLst/>
                <a:uFillTx/>
                <a:latin typeface="IBM Plex Sans"/>
                <a:ea typeface="IBM Plex Sans"/>
              </a:rPr>
              <a:t>Fundamentals</a:t>
            </a:r>
            <a:endParaRPr lang="en-GB" sz="1700" b="0" u="none" strike="noStrike">
              <a:solidFill>
                <a:srgbClr val="000000"/>
              </a:solidFill>
              <a:effectLst/>
              <a:uFillTx/>
              <a:latin typeface="Arial"/>
            </a:endParaRPr>
          </a:p>
        </p:txBody>
      </p:sp>
      <p:sp>
        <p:nvSpPr>
          <p:cNvPr id="51" name="Text 5"/>
          <p:cNvSpPr/>
          <p:nvPr/>
        </p:nvSpPr>
        <p:spPr>
          <a:xfrm>
            <a:off x="777240" y="2743200"/>
            <a:ext cx="47545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444444"/>
                </a:solidFill>
                <a:effectLst/>
                <a:uFillTx/>
                <a:latin typeface="IBM Plex Sans"/>
                <a:ea typeface="IBM Plex Sans"/>
              </a:rPr>
              <a:t>Variables, data types, operators, control flow</a:t>
            </a:r>
            <a:endParaRPr lang="en-GB" sz="1400" b="0" u="none" strike="noStrike">
              <a:solidFill>
                <a:srgbClr val="000000"/>
              </a:solidFill>
              <a:effectLst/>
              <a:uFillTx/>
              <a:latin typeface="Arial"/>
            </a:endParaRPr>
          </a:p>
        </p:txBody>
      </p:sp>
      <p:sp>
        <p:nvSpPr>
          <p:cNvPr id="52" name="Shape 6"/>
          <p:cNvSpPr/>
          <p:nvPr/>
        </p:nvSpPr>
        <p:spPr>
          <a:xfrm>
            <a:off x="6355080" y="2103120"/>
            <a:ext cx="5303160" cy="146268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3" name="Text 7"/>
          <p:cNvSpPr/>
          <p:nvPr/>
        </p:nvSpPr>
        <p:spPr>
          <a:xfrm>
            <a:off x="6629400" y="2286000"/>
            <a:ext cx="47545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CC3320"/>
                </a:solidFill>
                <a:effectLst/>
                <a:uFillTx/>
                <a:latin typeface="IBM Plex Sans"/>
                <a:ea typeface="IBM Plex Sans"/>
              </a:rPr>
              <a:t>Functions &amp; Files</a:t>
            </a:r>
            <a:endParaRPr lang="en-GB" sz="1700" b="0" u="none" strike="noStrike">
              <a:solidFill>
                <a:srgbClr val="000000"/>
              </a:solidFill>
              <a:effectLst/>
              <a:uFillTx/>
              <a:latin typeface="Arial"/>
            </a:endParaRPr>
          </a:p>
        </p:txBody>
      </p:sp>
      <p:sp>
        <p:nvSpPr>
          <p:cNvPr id="54" name="Text 8"/>
          <p:cNvSpPr/>
          <p:nvPr/>
        </p:nvSpPr>
        <p:spPr>
          <a:xfrm>
            <a:off x="6629400" y="2743200"/>
            <a:ext cx="47545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444444"/>
                </a:solidFill>
                <a:effectLst/>
                <a:uFillTx/>
                <a:latin typeface="IBM Plex Sans"/>
                <a:ea typeface="IBM Plex Sans"/>
              </a:rPr>
              <a:t>Writing reusable code; reading and writing files</a:t>
            </a:r>
            <a:endParaRPr lang="en-GB" sz="1400" b="0" u="none" strike="noStrike">
              <a:solidFill>
                <a:srgbClr val="000000"/>
              </a:solidFill>
              <a:effectLst/>
              <a:uFillTx/>
              <a:latin typeface="Arial"/>
            </a:endParaRPr>
          </a:p>
        </p:txBody>
      </p:sp>
      <p:sp>
        <p:nvSpPr>
          <p:cNvPr id="55" name="Shape 9"/>
          <p:cNvSpPr/>
          <p:nvPr/>
        </p:nvSpPr>
        <p:spPr>
          <a:xfrm>
            <a:off x="502920" y="3931920"/>
            <a:ext cx="5303160" cy="146268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6" name="Text 10"/>
          <p:cNvSpPr/>
          <p:nvPr/>
        </p:nvSpPr>
        <p:spPr>
          <a:xfrm>
            <a:off x="777240" y="4114800"/>
            <a:ext cx="47545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CC3320"/>
                </a:solidFill>
                <a:effectLst/>
                <a:uFillTx/>
                <a:latin typeface="IBM Plex Sans"/>
                <a:ea typeface="IBM Plex Sans"/>
              </a:rPr>
              <a:t>Data Structures</a:t>
            </a:r>
            <a:endParaRPr lang="en-GB" sz="1700" b="0" u="none" strike="noStrike">
              <a:solidFill>
                <a:srgbClr val="000000"/>
              </a:solidFill>
              <a:effectLst/>
              <a:uFillTx/>
              <a:latin typeface="Arial"/>
            </a:endParaRPr>
          </a:p>
        </p:txBody>
      </p:sp>
      <p:sp>
        <p:nvSpPr>
          <p:cNvPr id="57" name="Text 11"/>
          <p:cNvSpPr/>
          <p:nvPr/>
        </p:nvSpPr>
        <p:spPr>
          <a:xfrm>
            <a:off x="777240" y="4572000"/>
            <a:ext cx="47545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444444"/>
                </a:solidFill>
                <a:effectLst/>
                <a:uFillTx/>
                <a:latin typeface="IBM Plex Sans"/>
                <a:ea typeface="IBM Plex Sans"/>
              </a:rPr>
              <a:t>Lists, tuples, dictionaries, 2D structures</a:t>
            </a:r>
            <a:endParaRPr lang="en-GB" sz="1400" b="0" u="none" strike="noStrike">
              <a:solidFill>
                <a:srgbClr val="000000"/>
              </a:solidFill>
              <a:effectLst/>
              <a:uFillTx/>
              <a:latin typeface="Arial"/>
            </a:endParaRPr>
          </a:p>
        </p:txBody>
      </p:sp>
      <p:sp>
        <p:nvSpPr>
          <p:cNvPr id="58" name="Shape 12"/>
          <p:cNvSpPr/>
          <p:nvPr/>
        </p:nvSpPr>
        <p:spPr>
          <a:xfrm>
            <a:off x="6355080" y="3931920"/>
            <a:ext cx="5303160" cy="146268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59" name="Text 13"/>
          <p:cNvSpPr/>
          <p:nvPr/>
        </p:nvSpPr>
        <p:spPr>
          <a:xfrm>
            <a:off x="6629400" y="4114800"/>
            <a:ext cx="47545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CC3320"/>
                </a:solidFill>
                <a:effectLst/>
                <a:uFillTx/>
                <a:latin typeface="IBM Plex Sans"/>
                <a:ea typeface="IBM Plex Sans"/>
              </a:rPr>
              <a:t>OOP &amp; Recursion</a:t>
            </a:r>
            <a:endParaRPr lang="en-GB" sz="1700" b="0" u="none" strike="noStrike">
              <a:solidFill>
                <a:srgbClr val="000000"/>
              </a:solidFill>
              <a:effectLst/>
              <a:uFillTx/>
              <a:latin typeface="Arial"/>
            </a:endParaRPr>
          </a:p>
        </p:txBody>
      </p:sp>
      <p:sp>
        <p:nvSpPr>
          <p:cNvPr id="60" name="Text 14"/>
          <p:cNvSpPr/>
          <p:nvPr/>
        </p:nvSpPr>
        <p:spPr>
          <a:xfrm>
            <a:off x="6629400" y="4572000"/>
            <a:ext cx="47545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444444"/>
                </a:solidFill>
                <a:effectLst/>
                <a:uFillTx/>
                <a:latin typeface="IBM Plex Sans"/>
                <a:ea typeface="IBM Plex Sans"/>
              </a:rPr>
              <a:t>Classes, objects, recursive thinking</a:t>
            </a:r>
            <a:endParaRPr lang="en-GB"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Shape 0"/>
          <p:cNvSpPr/>
          <p:nvPr/>
        </p:nvSpPr>
        <p:spPr>
          <a:xfrm>
            <a:off x="502920" y="1005840"/>
            <a:ext cx="10969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62" name="Text 1"/>
          <p:cNvSpPr/>
          <p:nvPr/>
        </p:nvSpPr>
        <p:spPr>
          <a:xfrm>
            <a:off x="502920" y="41148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11111"/>
                </a:solidFill>
                <a:effectLst/>
                <a:uFillTx/>
                <a:latin typeface="IBM Plex Sans"/>
                <a:ea typeface="IBM Plex Sans"/>
              </a:rPr>
              <a:t>Course Structure</a:t>
            </a:r>
            <a:endParaRPr lang="en-GB" sz="3200" b="0" u="none" strike="noStrike">
              <a:solidFill>
                <a:srgbClr val="000000"/>
              </a:solidFill>
              <a:effectLst/>
              <a:uFillTx/>
              <a:latin typeface="Arial"/>
            </a:endParaRPr>
          </a:p>
        </p:txBody>
      </p:sp>
      <p:sp>
        <p:nvSpPr>
          <p:cNvPr id="63" name="Shape 2"/>
          <p:cNvSpPr/>
          <p:nvPr/>
        </p:nvSpPr>
        <p:spPr>
          <a:xfrm>
            <a:off x="502920" y="1463040"/>
            <a:ext cx="3611520" cy="420588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64" name="Text 3"/>
          <p:cNvSpPr/>
          <p:nvPr/>
        </p:nvSpPr>
        <p:spPr>
          <a:xfrm>
            <a:off x="731520" y="169164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LECTURE</a:t>
            </a:r>
            <a:endParaRPr lang="en-GB" sz="1000" b="0" u="none" strike="noStrike">
              <a:solidFill>
                <a:srgbClr val="000000"/>
              </a:solidFill>
              <a:effectLst/>
              <a:uFillTx/>
              <a:latin typeface="Arial"/>
            </a:endParaRPr>
          </a:p>
        </p:txBody>
      </p:sp>
      <p:sp>
        <p:nvSpPr>
          <p:cNvPr id="65" name="Text 4"/>
          <p:cNvSpPr/>
          <p:nvPr/>
        </p:nvSpPr>
        <p:spPr>
          <a:xfrm>
            <a:off x="731520" y="2030040"/>
            <a:ext cx="31543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11111"/>
                </a:solidFill>
                <a:effectLst/>
                <a:uFillTx/>
                <a:latin typeface="IBM Plex Sans"/>
                <a:ea typeface="IBM Plex Sans"/>
              </a:rPr>
              <a:t>Twice weekly</a:t>
            </a:r>
            <a:endParaRPr lang="en-GB" sz="2000" b="0" u="none" strike="noStrike">
              <a:solidFill>
                <a:srgbClr val="000000"/>
              </a:solidFill>
              <a:effectLst/>
              <a:uFillTx/>
              <a:latin typeface="Arial"/>
            </a:endParaRPr>
          </a:p>
        </p:txBody>
      </p:sp>
      <p:sp>
        <p:nvSpPr>
          <p:cNvPr id="66" name="Text 5"/>
          <p:cNvSpPr/>
          <p:nvPr/>
        </p:nvSpPr>
        <p:spPr>
          <a:xfrm>
            <a:off x="731520" y="2606040"/>
            <a:ext cx="315432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Monday + Wednesday</a:t>
            </a:r>
            <a:endParaRPr lang="en-GB"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444444"/>
                </a:solidFill>
                <a:effectLst/>
                <a:uFillTx/>
                <a:latin typeface="IBM Plex Sans"/>
                <a:ea typeface="IBM Plex Sans"/>
              </a:rPr>
              <a:t>New concepts, live coding, discussion</a:t>
            </a:r>
            <a:endParaRPr lang="en-GB" sz="1300" b="0" u="none" strike="noStrike">
              <a:solidFill>
                <a:srgbClr val="000000"/>
              </a:solidFill>
              <a:effectLst/>
              <a:uFillTx/>
              <a:latin typeface="Arial"/>
            </a:endParaRPr>
          </a:p>
        </p:txBody>
      </p:sp>
      <p:sp>
        <p:nvSpPr>
          <p:cNvPr id="67" name="Shape 6"/>
          <p:cNvSpPr/>
          <p:nvPr/>
        </p:nvSpPr>
        <p:spPr>
          <a:xfrm>
            <a:off x="4389120" y="1463040"/>
            <a:ext cx="3611520" cy="420588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68" name="Text 7"/>
          <p:cNvSpPr/>
          <p:nvPr/>
        </p:nvSpPr>
        <p:spPr>
          <a:xfrm>
            <a:off x="4617720" y="169164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LAB</a:t>
            </a:r>
            <a:endParaRPr lang="en-GB" sz="1000" b="0" u="none" strike="noStrike">
              <a:solidFill>
                <a:srgbClr val="000000"/>
              </a:solidFill>
              <a:effectLst/>
              <a:uFillTx/>
              <a:latin typeface="Arial"/>
            </a:endParaRPr>
          </a:p>
        </p:txBody>
      </p:sp>
      <p:sp>
        <p:nvSpPr>
          <p:cNvPr id="69" name="Text 8"/>
          <p:cNvSpPr/>
          <p:nvPr/>
        </p:nvSpPr>
        <p:spPr>
          <a:xfrm>
            <a:off x="4617720" y="2030040"/>
            <a:ext cx="31543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11111"/>
                </a:solidFill>
                <a:effectLst/>
                <a:uFillTx/>
                <a:latin typeface="IBM Plex Sans"/>
                <a:ea typeface="IBM Plex Sans"/>
              </a:rPr>
              <a:t>Once weekly</a:t>
            </a:r>
            <a:endParaRPr lang="en-GB" sz="2000" b="0" u="none" strike="noStrike">
              <a:solidFill>
                <a:srgbClr val="000000"/>
              </a:solidFill>
              <a:effectLst/>
              <a:uFillTx/>
              <a:latin typeface="Arial"/>
            </a:endParaRPr>
          </a:p>
        </p:txBody>
      </p:sp>
      <p:sp>
        <p:nvSpPr>
          <p:cNvPr id="70" name="Text 9"/>
          <p:cNvSpPr/>
          <p:nvPr/>
        </p:nvSpPr>
        <p:spPr>
          <a:xfrm>
            <a:off x="4617720" y="2606040"/>
            <a:ext cx="315432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Friday (or as scheduled)</a:t>
            </a:r>
            <a:endParaRPr lang="en-GB"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444444"/>
                </a:solidFill>
                <a:effectLst/>
                <a:uFillTx/>
                <a:latin typeface="IBM Plex Sans"/>
                <a:ea typeface="IBM Plex Sans"/>
              </a:rPr>
              <a:t>Supervised, collaborative practice. Mandatory.</a:t>
            </a:r>
            <a:endParaRPr lang="en-GB" sz="1300" b="0" u="none" strike="noStrike">
              <a:solidFill>
                <a:srgbClr val="000000"/>
              </a:solidFill>
              <a:effectLst/>
              <a:uFillTx/>
              <a:latin typeface="Arial"/>
            </a:endParaRPr>
          </a:p>
        </p:txBody>
      </p:sp>
      <p:sp>
        <p:nvSpPr>
          <p:cNvPr id="71" name="Shape 10"/>
          <p:cNvSpPr/>
          <p:nvPr/>
        </p:nvSpPr>
        <p:spPr>
          <a:xfrm>
            <a:off x="8275320" y="1463040"/>
            <a:ext cx="3611520" cy="420588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72" name="Text 11"/>
          <p:cNvSpPr/>
          <p:nvPr/>
        </p:nvSpPr>
        <p:spPr>
          <a:xfrm>
            <a:off x="8503920" y="169164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OFFICE HOURS</a:t>
            </a:r>
            <a:endParaRPr lang="en-GB" sz="1000" b="0" u="none" strike="noStrike">
              <a:solidFill>
                <a:srgbClr val="000000"/>
              </a:solidFill>
              <a:effectLst/>
              <a:uFillTx/>
              <a:latin typeface="Arial"/>
            </a:endParaRPr>
          </a:p>
        </p:txBody>
      </p:sp>
      <p:sp>
        <p:nvSpPr>
          <p:cNvPr id="73" name="Text 12"/>
          <p:cNvSpPr/>
          <p:nvPr/>
        </p:nvSpPr>
        <p:spPr>
          <a:xfrm>
            <a:off x="8503920" y="2030040"/>
            <a:ext cx="31543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11111"/>
                </a:solidFill>
                <a:effectLst/>
                <a:uFillTx/>
                <a:latin typeface="IBM Plex Sans"/>
                <a:ea typeface="IBM Plex Sans"/>
              </a:rPr>
              <a:t>CA + Instructor</a:t>
            </a:r>
            <a:endParaRPr lang="en-GB" sz="2000" b="0" u="none" strike="noStrike">
              <a:solidFill>
                <a:srgbClr val="000000"/>
              </a:solidFill>
              <a:effectLst/>
              <a:uFillTx/>
              <a:latin typeface="Arial"/>
            </a:endParaRPr>
          </a:p>
        </p:txBody>
      </p:sp>
      <p:sp>
        <p:nvSpPr>
          <p:cNvPr id="74" name="Text 13"/>
          <p:cNvSpPr/>
          <p:nvPr/>
        </p:nvSpPr>
        <p:spPr>
          <a:xfrm>
            <a:off x="8503920" y="2606040"/>
            <a:ext cx="315432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Walk-in CA hours posted on Brightspace</a:t>
            </a:r>
            <a:endParaRPr lang="en-GB"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444444"/>
                </a:solidFill>
                <a:effectLst/>
                <a:uFillTx/>
                <a:latin typeface="IBM Plex Sans"/>
                <a:ea typeface="IBM Plex Sans"/>
              </a:rPr>
              <a:t>Instructor hours by booking link</a:t>
            </a:r>
            <a:endParaRPr lang="en-GB" sz="1300" b="0" u="none" strike="noStrike">
              <a:solidFill>
                <a:srgbClr val="000000"/>
              </a:solidFill>
              <a:effectLst/>
              <a:uFillTx/>
              <a:latin typeface="Arial"/>
            </a:endParaRPr>
          </a:p>
        </p:txBody>
      </p:sp>
      <p:sp>
        <p:nvSpPr>
          <p:cNvPr id="75" name="Text 14"/>
          <p:cNvSpPr/>
          <p:nvPr/>
        </p:nvSpPr>
        <p:spPr>
          <a:xfrm>
            <a:off x="502920" y="534924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NOTE</a:t>
            </a:r>
            <a:endParaRPr lang="en-GB" sz="1000" b="0" u="none" strike="noStrike">
              <a:solidFill>
                <a:srgbClr val="000000"/>
              </a:solidFill>
              <a:effectLst/>
              <a:uFillTx/>
              <a:latin typeface="Arial"/>
            </a:endParaRPr>
          </a:p>
        </p:txBody>
      </p:sp>
      <p:sp>
        <p:nvSpPr>
          <p:cNvPr id="76" name="Text 15"/>
          <p:cNvSpPr/>
          <p:nvPr/>
        </p:nvSpPr>
        <p:spPr>
          <a:xfrm>
            <a:off x="502920" y="5623560"/>
            <a:ext cx="111553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You must be registered for a lab section that corresponds to your lecture. Missing more than 3 labs forfeits all lab credit.</a:t>
            </a:r>
            <a:endParaRPr lang="en-GB"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Shape 0"/>
          <p:cNvSpPr/>
          <p:nvPr/>
        </p:nvSpPr>
        <p:spPr>
          <a:xfrm>
            <a:off x="502920" y="1005840"/>
            <a:ext cx="10969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78" name="Text 1"/>
          <p:cNvSpPr/>
          <p:nvPr/>
        </p:nvSpPr>
        <p:spPr>
          <a:xfrm>
            <a:off x="502920" y="41148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11111"/>
                </a:solidFill>
                <a:effectLst/>
                <a:uFillTx/>
                <a:latin typeface="IBM Plex Sans"/>
                <a:ea typeface="IBM Plex Sans"/>
              </a:rPr>
              <a:t>Grade Breakdown</a:t>
            </a:r>
            <a:endParaRPr lang="en-GB" sz="3200" b="0" u="none" strike="noStrike">
              <a:solidFill>
                <a:srgbClr val="000000"/>
              </a:solidFill>
              <a:effectLst/>
              <a:uFillTx/>
              <a:latin typeface="Arial"/>
            </a:endParaRPr>
          </a:p>
        </p:txBody>
      </p:sp>
      <p:sp>
        <p:nvSpPr>
          <p:cNvPr id="79" name="Shape 2"/>
          <p:cNvSpPr/>
          <p:nvPr/>
        </p:nvSpPr>
        <p:spPr>
          <a:xfrm>
            <a:off x="502920" y="1417320"/>
            <a:ext cx="1005480" cy="685440"/>
          </a:xfrm>
          <a:prstGeom prst="rect">
            <a:avLst/>
          </a:prstGeom>
          <a:solidFill>
            <a:srgbClr val="CC3320"/>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80" name="Text 3"/>
          <p:cNvSpPr/>
          <p:nvPr/>
        </p:nvSpPr>
        <p:spPr>
          <a:xfrm>
            <a:off x="502920" y="1463040"/>
            <a:ext cx="1005480" cy="594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FFFFFF"/>
                </a:solidFill>
                <a:effectLst/>
                <a:uFillTx/>
                <a:latin typeface="IBM Plex Mono"/>
                <a:ea typeface="IBM Plex Mono"/>
              </a:rPr>
              <a:t>65%</a:t>
            </a:r>
            <a:endParaRPr lang="en-GB" sz="2200" b="0" u="none" strike="noStrike">
              <a:solidFill>
                <a:srgbClr val="000000"/>
              </a:solidFill>
              <a:effectLst/>
              <a:uFillTx/>
              <a:latin typeface="Arial"/>
            </a:endParaRPr>
          </a:p>
        </p:txBody>
      </p:sp>
      <p:sp>
        <p:nvSpPr>
          <p:cNvPr id="81" name="Text 4"/>
          <p:cNvSpPr/>
          <p:nvPr/>
        </p:nvSpPr>
        <p:spPr>
          <a:xfrm>
            <a:off x="1691640" y="1463040"/>
            <a:ext cx="2559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11111"/>
                </a:solidFill>
                <a:effectLst/>
                <a:uFillTx/>
                <a:latin typeface="IBM Plex Sans"/>
                <a:ea typeface="IBM Plex Sans"/>
              </a:rPr>
              <a:t>Exams</a:t>
            </a:r>
            <a:endParaRPr lang="en-GB" sz="1500" b="0" u="none" strike="noStrike">
              <a:solidFill>
                <a:srgbClr val="000000"/>
              </a:solidFill>
              <a:effectLst/>
              <a:uFillTx/>
              <a:latin typeface="Arial"/>
            </a:endParaRPr>
          </a:p>
        </p:txBody>
      </p:sp>
      <p:sp>
        <p:nvSpPr>
          <p:cNvPr id="82" name="Text 5"/>
          <p:cNvSpPr/>
          <p:nvPr/>
        </p:nvSpPr>
        <p:spPr>
          <a:xfrm>
            <a:off x="1691640" y="1783080"/>
            <a:ext cx="97837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444444"/>
                </a:solidFill>
                <a:effectLst/>
                <a:uFillTx/>
                <a:latin typeface="IBM Plex Sans"/>
                <a:ea typeface="IBM Plex Sans"/>
              </a:rPr>
              <a:t>Midterm 1 (20%)  ·  Midterm 2 (20%)  ·  Final (25%)</a:t>
            </a:r>
            <a:endParaRPr lang="en-GB" sz="1200" b="0" u="none" strike="noStrike">
              <a:solidFill>
                <a:srgbClr val="000000"/>
              </a:solidFill>
              <a:effectLst/>
              <a:uFillTx/>
              <a:latin typeface="Arial"/>
            </a:endParaRPr>
          </a:p>
        </p:txBody>
      </p:sp>
      <p:sp>
        <p:nvSpPr>
          <p:cNvPr id="83" name="Shape 6"/>
          <p:cNvSpPr/>
          <p:nvPr/>
        </p:nvSpPr>
        <p:spPr>
          <a:xfrm>
            <a:off x="502920" y="2277000"/>
            <a:ext cx="1005480" cy="68544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84" name="Text 7"/>
          <p:cNvSpPr/>
          <p:nvPr/>
        </p:nvSpPr>
        <p:spPr>
          <a:xfrm>
            <a:off x="502920" y="2322720"/>
            <a:ext cx="1005480" cy="594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CC3320"/>
                </a:solidFill>
                <a:effectLst/>
                <a:uFillTx/>
                <a:latin typeface="IBM Plex Mono"/>
                <a:ea typeface="IBM Plex Mono"/>
              </a:rPr>
              <a:t>10%</a:t>
            </a:r>
            <a:endParaRPr lang="en-GB" sz="2200" b="0" u="none" strike="noStrike">
              <a:solidFill>
                <a:srgbClr val="000000"/>
              </a:solidFill>
              <a:effectLst/>
              <a:uFillTx/>
              <a:latin typeface="Arial"/>
            </a:endParaRPr>
          </a:p>
        </p:txBody>
      </p:sp>
      <p:sp>
        <p:nvSpPr>
          <p:cNvPr id="85" name="Text 8"/>
          <p:cNvSpPr/>
          <p:nvPr/>
        </p:nvSpPr>
        <p:spPr>
          <a:xfrm>
            <a:off x="1691640" y="2322720"/>
            <a:ext cx="2559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11111"/>
                </a:solidFill>
                <a:effectLst/>
                <a:uFillTx/>
                <a:latin typeface="IBM Plex Sans"/>
                <a:ea typeface="IBM Plex Sans"/>
              </a:rPr>
              <a:t>Rephactor</a:t>
            </a:r>
            <a:endParaRPr lang="en-GB" sz="1500" b="0" u="none" strike="noStrike">
              <a:solidFill>
                <a:srgbClr val="000000"/>
              </a:solidFill>
              <a:effectLst/>
              <a:uFillTx/>
              <a:latin typeface="Arial"/>
            </a:endParaRPr>
          </a:p>
        </p:txBody>
      </p:sp>
      <p:sp>
        <p:nvSpPr>
          <p:cNvPr id="86" name="Text 9"/>
          <p:cNvSpPr/>
          <p:nvPr/>
        </p:nvSpPr>
        <p:spPr>
          <a:xfrm>
            <a:off x="1691640" y="2642760"/>
            <a:ext cx="97837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444444"/>
                </a:solidFill>
                <a:effectLst/>
                <a:uFillTx/>
                <a:latin typeface="IBM Plex Sans"/>
                <a:ea typeface="IBM Plex Sans"/>
              </a:rPr>
              <a:t>Quick Checks + Exercise Sets, due before/after each lecture</a:t>
            </a:r>
            <a:endParaRPr lang="en-GB" sz="1200" b="0" u="none" strike="noStrike">
              <a:solidFill>
                <a:srgbClr val="000000"/>
              </a:solidFill>
              <a:effectLst/>
              <a:uFillTx/>
              <a:latin typeface="Arial"/>
            </a:endParaRPr>
          </a:p>
        </p:txBody>
      </p:sp>
      <p:sp>
        <p:nvSpPr>
          <p:cNvPr id="87" name="Shape 10"/>
          <p:cNvSpPr/>
          <p:nvPr/>
        </p:nvSpPr>
        <p:spPr>
          <a:xfrm>
            <a:off x="502920" y="3136320"/>
            <a:ext cx="1005480" cy="68544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88" name="Text 11"/>
          <p:cNvSpPr/>
          <p:nvPr/>
        </p:nvSpPr>
        <p:spPr>
          <a:xfrm>
            <a:off x="502920" y="3182040"/>
            <a:ext cx="1005480" cy="594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CC3320"/>
                </a:solidFill>
                <a:effectLst/>
                <a:uFillTx/>
                <a:latin typeface="IBM Plex Mono"/>
                <a:ea typeface="IBM Plex Mono"/>
              </a:rPr>
              <a:t>10%</a:t>
            </a:r>
            <a:endParaRPr lang="en-GB" sz="2200" b="0" u="none" strike="noStrike">
              <a:solidFill>
                <a:srgbClr val="000000"/>
              </a:solidFill>
              <a:effectLst/>
              <a:uFillTx/>
              <a:latin typeface="Arial"/>
            </a:endParaRPr>
          </a:p>
        </p:txBody>
      </p:sp>
      <p:sp>
        <p:nvSpPr>
          <p:cNvPr id="89" name="Text 12"/>
          <p:cNvSpPr/>
          <p:nvPr/>
        </p:nvSpPr>
        <p:spPr>
          <a:xfrm>
            <a:off x="1691640" y="3182040"/>
            <a:ext cx="2559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11111"/>
                </a:solidFill>
                <a:effectLst/>
                <a:uFillTx/>
                <a:latin typeface="IBM Plex Sans"/>
                <a:ea typeface="IBM Plex Sans"/>
              </a:rPr>
              <a:t>Lab</a:t>
            </a:r>
            <a:endParaRPr lang="en-GB" sz="1500" b="0" u="none" strike="noStrike">
              <a:solidFill>
                <a:srgbClr val="000000"/>
              </a:solidFill>
              <a:effectLst/>
              <a:uFillTx/>
              <a:latin typeface="Arial"/>
            </a:endParaRPr>
          </a:p>
        </p:txBody>
      </p:sp>
      <p:sp>
        <p:nvSpPr>
          <p:cNvPr id="90" name="Text 13"/>
          <p:cNvSpPr/>
          <p:nvPr/>
        </p:nvSpPr>
        <p:spPr>
          <a:xfrm>
            <a:off x="1691640" y="3502080"/>
            <a:ext cx="97837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444444"/>
                </a:solidFill>
                <a:effectLst/>
                <a:uFillTx/>
                <a:latin typeface="IBM Plex Sans"/>
                <a:ea typeface="IBM Plex Sans"/>
              </a:rPr>
              <a:t>Attendance + effort in supervised weekly sessions</a:t>
            </a:r>
            <a:endParaRPr lang="en-GB" sz="1200" b="0" u="none" strike="noStrike">
              <a:solidFill>
                <a:srgbClr val="000000"/>
              </a:solidFill>
              <a:effectLst/>
              <a:uFillTx/>
              <a:latin typeface="Arial"/>
            </a:endParaRPr>
          </a:p>
        </p:txBody>
      </p:sp>
      <p:sp>
        <p:nvSpPr>
          <p:cNvPr id="91" name="Shape 14"/>
          <p:cNvSpPr/>
          <p:nvPr/>
        </p:nvSpPr>
        <p:spPr>
          <a:xfrm>
            <a:off x="502920" y="3996000"/>
            <a:ext cx="1005480" cy="68544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92" name="Text 15"/>
          <p:cNvSpPr/>
          <p:nvPr/>
        </p:nvSpPr>
        <p:spPr>
          <a:xfrm>
            <a:off x="502920" y="4041720"/>
            <a:ext cx="1005480" cy="594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CC3320"/>
                </a:solidFill>
                <a:effectLst/>
                <a:uFillTx/>
                <a:latin typeface="IBM Plex Mono"/>
                <a:ea typeface="IBM Plex Mono"/>
              </a:rPr>
              <a:t>10%</a:t>
            </a:r>
            <a:endParaRPr lang="en-GB" sz="2200" b="0" u="none" strike="noStrike">
              <a:solidFill>
                <a:srgbClr val="000000"/>
              </a:solidFill>
              <a:effectLst/>
              <a:uFillTx/>
              <a:latin typeface="Arial"/>
            </a:endParaRPr>
          </a:p>
        </p:txBody>
      </p:sp>
      <p:sp>
        <p:nvSpPr>
          <p:cNvPr id="93" name="Text 16"/>
          <p:cNvSpPr/>
          <p:nvPr/>
        </p:nvSpPr>
        <p:spPr>
          <a:xfrm>
            <a:off x="1691640" y="4041720"/>
            <a:ext cx="2559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11111"/>
                </a:solidFill>
                <a:effectLst/>
                <a:uFillTx/>
                <a:latin typeface="IBM Plex Sans"/>
                <a:ea typeface="IBM Plex Sans"/>
              </a:rPr>
              <a:t>Lab Exams</a:t>
            </a:r>
            <a:endParaRPr lang="en-GB" sz="1500" b="0" u="none" strike="noStrike">
              <a:solidFill>
                <a:srgbClr val="000000"/>
              </a:solidFill>
              <a:effectLst/>
              <a:uFillTx/>
              <a:latin typeface="Arial"/>
            </a:endParaRPr>
          </a:p>
        </p:txBody>
      </p:sp>
      <p:sp>
        <p:nvSpPr>
          <p:cNvPr id="94" name="Text 17"/>
          <p:cNvSpPr/>
          <p:nvPr/>
        </p:nvSpPr>
        <p:spPr>
          <a:xfrm>
            <a:off x="1691640" y="4361760"/>
            <a:ext cx="97837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444444"/>
                </a:solidFill>
                <a:effectLst/>
                <a:uFillTx/>
                <a:latin typeface="IBM Plex Sans"/>
                <a:ea typeface="IBM Plex Sans"/>
              </a:rPr>
              <a:t>Periodic in-lab assessments. Lowest score dropped.</a:t>
            </a:r>
            <a:endParaRPr lang="en-GB" sz="1200" b="0" u="none" strike="noStrike">
              <a:solidFill>
                <a:srgbClr val="000000"/>
              </a:solidFill>
              <a:effectLst/>
              <a:uFillTx/>
              <a:latin typeface="Arial"/>
            </a:endParaRPr>
          </a:p>
        </p:txBody>
      </p:sp>
      <p:sp>
        <p:nvSpPr>
          <p:cNvPr id="95" name="Shape 18"/>
          <p:cNvSpPr/>
          <p:nvPr/>
        </p:nvSpPr>
        <p:spPr>
          <a:xfrm>
            <a:off x="502920" y="4855320"/>
            <a:ext cx="1005480" cy="68544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96" name="Text 19"/>
          <p:cNvSpPr/>
          <p:nvPr/>
        </p:nvSpPr>
        <p:spPr>
          <a:xfrm>
            <a:off x="502920" y="4901040"/>
            <a:ext cx="1005480" cy="594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CC3320"/>
                </a:solidFill>
                <a:effectLst/>
                <a:uFillTx/>
                <a:latin typeface="IBM Plex Mono"/>
                <a:ea typeface="IBM Plex Mono"/>
              </a:rPr>
              <a:t>5%</a:t>
            </a:r>
            <a:endParaRPr lang="en-GB" sz="2200" b="0" u="none" strike="noStrike">
              <a:solidFill>
                <a:srgbClr val="000000"/>
              </a:solidFill>
              <a:effectLst/>
              <a:uFillTx/>
              <a:latin typeface="Arial"/>
            </a:endParaRPr>
          </a:p>
        </p:txBody>
      </p:sp>
      <p:sp>
        <p:nvSpPr>
          <p:cNvPr id="97" name="Text 20"/>
          <p:cNvSpPr/>
          <p:nvPr/>
        </p:nvSpPr>
        <p:spPr>
          <a:xfrm>
            <a:off x="1691640" y="4901040"/>
            <a:ext cx="2559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11111"/>
                </a:solidFill>
                <a:effectLst/>
                <a:uFillTx/>
                <a:latin typeface="IBM Plex Sans"/>
                <a:ea typeface="IBM Plex Sans"/>
              </a:rPr>
              <a:t>Attendance</a:t>
            </a:r>
            <a:endParaRPr lang="en-GB" sz="1500" b="0" u="none" strike="noStrike">
              <a:solidFill>
                <a:srgbClr val="000000"/>
              </a:solidFill>
              <a:effectLst/>
              <a:uFillTx/>
              <a:latin typeface="Arial"/>
            </a:endParaRPr>
          </a:p>
        </p:txBody>
      </p:sp>
      <p:sp>
        <p:nvSpPr>
          <p:cNvPr id="98" name="Text 21"/>
          <p:cNvSpPr/>
          <p:nvPr/>
        </p:nvSpPr>
        <p:spPr>
          <a:xfrm>
            <a:off x="1691640" y="5221080"/>
            <a:ext cx="97837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444444"/>
                </a:solidFill>
                <a:effectLst/>
                <a:uFillTx/>
                <a:latin typeface="IBM Plex Sans"/>
                <a:ea typeface="IBM Plex Sans"/>
              </a:rPr>
              <a:t>Recorded at professor's discretion. Max 3 unexcused absences.</a:t>
            </a:r>
            <a:endParaRPr lang="en-GB" sz="1200" b="0" u="none" strike="noStrike">
              <a:solidFill>
                <a:srgbClr val="000000"/>
              </a:solidFill>
              <a:effectLst/>
              <a:uFillTx/>
              <a:latin typeface="Arial"/>
            </a:endParaRPr>
          </a:p>
        </p:txBody>
      </p:sp>
      <p:sp>
        <p:nvSpPr>
          <p:cNvPr id="99" name="Shape 22"/>
          <p:cNvSpPr/>
          <p:nvPr/>
        </p:nvSpPr>
        <p:spPr>
          <a:xfrm>
            <a:off x="502920" y="5715000"/>
            <a:ext cx="1005480" cy="68544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00" name="Text 23"/>
          <p:cNvSpPr/>
          <p:nvPr/>
        </p:nvSpPr>
        <p:spPr>
          <a:xfrm>
            <a:off x="502920" y="5760720"/>
            <a:ext cx="1005480" cy="594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1" u="none" strike="noStrike">
                <a:solidFill>
                  <a:srgbClr val="CC3320"/>
                </a:solidFill>
                <a:effectLst/>
                <a:uFillTx/>
                <a:latin typeface="IBM Plex Mono"/>
                <a:ea typeface="IBM Plex Mono"/>
              </a:rPr>
              <a:t>0%</a:t>
            </a:r>
            <a:endParaRPr lang="en-GB" sz="2200" b="0" u="none" strike="noStrike">
              <a:solidFill>
                <a:srgbClr val="000000"/>
              </a:solidFill>
              <a:effectLst/>
              <a:uFillTx/>
              <a:latin typeface="Arial"/>
            </a:endParaRPr>
          </a:p>
        </p:txBody>
      </p:sp>
      <p:sp>
        <p:nvSpPr>
          <p:cNvPr id="101" name="Text 24"/>
          <p:cNvSpPr/>
          <p:nvPr/>
        </p:nvSpPr>
        <p:spPr>
          <a:xfrm>
            <a:off x="1691640" y="5760720"/>
            <a:ext cx="2559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11111"/>
                </a:solidFill>
                <a:effectLst/>
                <a:uFillTx/>
                <a:latin typeface="IBM Plex Sans"/>
                <a:ea typeface="IBM Plex Sans"/>
              </a:rPr>
              <a:t>Homework</a:t>
            </a:r>
            <a:endParaRPr lang="en-GB" sz="1500" b="0" u="none" strike="noStrike">
              <a:solidFill>
                <a:srgbClr val="000000"/>
              </a:solidFill>
              <a:effectLst/>
              <a:uFillTx/>
              <a:latin typeface="Arial"/>
            </a:endParaRPr>
          </a:p>
        </p:txBody>
      </p:sp>
      <p:sp>
        <p:nvSpPr>
          <p:cNvPr id="102" name="Text 25"/>
          <p:cNvSpPr/>
          <p:nvPr/>
        </p:nvSpPr>
        <p:spPr>
          <a:xfrm>
            <a:off x="1691640" y="6080760"/>
            <a:ext cx="97837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444444"/>
                </a:solidFill>
                <a:effectLst/>
                <a:uFillTx/>
                <a:latin typeface="IBM Plex Sans"/>
                <a:ea typeface="IBM Plex Sans"/>
              </a:rPr>
              <a:t>Strongly encouraged and reviewed by CAs, but ungraded</a:t>
            </a:r>
            <a:endParaRPr lang="en-GB"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Shape 0"/>
          <p:cNvSpPr/>
          <p:nvPr/>
        </p:nvSpPr>
        <p:spPr>
          <a:xfrm>
            <a:off x="502920" y="1005840"/>
            <a:ext cx="10969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104" name="Text 1"/>
          <p:cNvSpPr/>
          <p:nvPr/>
        </p:nvSpPr>
        <p:spPr>
          <a:xfrm>
            <a:off x="502920" y="41148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11111"/>
                </a:solidFill>
                <a:effectLst/>
                <a:uFillTx/>
                <a:latin typeface="IBM Plex Sans"/>
                <a:ea typeface="IBM Plex Sans"/>
              </a:rPr>
              <a:t>Exams</a:t>
            </a:r>
            <a:endParaRPr lang="en-GB" sz="3200" b="0" u="none" strike="noStrike">
              <a:solidFill>
                <a:srgbClr val="000000"/>
              </a:solidFill>
              <a:effectLst/>
              <a:uFillTx/>
              <a:latin typeface="Arial"/>
            </a:endParaRPr>
          </a:p>
        </p:txBody>
      </p:sp>
      <p:sp>
        <p:nvSpPr>
          <p:cNvPr id="105" name="Text 2"/>
          <p:cNvSpPr/>
          <p:nvPr/>
        </p:nvSpPr>
        <p:spPr>
          <a:xfrm>
            <a:off x="502920" y="109728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65% OF YOUR GRADE</a:t>
            </a:r>
            <a:endParaRPr lang="en-GB" sz="1000" b="0" u="none" strike="noStrike">
              <a:solidFill>
                <a:srgbClr val="000000"/>
              </a:solidFill>
              <a:effectLst/>
              <a:uFillTx/>
              <a:latin typeface="Arial"/>
            </a:endParaRPr>
          </a:p>
        </p:txBody>
      </p:sp>
      <p:sp>
        <p:nvSpPr>
          <p:cNvPr id="106" name="Shape 3"/>
          <p:cNvSpPr/>
          <p:nvPr/>
        </p:nvSpPr>
        <p:spPr>
          <a:xfrm>
            <a:off x="502920" y="1463040"/>
            <a:ext cx="3611520" cy="420588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07" name="Shape 4"/>
          <p:cNvSpPr/>
          <p:nvPr/>
        </p:nvSpPr>
        <p:spPr>
          <a:xfrm>
            <a:off x="502920" y="1463040"/>
            <a:ext cx="3611520" cy="456840"/>
          </a:xfrm>
          <a:prstGeom prst="rect">
            <a:avLst/>
          </a:prstGeom>
          <a:solidFill>
            <a:srgbClr val="CC3320"/>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08" name="Text 5"/>
          <p:cNvSpPr/>
          <p:nvPr/>
        </p:nvSpPr>
        <p:spPr>
          <a:xfrm>
            <a:off x="685800" y="1508760"/>
            <a:ext cx="32457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FFFF"/>
                </a:solidFill>
                <a:effectLst/>
                <a:uFillTx/>
                <a:latin typeface="IBM Plex Mono"/>
                <a:ea typeface="IBM Plex Mono"/>
              </a:rPr>
              <a:t>20%</a:t>
            </a:r>
            <a:endParaRPr lang="en-GB" sz="1800" b="0" u="none" strike="noStrike">
              <a:solidFill>
                <a:srgbClr val="000000"/>
              </a:solidFill>
              <a:effectLst/>
              <a:uFillTx/>
              <a:latin typeface="Arial"/>
            </a:endParaRPr>
          </a:p>
        </p:txBody>
      </p:sp>
      <p:sp>
        <p:nvSpPr>
          <p:cNvPr id="109" name="Text 6"/>
          <p:cNvSpPr/>
          <p:nvPr/>
        </p:nvSpPr>
        <p:spPr>
          <a:xfrm>
            <a:off x="731520" y="2057400"/>
            <a:ext cx="31543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11111"/>
                </a:solidFill>
                <a:effectLst/>
                <a:uFillTx/>
                <a:latin typeface="IBM Plex Sans"/>
                <a:ea typeface="IBM Plex Sans"/>
              </a:rPr>
              <a:t>Midterm 1</a:t>
            </a:r>
            <a:endParaRPr lang="en-GB" sz="1900" b="0" u="none" strike="noStrike">
              <a:solidFill>
                <a:srgbClr val="000000"/>
              </a:solidFill>
              <a:effectLst/>
              <a:uFillTx/>
              <a:latin typeface="Arial"/>
            </a:endParaRPr>
          </a:p>
        </p:txBody>
      </p:sp>
      <p:sp>
        <p:nvSpPr>
          <p:cNvPr id="110" name="Text 7"/>
          <p:cNvSpPr/>
          <p:nvPr/>
        </p:nvSpPr>
        <p:spPr>
          <a:xfrm>
            <a:off x="731520" y="2606040"/>
            <a:ext cx="315432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Covers everything up to and including the first exam cutoff. Date TBD.</a:t>
            </a:r>
            <a:endParaRPr lang="en-GB" sz="1300" b="0" u="none" strike="noStrike">
              <a:solidFill>
                <a:srgbClr val="000000"/>
              </a:solidFill>
              <a:effectLst/>
              <a:uFillTx/>
              <a:latin typeface="Arial"/>
            </a:endParaRPr>
          </a:p>
        </p:txBody>
      </p:sp>
      <p:sp>
        <p:nvSpPr>
          <p:cNvPr id="111" name="Shape 8"/>
          <p:cNvSpPr/>
          <p:nvPr/>
        </p:nvSpPr>
        <p:spPr>
          <a:xfrm>
            <a:off x="4389120" y="1463040"/>
            <a:ext cx="3611520" cy="420588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12" name="Shape 9"/>
          <p:cNvSpPr/>
          <p:nvPr/>
        </p:nvSpPr>
        <p:spPr>
          <a:xfrm>
            <a:off x="4389120" y="1463040"/>
            <a:ext cx="3611520" cy="456840"/>
          </a:xfrm>
          <a:prstGeom prst="rect">
            <a:avLst/>
          </a:prstGeom>
          <a:solidFill>
            <a:srgbClr val="CC3320"/>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13" name="Text 10"/>
          <p:cNvSpPr/>
          <p:nvPr/>
        </p:nvSpPr>
        <p:spPr>
          <a:xfrm>
            <a:off x="4572000" y="1508760"/>
            <a:ext cx="32457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FFFF"/>
                </a:solidFill>
                <a:effectLst/>
                <a:uFillTx/>
                <a:latin typeface="IBM Plex Mono"/>
                <a:ea typeface="IBM Plex Mono"/>
              </a:rPr>
              <a:t>20%</a:t>
            </a:r>
            <a:endParaRPr lang="en-GB" sz="1800" b="0" u="none" strike="noStrike">
              <a:solidFill>
                <a:srgbClr val="000000"/>
              </a:solidFill>
              <a:effectLst/>
              <a:uFillTx/>
              <a:latin typeface="Arial"/>
            </a:endParaRPr>
          </a:p>
        </p:txBody>
      </p:sp>
      <p:sp>
        <p:nvSpPr>
          <p:cNvPr id="114" name="Text 11"/>
          <p:cNvSpPr/>
          <p:nvPr/>
        </p:nvSpPr>
        <p:spPr>
          <a:xfrm>
            <a:off x="4617720" y="2057400"/>
            <a:ext cx="31543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11111"/>
                </a:solidFill>
                <a:effectLst/>
                <a:uFillTx/>
                <a:latin typeface="IBM Plex Sans"/>
                <a:ea typeface="IBM Plex Sans"/>
              </a:rPr>
              <a:t>Midterm 2</a:t>
            </a:r>
            <a:endParaRPr lang="en-GB" sz="1900" b="0" u="none" strike="noStrike">
              <a:solidFill>
                <a:srgbClr val="000000"/>
              </a:solidFill>
              <a:effectLst/>
              <a:uFillTx/>
              <a:latin typeface="Arial"/>
            </a:endParaRPr>
          </a:p>
        </p:txBody>
      </p:sp>
      <p:sp>
        <p:nvSpPr>
          <p:cNvPr id="115" name="Text 12"/>
          <p:cNvSpPr/>
          <p:nvPr/>
        </p:nvSpPr>
        <p:spPr>
          <a:xfrm>
            <a:off x="4617720" y="2606040"/>
            <a:ext cx="315432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Cumulative, with emphasis on material since Midterm 1. Date TBD.</a:t>
            </a:r>
            <a:endParaRPr lang="en-GB" sz="1300" b="0" u="none" strike="noStrike">
              <a:solidFill>
                <a:srgbClr val="000000"/>
              </a:solidFill>
              <a:effectLst/>
              <a:uFillTx/>
              <a:latin typeface="Arial"/>
            </a:endParaRPr>
          </a:p>
        </p:txBody>
      </p:sp>
      <p:sp>
        <p:nvSpPr>
          <p:cNvPr id="116" name="Shape 13"/>
          <p:cNvSpPr/>
          <p:nvPr/>
        </p:nvSpPr>
        <p:spPr>
          <a:xfrm>
            <a:off x="8275320" y="1463040"/>
            <a:ext cx="3611520" cy="420588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17" name="Shape 14"/>
          <p:cNvSpPr/>
          <p:nvPr/>
        </p:nvSpPr>
        <p:spPr>
          <a:xfrm>
            <a:off x="8275320" y="1463040"/>
            <a:ext cx="3611520" cy="456840"/>
          </a:xfrm>
          <a:prstGeom prst="rect">
            <a:avLst/>
          </a:prstGeom>
          <a:solidFill>
            <a:srgbClr val="CC3320"/>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18" name="Text 15"/>
          <p:cNvSpPr/>
          <p:nvPr/>
        </p:nvSpPr>
        <p:spPr>
          <a:xfrm>
            <a:off x="8458200" y="1508760"/>
            <a:ext cx="32457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FFFF"/>
                </a:solidFill>
                <a:effectLst/>
                <a:uFillTx/>
                <a:latin typeface="IBM Plex Mono"/>
                <a:ea typeface="IBM Plex Mono"/>
              </a:rPr>
              <a:t>25%</a:t>
            </a:r>
            <a:endParaRPr lang="en-GB" sz="1800" b="0" u="none" strike="noStrike">
              <a:solidFill>
                <a:srgbClr val="000000"/>
              </a:solidFill>
              <a:effectLst/>
              <a:uFillTx/>
              <a:latin typeface="Arial"/>
            </a:endParaRPr>
          </a:p>
        </p:txBody>
      </p:sp>
      <p:sp>
        <p:nvSpPr>
          <p:cNvPr id="119" name="Text 16"/>
          <p:cNvSpPr/>
          <p:nvPr/>
        </p:nvSpPr>
        <p:spPr>
          <a:xfrm>
            <a:off x="8503920" y="2057400"/>
            <a:ext cx="31543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11111"/>
                </a:solidFill>
                <a:effectLst/>
                <a:uFillTx/>
                <a:latin typeface="IBM Plex Sans"/>
                <a:ea typeface="IBM Plex Sans"/>
              </a:rPr>
              <a:t>Final Exam</a:t>
            </a:r>
            <a:endParaRPr lang="en-GB" sz="1900" b="0" u="none" strike="noStrike">
              <a:solidFill>
                <a:srgbClr val="000000"/>
              </a:solidFill>
              <a:effectLst/>
              <a:uFillTx/>
              <a:latin typeface="Arial"/>
            </a:endParaRPr>
          </a:p>
        </p:txBody>
      </p:sp>
      <p:sp>
        <p:nvSpPr>
          <p:cNvPr id="120" name="Text 17"/>
          <p:cNvSpPr/>
          <p:nvPr/>
        </p:nvSpPr>
        <p:spPr>
          <a:xfrm>
            <a:off x="8503920" y="2606040"/>
            <a:ext cx="315432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Scheduled by the Registrar. Do not book travel before December 20th.</a:t>
            </a:r>
            <a:endParaRPr lang="en-GB" sz="1300" b="0" u="none" strike="noStrike">
              <a:solidFill>
                <a:srgbClr val="000000"/>
              </a:solidFill>
              <a:effectLst/>
              <a:uFillTx/>
              <a:latin typeface="Arial"/>
            </a:endParaRPr>
          </a:p>
        </p:txBody>
      </p:sp>
      <p:sp>
        <p:nvSpPr>
          <p:cNvPr id="121" name="Text 18"/>
          <p:cNvSpPr/>
          <p:nvPr/>
        </p:nvSpPr>
        <p:spPr>
          <a:xfrm>
            <a:off x="502920" y="539496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NOTE</a:t>
            </a:r>
            <a:endParaRPr lang="en-GB" sz="1000" b="0" u="none" strike="noStrike">
              <a:solidFill>
                <a:srgbClr val="000000"/>
              </a:solidFill>
              <a:effectLst/>
              <a:uFillTx/>
              <a:latin typeface="Arial"/>
            </a:endParaRPr>
          </a:p>
        </p:txBody>
      </p:sp>
      <p:sp>
        <p:nvSpPr>
          <p:cNvPr id="122" name="Text 19"/>
          <p:cNvSpPr/>
          <p:nvPr/>
        </p:nvSpPr>
        <p:spPr>
          <a:xfrm>
            <a:off x="502920" y="5650920"/>
            <a:ext cx="1115532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If you have two finals at the same time, let me know as soon as the schedule is posted. Do not make any travel plans until exam dates are confirmed.</a:t>
            </a:r>
            <a:endParaRPr lang="en-GB"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 name="Shape 0"/>
          <p:cNvSpPr/>
          <p:nvPr/>
        </p:nvSpPr>
        <p:spPr>
          <a:xfrm>
            <a:off x="502920" y="1005840"/>
            <a:ext cx="10969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124" name="Text 1"/>
          <p:cNvSpPr/>
          <p:nvPr/>
        </p:nvSpPr>
        <p:spPr>
          <a:xfrm>
            <a:off x="502920" y="41148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11111"/>
                </a:solidFill>
                <a:effectLst/>
                <a:uFillTx/>
                <a:latin typeface="IBM Plex Sans"/>
                <a:ea typeface="IBM Plex Sans"/>
              </a:rPr>
              <a:t>Rephactor Assessments</a:t>
            </a:r>
            <a:endParaRPr lang="en-GB" sz="3200" b="0" u="none" strike="noStrike">
              <a:solidFill>
                <a:srgbClr val="000000"/>
              </a:solidFill>
              <a:effectLst/>
              <a:uFillTx/>
              <a:latin typeface="Arial"/>
            </a:endParaRPr>
          </a:p>
        </p:txBody>
      </p:sp>
      <p:sp>
        <p:nvSpPr>
          <p:cNvPr id="125" name="Text 2"/>
          <p:cNvSpPr/>
          <p:nvPr/>
        </p:nvSpPr>
        <p:spPr>
          <a:xfrm>
            <a:off x="502920" y="109728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10% OF YOUR GRADE</a:t>
            </a:r>
            <a:endParaRPr lang="en-GB" sz="1000" b="0" u="none" strike="noStrike">
              <a:solidFill>
                <a:srgbClr val="000000"/>
              </a:solidFill>
              <a:effectLst/>
              <a:uFillTx/>
              <a:latin typeface="Arial"/>
            </a:endParaRPr>
          </a:p>
        </p:txBody>
      </p:sp>
      <p:sp>
        <p:nvSpPr>
          <p:cNvPr id="126" name="Shape 3"/>
          <p:cNvSpPr/>
          <p:nvPr/>
        </p:nvSpPr>
        <p:spPr>
          <a:xfrm>
            <a:off x="502920" y="1463040"/>
            <a:ext cx="5303160" cy="448020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27" name="Text 4"/>
          <p:cNvSpPr/>
          <p:nvPr/>
        </p:nvSpPr>
        <p:spPr>
          <a:xfrm>
            <a:off x="777240" y="169164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QUICK CHECKS</a:t>
            </a:r>
            <a:endParaRPr lang="en-GB" sz="1000" b="0" u="none" strike="noStrike">
              <a:solidFill>
                <a:srgbClr val="000000"/>
              </a:solidFill>
              <a:effectLst/>
              <a:uFillTx/>
              <a:latin typeface="Arial"/>
            </a:endParaRPr>
          </a:p>
        </p:txBody>
      </p:sp>
      <p:sp>
        <p:nvSpPr>
          <p:cNvPr id="128" name="Text 5"/>
          <p:cNvSpPr/>
          <p:nvPr/>
        </p:nvSpPr>
        <p:spPr>
          <a:xfrm>
            <a:off x="777240" y="2011680"/>
            <a:ext cx="4754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11111"/>
                </a:solidFill>
                <a:effectLst/>
                <a:uFillTx/>
                <a:latin typeface="IBM Plex Sans"/>
                <a:ea typeface="IBM Plex Sans"/>
              </a:rPr>
              <a:t>Short reading quizzes</a:t>
            </a:r>
            <a:endParaRPr lang="en-GB" sz="1900" b="0" u="none" strike="noStrike">
              <a:solidFill>
                <a:srgbClr val="000000"/>
              </a:solidFill>
              <a:effectLst/>
              <a:uFillTx/>
              <a:latin typeface="Arial"/>
            </a:endParaRPr>
          </a:p>
        </p:txBody>
      </p:sp>
      <p:sp>
        <p:nvSpPr>
          <p:cNvPr id="129" name="Text 6"/>
          <p:cNvSpPr/>
          <p:nvPr/>
        </p:nvSpPr>
        <p:spPr>
          <a:xfrm>
            <a:off x="777240" y="2560320"/>
            <a:ext cx="4754520" cy="1279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444444"/>
                </a:solidFill>
                <a:effectLst/>
                <a:uFillTx/>
                <a:latin typeface="IBM Plex Sans"/>
                <a:ea typeface="IBM Plex Sans"/>
              </a:rPr>
              <a:t>A short quiz at the end of nearly every topic in the textbook. These check that you've done the reading before coming to class.</a:t>
            </a:r>
            <a:endParaRPr lang="en-GB" sz="1400" b="0" u="none" strike="noStrike">
              <a:solidFill>
                <a:srgbClr val="000000"/>
              </a:solidFill>
              <a:effectLst/>
              <a:uFillTx/>
              <a:latin typeface="Arial"/>
            </a:endParaRPr>
          </a:p>
        </p:txBody>
      </p:sp>
      <p:sp>
        <p:nvSpPr>
          <p:cNvPr id="130" name="Shape 7"/>
          <p:cNvSpPr/>
          <p:nvPr/>
        </p:nvSpPr>
        <p:spPr>
          <a:xfrm>
            <a:off x="777240" y="4160520"/>
            <a:ext cx="4754520" cy="36360"/>
          </a:xfrm>
          <a:prstGeom prst="rect">
            <a:avLst/>
          </a:prstGeom>
          <a:solidFill>
            <a:srgbClr val="999999"/>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131" name="Text 8"/>
          <p:cNvSpPr/>
          <p:nvPr/>
        </p:nvSpPr>
        <p:spPr>
          <a:xfrm>
            <a:off x="777240" y="4297680"/>
            <a:ext cx="47545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CC3320"/>
                </a:solidFill>
                <a:effectLst/>
                <a:uFillTx/>
                <a:latin typeface="IBM Plex Mono"/>
                <a:ea typeface="IBM Plex Mono"/>
              </a:rPr>
              <a:t>Due by 8 AM the morning of the lecture</a:t>
            </a:r>
            <a:endParaRPr lang="en-GB" sz="1100" b="0" u="none" strike="noStrike">
              <a:solidFill>
                <a:srgbClr val="000000"/>
              </a:solidFill>
              <a:effectLst/>
              <a:uFillTx/>
              <a:latin typeface="Arial"/>
            </a:endParaRPr>
          </a:p>
        </p:txBody>
      </p:sp>
      <p:sp>
        <p:nvSpPr>
          <p:cNvPr id="132" name="Shape 9"/>
          <p:cNvSpPr/>
          <p:nvPr/>
        </p:nvSpPr>
        <p:spPr>
          <a:xfrm>
            <a:off x="6355080" y="1463040"/>
            <a:ext cx="5303160" cy="448020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33" name="Text 10"/>
          <p:cNvSpPr/>
          <p:nvPr/>
        </p:nvSpPr>
        <p:spPr>
          <a:xfrm>
            <a:off x="6629400" y="169164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EXERCISE SETS</a:t>
            </a:r>
            <a:endParaRPr lang="en-GB" sz="1000" b="0" u="none" strike="noStrike">
              <a:solidFill>
                <a:srgbClr val="000000"/>
              </a:solidFill>
              <a:effectLst/>
              <a:uFillTx/>
              <a:latin typeface="Arial"/>
            </a:endParaRPr>
          </a:p>
        </p:txBody>
      </p:sp>
      <p:sp>
        <p:nvSpPr>
          <p:cNvPr id="134" name="Text 11"/>
          <p:cNvSpPr/>
          <p:nvPr/>
        </p:nvSpPr>
        <p:spPr>
          <a:xfrm>
            <a:off x="6629400" y="2011680"/>
            <a:ext cx="4754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11111"/>
                </a:solidFill>
                <a:effectLst/>
                <a:uFillTx/>
                <a:latin typeface="IBM Plex Sans"/>
                <a:ea typeface="IBM Plex Sans"/>
              </a:rPr>
              <a:t>Short programming problems</a:t>
            </a:r>
            <a:endParaRPr lang="en-GB" sz="1900" b="0" u="none" strike="noStrike">
              <a:solidFill>
                <a:srgbClr val="000000"/>
              </a:solidFill>
              <a:effectLst/>
              <a:uFillTx/>
              <a:latin typeface="Arial"/>
            </a:endParaRPr>
          </a:p>
        </p:txBody>
      </p:sp>
      <p:sp>
        <p:nvSpPr>
          <p:cNvPr id="135" name="Text 12"/>
          <p:cNvSpPr/>
          <p:nvPr/>
        </p:nvSpPr>
        <p:spPr>
          <a:xfrm>
            <a:off x="6629400" y="2560320"/>
            <a:ext cx="4754520" cy="1279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444444"/>
                </a:solidFill>
                <a:effectLst/>
                <a:uFillTx/>
                <a:latin typeface="IBM Plex Sans"/>
                <a:ea typeface="IBM Plex Sans"/>
              </a:rPr>
              <a:t>Brief coding problems found in the textbook. Complete them independently: no collaboration, no generative AI.</a:t>
            </a:r>
            <a:endParaRPr lang="en-GB" sz="1400" b="0" u="none" strike="noStrike">
              <a:solidFill>
                <a:srgbClr val="000000"/>
              </a:solidFill>
              <a:effectLst/>
              <a:uFillTx/>
              <a:latin typeface="Arial"/>
            </a:endParaRPr>
          </a:p>
        </p:txBody>
      </p:sp>
      <p:sp>
        <p:nvSpPr>
          <p:cNvPr id="136" name="Shape 13"/>
          <p:cNvSpPr/>
          <p:nvPr/>
        </p:nvSpPr>
        <p:spPr>
          <a:xfrm>
            <a:off x="6629400" y="4160520"/>
            <a:ext cx="4754520" cy="36360"/>
          </a:xfrm>
          <a:prstGeom prst="rect">
            <a:avLst/>
          </a:prstGeom>
          <a:solidFill>
            <a:srgbClr val="999999"/>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137" name="Text 14"/>
          <p:cNvSpPr/>
          <p:nvPr/>
        </p:nvSpPr>
        <p:spPr>
          <a:xfrm>
            <a:off x="6629400" y="4297680"/>
            <a:ext cx="47545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CC3320"/>
                </a:solidFill>
                <a:effectLst/>
                <a:uFillTx/>
                <a:latin typeface="IBM Plex Mono"/>
                <a:ea typeface="IBM Plex Mono"/>
              </a:rPr>
              <a:t>Due by 9 AM the morning after the lecture</a:t>
            </a:r>
            <a:endParaRPr lang="en-GB" sz="1100" b="0" u="none" strike="noStrike">
              <a:solidFill>
                <a:srgbClr val="000000"/>
              </a:solidFill>
              <a:effectLst/>
              <a:uFillTx/>
              <a:latin typeface="Arial"/>
            </a:endParaRPr>
          </a:p>
        </p:txBody>
      </p:sp>
      <p:sp>
        <p:nvSpPr>
          <p:cNvPr id="138" name="Text 15"/>
          <p:cNvSpPr/>
          <p:nvPr/>
        </p:nvSpPr>
        <p:spPr>
          <a:xfrm>
            <a:off x="502920" y="557784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SETUP</a:t>
            </a:r>
            <a:endParaRPr lang="en-GB" sz="1000" b="0" u="none" strike="noStrike">
              <a:solidFill>
                <a:srgbClr val="000000"/>
              </a:solidFill>
              <a:effectLst/>
              <a:uFillTx/>
              <a:latin typeface="Arial"/>
            </a:endParaRPr>
          </a:p>
        </p:txBody>
      </p:sp>
      <p:sp>
        <p:nvSpPr>
          <p:cNvPr id="139" name="Text 16"/>
          <p:cNvSpPr/>
          <p:nvPr/>
        </p:nvSpPr>
        <p:spPr>
          <a:xfrm>
            <a:off x="502920" y="5833800"/>
            <a:ext cx="11155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Purchase access at rephactor.com ($48). Register with your NYU email. Your professor will send you the course code for your section.</a:t>
            </a:r>
            <a:endParaRPr lang="en-GB"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0" name="Shape 0"/>
          <p:cNvSpPr/>
          <p:nvPr/>
        </p:nvSpPr>
        <p:spPr>
          <a:xfrm>
            <a:off x="502920" y="1005840"/>
            <a:ext cx="10969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141" name="Text 1"/>
          <p:cNvSpPr/>
          <p:nvPr/>
        </p:nvSpPr>
        <p:spPr>
          <a:xfrm>
            <a:off x="502920" y="41148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11111"/>
                </a:solidFill>
                <a:effectLst/>
                <a:uFillTx/>
                <a:latin typeface="IBM Plex Sans"/>
                <a:ea typeface="IBM Plex Sans"/>
              </a:rPr>
              <a:t>Lab</a:t>
            </a:r>
            <a:endParaRPr lang="en-GB" sz="3200" b="0" u="none" strike="noStrike">
              <a:solidFill>
                <a:srgbClr val="000000"/>
              </a:solidFill>
              <a:effectLst/>
              <a:uFillTx/>
              <a:latin typeface="Arial"/>
            </a:endParaRPr>
          </a:p>
        </p:txBody>
      </p:sp>
      <p:sp>
        <p:nvSpPr>
          <p:cNvPr id="142" name="Text 2"/>
          <p:cNvSpPr/>
          <p:nvPr/>
        </p:nvSpPr>
        <p:spPr>
          <a:xfrm>
            <a:off x="502920" y="109728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10% OF YOUR GRADE</a:t>
            </a:r>
            <a:endParaRPr lang="en-GB" sz="1000" b="0" u="none" strike="noStrike">
              <a:solidFill>
                <a:srgbClr val="000000"/>
              </a:solidFill>
              <a:effectLst/>
              <a:uFillTx/>
              <a:latin typeface="Arial"/>
            </a:endParaRPr>
          </a:p>
        </p:txBody>
      </p:sp>
      <p:sp>
        <p:nvSpPr>
          <p:cNvPr id="143" name="Text 3"/>
          <p:cNvSpPr/>
          <p:nvPr/>
        </p:nvSpPr>
        <p:spPr>
          <a:xfrm>
            <a:off x="502920" y="1325880"/>
            <a:ext cx="1115532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111111"/>
                </a:solidFill>
                <a:effectLst/>
                <a:uFillTx/>
                <a:latin typeface="IBM Plex Sans"/>
                <a:ea typeface="IBM Plex Sans"/>
              </a:rPr>
              <a:t>Labs are a supervised, collaborative environment where you apply what I've covered in lecture. You may discuss your work with other students and TAs during regular labs (not lab exams). Your grade is based on attendance and effort.</a:t>
            </a:r>
            <a:endParaRPr lang="en-GB" sz="1500" b="0" u="none" strike="noStrike">
              <a:solidFill>
                <a:srgbClr val="000000"/>
              </a:solidFill>
              <a:effectLst/>
              <a:uFillTx/>
              <a:latin typeface="Arial"/>
            </a:endParaRPr>
          </a:p>
        </p:txBody>
      </p:sp>
      <p:sp>
        <p:nvSpPr>
          <p:cNvPr id="144" name="Text 4"/>
          <p:cNvSpPr/>
          <p:nvPr/>
        </p:nvSpPr>
        <p:spPr>
          <a:xfrm>
            <a:off x="502920" y="224028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SCHEDULE</a:t>
            </a:r>
            <a:endParaRPr lang="en-GB" sz="1000" b="0" u="none" strike="noStrike">
              <a:solidFill>
                <a:srgbClr val="000000"/>
              </a:solidFill>
              <a:effectLst/>
              <a:uFillTx/>
              <a:latin typeface="Arial"/>
            </a:endParaRPr>
          </a:p>
        </p:txBody>
      </p:sp>
      <p:sp>
        <p:nvSpPr>
          <p:cNvPr id="145" name="Text 5"/>
          <p:cNvSpPr/>
          <p:nvPr/>
        </p:nvSpPr>
        <p:spPr>
          <a:xfrm>
            <a:off x="502920" y="249624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Once weekly on Fridays (check Albert for your section). You must be registered for a lab that corresponds to your lecture.</a:t>
            </a:r>
            <a:endParaRPr lang="en-GB" sz="1300" b="0" u="none" strike="noStrike">
              <a:solidFill>
                <a:srgbClr val="000000"/>
              </a:solidFill>
              <a:effectLst/>
              <a:uFillTx/>
              <a:latin typeface="Arial"/>
            </a:endParaRPr>
          </a:p>
        </p:txBody>
      </p:sp>
      <p:sp>
        <p:nvSpPr>
          <p:cNvPr id="146" name="Text 6"/>
          <p:cNvSpPr/>
          <p:nvPr/>
        </p:nvSpPr>
        <p:spPr>
          <a:xfrm>
            <a:off x="502920" y="324612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MISSING LABS</a:t>
            </a:r>
            <a:endParaRPr lang="en-GB" sz="1000" b="0" u="none" strike="noStrike">
              <a:solidFill>
                <a:srgbClr val="000000"/>
              </a:solidFill>
              <a:effectLst/>
              <a:uFillTx/>
              <a:latin typeface="Arial"/>
            </a:endParaRPr>
          </a:p>
        </p:txBody>
      </p:sp>
      <p:sp>
        <p:nvSpPr>
          <p:cNvPr id="147" name="Text 7"/>
          <p:cNvSpPr/>
          <p:nvPr/>
        </p:nvSpPr>
        <p:spPr>
          <a:xfrm>
            <a:off x="502920" y="350208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Missing more than 3 labs forfeits all lab credit for the semester. Missed labs can be submitted until 11:59 PM the following Sunday, but only with an excused absence from the Office of Student Advocacy.</a:t>
            </a:r>
            <a:endParaRPr lang="en-GB" sz="1300" b="0" u="none" strike="noStrike">
              <a:solidFill>
                <a:srgbClr val="000000"/>
              </a:solidFill>
              <a:effectLst/>
              <a:uFillTx/>
              <a:latin typeface="Arial"/>
            </a:endParaRPr>
          </a:p>
        </p:txBody>
      </p:sp>
      <p:sp>
        <p:nvSpPr>
          <p:cNvPr id="148" name="Text 8"/>
          <p:cNvSpPr/>
          <p:nvPr/>
        </p:nvSpPr>
        <p:spPr>
          <a:xfrm>
            <a:off x="502920" y="425196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MAKE-UP POLICY</a:t>
            </a:r>
            <a:endParaRPr lang="en-GB" sz="1000" b="0" u="none" strike="noStrike">
              <a:solidFill>
                <a:srgbClr val="000000"/>
              </a:solidFill>
              <a:effectLst/>
              <a:uFillTx/>
              <a:latin typeface="Arial"/>
            </a:endParaRPr>
          </a:p>
        </p:txBody>
      </p:sp>
      <p:sp>
        <p:nvSpPr>
          <p:cNvPr id="149" name="Text 9"/>
          <p:cNvSpPr/>
          <p:nvPr/>
        </p:nvSpPr>
        <p:spPr>
          <a:xfrm>
            <a:off x="502920" y="450792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Submit your work by the Sunday 11:59 PM deadline once your excused absence has been processed. Labs submitted after that deadline will not be graded.</a:t>
            </a:r>
            <a:endParaRPr lang="en-GB" sz="1300" b="0" u="none" strike="noStrike">
              <a:solidFill>
                <a:srgbClr val="000000"/>
              </a:solidFill>
              <a:effectLst/>
              <a:uFillTx/>
              <a:latin typeface="Arial"/>
            </a:endParaRPr>
          </a:p>
        </p:txBody>
      </p:sp>
      <p:sp>
        <p:nvSpPr>
          <p:cNvPr id="150" name="Text 10"/>
          <p:cNvSpPr/>
          <p:nvPr/>
        </p:nvSpPr>
        <p:spPr>
          <a:xfrm>
            <a:off x="502920" y="525780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GRADE DISPUTES</a:t>
            </a:r>
            <a:endParaRPr lang="en-GB" sz="1000" b="0" u="none" strike="noStrike">
              <a:solidFill>
                <a:srgbClr val="000000"/>
              </a:solidFill>
              <a:effectLst/>
              <a:uFillTx/>
              <a:latin typeface="Arial"/>
            </a:endParaRPr>
          </a:p>
        </p:txBody>
      </p:sp>
      <p:sp>
        <p:nvSpPr>
          <p:cNvPr id="151" name="Text 11"/>
          <p:cNvSpPr/>
          <p:nvPr/>
        </p:nvSpPr>
        <p:spPr>
          <a:xfrm>
            <a:off x="502920" y="551376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Any dispute about your lab grade must be raised within two weeks of the lab or the final exam, whichever comes first.</a:t>
            </a:r>
            <a:endParaRPr lang="en-GB"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2" name="Shape 0"/>
          <p:cNvSpPr/>
          <p:nvPr/>
        </p:nvSpPr>
        <p:spPr>
          <a:xfrm>
            <a:off x="502920" y="1005840"/>
            <a:ext cx="10969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153" name="Text 1"/>
          <p:cNvSpPr/>
          <p:nvPr/>
        </p:nvSpPr>
        <p:spPr>
          <a:xfrm>
            <a:off x="502920" y="41148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11111"/>
                </a:solidFill>
                <a:effectLst/>
                <a:uFillTx/>
                <a:latin typeface="IBM Plex Sans"/>
                <a:ea typeface="IBM Plex Sans"/>
              </a:rPr>
              <a:t>Lab Exams</a:t>
            </a:r>
            <a:endParaRPr lang="en-GB" sz="3200" b="0" u="none" strike="noStrike">
              <a:solidFill>
                <a:srgbClr val="000000"/>
              </a:solidFill>
              <a:effectLst/>
              <a:uFillTx/>
              <a:latin typeface="Arial"/>
            </a:endParaRPr>
          </a:p>
        </p:txBody>
      </p:sp>
      <p:sp>
        <p:nvSpPr>
          <p:cNvPr id="154" name="Text 2"/>
          <p:cNvSpPr/>
          <p:nvPr/>
        </p:nvSpPr>
        <p:spPr>
          <a:xfrm>
            <a:off x="502920" y="109728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10% OF YOUR GRADE</a:t>
            </a:r>
            <a:endParaRPr lang="en-GB" sz="1000" b="0" u="none" strike="noStrike">
              <a:solidFill>
                <a:srgbClr val="000000"/>
              </a:solidFill>
              <a:effectLst/>
              <a:uFillTx/>
              <a:latin typeface="Arial"/>
            </a:endParaRPr>
          </a:p>
        </p:txBody>
      </p:sp>
      <p:sp>
        <p:nvSpPr>
          <p:cNvPr id="155" name="Text 3"/>
          <p:cNvSpPr/>
          <p:nvPr/>
        </p:nvSpPr>
        <p:spPr>
          <a:xfrm>
            <a:off x="502920" y="132588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111111"/>
                </a:solidFill>
                <a:effectLst/>
                <a:uFillTx/>
                <a:latin typeface="IBM Plex Sans"/>
                <a:ea typeface="IBM Plex Sans"/>
              </a:rPr>
              <a:t>Periodically, labs may begin with a short exam designed to simulate test conditions and check your understanding of recent material. These are individual — no collaboration.</a:t>
            </a:r>
            <a:endParaRPr lang="en-GB" sz="1500" b="0" u="none" strike="noStrike">
              <a:solidFill>
                <a:srgbClr val="000000"/>
              </a:solidFill>
              <a:effectLst/>
              <a:uFillTx/>
              <a:latin typeface="Arial"/>
            </a:endParaRPr>
          </a:p>
        </p:txBody>
      </p:sp>
      <p:sp>
        <p:nvSpPr>
          <p:cNvPr id="156" name="Text 4"/>
          <p:cNvSpPr/>
          <p:nvPr/>
        </p:nvSpPr>
        <p:spPr>
          <a:xfrm>
            <a:off x="502920" y="214884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FORMAT</a:t>
            </a:r>
            <a:endParaRPr lang="en-GB" sz="1000" b="0" u="none" strike="noStrike">
              <a:solidFill>
                <a:srgbClr val="000000"/>
              </a:solidFill>
              <a:effectLst/>
              <a:uFillTx/>
              <a:latin typeface="Arial"/>
            </a:endParaRPr>
          </a:p>
        </p:txBody>
      </p:sp>
      <p:sp>
        <p:nvSpPr>
          <p:cNvPr id="157" name="Text 5"/>
          <p:cNvSpPr/>
          <p:nvPr/>
        </p:nvSpPr>
        <p:spPr>
          <a:xfrm>
            <a:off x="502920" y="240480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Short, timed, held at the start of a lab session. Covers recent lecture material. Exact dates are not announced in advance.</a:t>
            </a:r>
            <a:endParaRPr lang="en-GB" sz="1300" b="0" u="none" strike="noStrike">
              <a:solidFill>
                <a:srgbClr val="000000"/>
              </a:solidFill>
              <a:effectLst/>
              <a:uFillTx/>
              <a:latin typeface="Arial"/>
            </a:endParaRPr>
          </a:p>
        </p:txBody>
      </p:sp>
      <p:sp>
        <p:nvSpPr>
          <p:cNvPr id="158" name="Text 6"/>
          <p:cNvSpPr/>
          <p:nvPr/>
        </p:nvSpPr>
        <p:spPr>
          <a:xfrm>
            <a:off x="502920" y="315468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LOWEST SCORE DROPPED</a:t>
            </a:r>
            <a:endParaRPr lang="en-GB" sz="1000" b="0" u="none" strike="noStrike">
              <a:solidFill>
                <a:srgbClr val="000000"/>
              </a:solidFill>
              <a:effectLst/>
              <a:uFillTx/>
              <a:latin typeface="Arial"/>
            </a:endParaRPr>
          </a:p>
        </p:txBody>
      </p:sp>
      <p:sp>
        <p:nvSpPr>
          <p:cNvPr id="159" name="Text 7"/>
          <p:cNvSpPr/>
          <p:nvPr/>
        </p:nvSpPr>
        <p:spPr>
          <a:xfrm>
            <a:off x="502920" y="341064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To account for illness, off days, or emergencies, your lowest lab exam score is dropped automatically when calculating your final grade.</a:t>
            </a:r>
            <a:endParaRPr lang="en-GB" sz="1300" b="0" u="none" strike="noStrike">
              <a:solidFill>
                <a:srgbClr val="000000"/>
              </a:solidFill>
              <a:effectLst/>
              <a:uFillTx/>
              <a:latin typeface="Arial"/>
            </a:endParaRPr>
          </a:p>
        </p:txBody>
      </p:sp>
      <p:sp>
        <p:nvSpPr>
          <p:cNvPr id="160" name="Text 8"/>
          <p:cNvSpPr/>
          <p:nvPr/>
        </p:nvSpPr>
        <p:spPr>
          <a:xfrm>
            <a:off x="502920" y="416052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MISSED EXAMS</a:t>
            </a:r>
            <a:endParaRPr lang="en-GB" sz="1000" b="0" u="none" strike="noStrike">
              <a:solidFill>
                <a:srgbClr val="000000"/>
              </a:solidFill>
              <a:effectLst/>
              <a:uFillTx/>
              <a:latin typeface="Arial"/>
            </a:endParaRPr>
          </a:p>
        </p:txBody>
      </p:sp>
      <p:sp>
        <p:nvSpPr>
          <p:cNvPr id="161" name="Text 9"/>
          <p:cNvSpPr/>
          <p:nvPr/>
        </p:nvSpPr>
        <p:spPr>
          <a:xfrm>
            <a:off x="502920" y="441648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There are no make-ups for lab exams. A missed exam scores a zero, which may be the score that gets dropped. Additional missed lab exams remain as zeros.</a:t>
            </a:r>
            <a:endParaRPr lang="en-GB" sz="1300" b="0" u="none" strike="noStrike">
              <a:solidFill>
                <a:srgbClr val="000000"/>
              </a:solidFill>
              <a:effectLst/>
              <a:uFillTx/>
              <a:latin typeface="Arial"/>
            </a:endParaRPr>
          </a:p>
        </p:txBody>
      </p:sp>
      <p:sp>
        <p:nvSpPr>
          <p:cNvPr id="162" name="Text 10"/>
          <p:cNvSpPr/>
          <p:nvPr/>
        </p:nvSpPr>
        <p:spPr>
          <a:xfrm>
            <a:off x="502920" y="516636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COLLABORATION</a:t>
            </a:r>
            <a:endParaRPr lang="en-GB" sz="1000" b="0" u="none" strike="noStrike">
              <a:solidFill>
                <a:srgbClr val="000000"/>
              </a:solidFill>
              <a:effectLst/>
              <a:uFillTx/>
              <a:latin typeface="Arial"/>
            </a:endParaRPr>
          </a:p>
        </p:txBody>
      </p:sp>
      <p:sp>
        <p:nvSpPr>
          <p:cNvPr id="163" name="Text 11"/>
          <p:cNvSpPr/>
          <p:nvPr/>
        </p:nvSpPr>
        <p:spPr>
          <a:xfrm>
            <a:off x="502920" y="542232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Unlike regular labs, lab exams are individual assessments. Discussing answers during a lab exam is an academic integrity violation.</a:t>
            </a:r>
            <a:endParaRPr lang="en-GB"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4" name="Shape 0"/>
          <p:cNvSpPr/>
          <p:nvPr/>
        </p:nvSpPr>
        <p:spPr>
          <a:xfrm>
            <a:off x="502920" y="1005840"/>
            <a:ext cx="10969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165" name="Text 1"/>
          <p:cNvSpPr/>
          <p:nvPr/>
        </p:nvSpPr>
        <p:spPr>
          <a:xfrm>
            <a:off x="502920" y="41148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11111"/>
                </a:solidFill>
                <a:effectLst/>
                <a:uFillTx/>
                <a:latin typeface="IBM Plex Sans"/>
                <a:ea typeface="IBM Plex Sans"/>
              </a:rPr>
              <a:t>Attendance</a:t>
            </a:r>
            <a:endParaRPr lang="en-GB" sz="3200" b="0" u="none" strike="noStrike">
              <a:solidFill>
                <a:srgbClr val="000000"/>
              </a:solidFill>
              <a:effectLst/>
              <a:uFillTx/>
              <a:latin typeface="Arial"/>
            </a:endParaRPr>
          </a:p>
        </p:txBody>
      </p:sp>
      <p:sp>
        <p:nvSpPr>
          <p:cNvPr id="166" name="Text 2"/>
          <p:cNvSpPr/>
          <p:nvPr/>
        </p:nvSpPr>
        <p:spPr>
          <a:xfrm>
            <a:off x="502920" y="109728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5% OF YOUR GRADE</a:t>
            </a:r>
            <a:endParaRPr lang="en-GB" sz="1000" b="0" u="none" strike="noStrike">
              <a:solidFill>
                <a:srgbClr val="000000"/>
              </a:solidFill>
              <a:effectLst/>
              <a:uFillTx/>
              <a:latin typeface="Arial"/>
            </a:endParaRPr>
          </a:p>
        </p:txBody>
      </p:sp>
      <p:sp>
        <p:nvSpPr>
          <p:cNvPr id="167" name="Text 3"/>
          <p:cNvSpPr/>
          <p:nvPr/>
        </p:nvSpPr>
        <p:spPr>
          <a:xfrm>
            <a:off x="502920" y="1325880"/>
            <a:ext cx="1115532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111111"/>
                </a:solidFill>
                <a:effectLst/>
                <a:uFillTx/>
                <a:latin typeface="IBM Plex Sans"/>
                <a:ea typeface="IBM Plex Sans"/>
              </a:rPr>
              <a:t>Attendance is recorded at my discretion. Showing up matters — not just for the grade, but because programming is hard to learn passively.</a:t>
            </a:r>
            <a:endParaRPr lang="en-GB" sz="1500" b="0" u="none" strike="noStrike">
              <a:solidFill>
                <a:srgbClr val="000000"/>
              </a:solidFill>
              <a:effectLst/>
              <a:uFillTx/>
              <a:latin typeface="Arial"/>
            </a:endParaRPr>
          </a:p>
        </p:txBody>
      </p:sp>
      <p:sp>
        <p:nvSpPr>
          <p:cNvPr id="168" name="Text 4"/>
          <p:cNvSpPr/>
          <p:nvPr/>
        </p:nvSpPr>
        <p:spPr>
          <a:xfrm>
            <a:off x="502920" y="210312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LECTURE ABSENCES</a:t>
            </a:r>
            <a:endParaRPr lang="en-GB" sz="1000" b="0" u="none" strike="noStrike">
              <a:solidFill>
                <a:srgbClr val="000000"/>
              </a:solidFill>
              <a:effectLst/>
              <a:uFillTx/>
              <a:latin typeface="Arial"/>
            </a:endParaRPr>
          </a:p>
        </p:txBody>
      </p:sp>
      <p:sp>
        <p:nvSpPr>
          <p:cNvPr id="169" name="Text 5"/>
          <p:cNvSpPr/>
          <p:nvPr/>
        </p:nvSpPr>
        <p:spPr>
          <a:xfrm>
            <a:off x="502920" y="235908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You may miss up to 3 lectures without penalty. A 4th unexcused absence costs you all lecture attendance credit for the semester.</a:t>
            </a:r>
            <a:endParaRPr lang="en-GB" sz="1300" b="0" u="none" strike="noStrike">
              <a:solidFill>
                <a:srgbClr val="000000"/>
              </a:solidFill>
              <a:effectLst/>
              <a:uFillTx/>
              <a:latin typeface="Arial"/>
            </a:endParaRPr>
          </a:p>
        </p:txBody>
      </p:sp>
      <p:sp>
        <p:nvSpPr>
          <p:cNvPr id="170" name="Text 6"/>
          <p:cNvSpPr/>
          <p:nvPr/>
        </p:nvSpPr>
        <p:spPr>
          <a:xfrm>
            <a:off x="502920" y="312732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LAB ABSENCES</a:t>
            </a:r>
            <a:endParaRPr lang="en-GB" sz="1000" b="0" u="none" strike="noStrike">
              <a:solidFill>
                <a:srgbClr val="000000"/>
              </a:solidFill>
              <a:effectLst/>
              <a:uFillTx/>
              <a:latin typeface="Arial"/>
            </a:endParaRPr>
          </a:p>
        </p:txBody>
      </p:sp>
      <p:sp>
        <p:nvSpPr>
          <p:cNvPr id="171" name="Text 7"/>
          <p:cNvSpPr/>
          <p:nvPr/>
        </p:nvSpPr>
        <p:spPr>
          <a:xfrm>
            <a:off x="502920" y="338328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Same threshold: 3 unexcused lab absences before you lose all lab credit. Labs and lectures are tracked separately.</a:t>
            </a:r>
            <a:endParaRPr lang="en-GB" sz="1300" b="0" u="none" strike="noStrike">
              <a:solidFill>
                <a:srgbClr val="000000"/>
              </a:solidFill>
              <a:effectLst/>
              <a:uFillTx/>
              <a:latin typeface="Arial"/>
            </a:endParaRPr>
          </a:p>
        </p:txBody>
      </p:sp>
      <p:sp>
        <p:nvSpPr>
          <p:cNvPr id="172" name="Text 8"/>
          <p:cNvSpPr/>
          <p:nvPr/>
        </p:nvSpPr>
        <p:spPr>
          <a:xfrm>
            <a:off x="502920" y="415152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LATE ARRIVALS</a:t>
            </a:r>
            <a:endParaRPr lang="en-GB" sz="1000" b="0" u="none" strike="noStrike">
              <a:solidFill>
                <a:srgbClr val="000000"/>
              </a:solidFill>
              <a:effectLst/>
              <a:uFillTx/>
              <a:latin typeface="Arial"/>
            </a:endParaRPr>
          </a:p>
        </p:txBody>
      </p:sp>
      <p:sp>
        <p:nvSpPr>
          <p:cNvPr id="173" name="Text 9"/>
          <p:cNvSpPr/>
          <p:nvPr/>
        </p:nvSpPr>
        <p:spPr>
          <a:xfrm>
            <a:off x="502920" y="440748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Arriving more than 15 minutes late counts as an absence. Plan accordingly.</a:t>
            </a:r>
            <a:endParaRPr lang="en-GB" sz="1300" b="0" u="none" strike="noStrike">
              <a:solidFill>
                <a:srgbClr val="000000"/>
              </a:solidFill>
              <a:effectLst/>
              <a:uFillTx/>
              <a:latin typeface="Arial"/>
            </a:endParaRPr>
          </a:p>
        </p:txBody>
      </p:sp>
      <p:sp>
        <p:nvSpPr>
          <p:cNvPr id="174" name="Text 10"/>
          <p:cNvSpPr/>
          <p:nvPr/>
        </p:nvSpPr>
        <p:spPr>
          <a:xfrm>
            <a:off x="502920" y="517536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EXCUSED ABSENCES</a:t>
            </a:r>
            <a:endParaRPr lang="en-GB" sz="1000" b="0" u="none" strike="noStrike">
              <a:solidFill>
                <a:srgbClr val="000000"/>
              </a:solidFill>
              <a:effectLst/>
              <a:uFillTx/>
              <a:latin typeface="Arial"/>
            </a:endParaRPr>
          </a:p>
        </p:txBody>
      </p:sp>
      <p:sp>
        <p:nvSpPr>
          <p:cNvPr id="175" name="Text 11"/>
          <p:cNvSpPr/>
          <p:nvPr/>
        </p:nvSpPr>
        <p:spPr>
          <a:xfrm>
            <a:off x="502920" y="543168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Medical reasons, family emergencies, religious observance, and other qualified circumstances can be excused. Submit through the Office of Student Advocacy. Attendance credit is waived once I receive the accommodation request.</a:t>
            </a:r>
            <a:endParaRPr lang="en-GB"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6" name="Shape 0"/>
          <p:cNvSpPr/>
          <p:nvPr/>
        </p:nvSpPr>
        <p:spPr>
          <a:xfrm>
            <a:off x="502920" y="1005840"/>
            <a:ext cx="10969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177" name="Text 1"/>
          <p:cNvSpPr/>
          <p:nvPr/>
        </p:nvSpPr>
        <p:spPr>
          <a:xfrm>
            <a:off x="502920" y="41148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11111"/>
                </a:solidFill>
                <a:effectLst/>
                <a:uFillTx/>
                <a:latin typeface="IBM Plex Sans"/>
                <a:ea typeface="IBM Plex Sans"/>
              </a:rPr>
              <a:t>Homework</a:t>
            </a:r>
            <a:endParaRPr lang="en-GB" sz="3200" b="0" u="none" strike="noStrike">
              <a:solidFill>
                <a:srgbClr val="000000"/>
              </a:solidFill>
              <a:effectLst/>
              <a:uFillTx/>
              <a:latin typeface="Arial"/>
            </a:endParaRPr>
          </a:p>
        </p:txBody>
      </p:sp>
      <p:sp>
        <p:nvSpPr>
          <p:cNvPr id="178" name="Text 2"/>
          <p:cNvSpPr/>
          <p:nvPr/>
        </p:nvSpPr>
        <p:spPr>
          <a:xfrm>
            <a:off x="502920" y="109728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0% OF YOUR GRADE — BUT DO IT ANYWAY</a:t>
            </a:r>
            <a:endParaRPr lang="en-GB" sz="1000" b="0" u="none" strike="noStrike">
              <a:solidFill>
                <a:srgbClr val="000000"/>
              </a:solidFill>
              <a:effectLst/>
              <a:uFillTx/>
              <a:latin typeface="Arial"/>
            </a:endParaRPr>
          </a:p>
        </p:txBody>
      </p:sp>
      <p:sp>
        <p:nvSpPr>
          <p:cNvPr id="179" name="Text 3"/>
          <p:cNvSpPr/>
          <p:nvPr/>
        </p:nvSpPr>
        <p:spPr>
          <a:xfrm>
            <a:off x="502920" y="132588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111111"/>
                </a:solidFill>
                <a:effectLst/>
                <a:uFillTx/>
                <a:latin typeface="IBM Plex Sans"/>
                <a:ea typeface="IBM Plex Sans"/>
              </a:rPr>
              <a:t>Homework assignments are strongly encouraged throughout the semester. They won't affect your grade, but they will affect how prepared you are for the exams that do.</a:t>
            </a:r>
            <a:endParaRPr lang="en-GB" sz="1500" b="0" u="none" strike="noStrike">
              <a:solidFill>
                <a:srgbClr val="000000"/>
              </a:solidFill>
              <a:effectLst/>
              <a:uFillTx/>
              <a:latin typeface="Arial"/>
            </a:endParaRPr>
          </a:p>
        </p:txBody>
      </p:sp>
      <p:sp>
        <p:nvSpPr>
          <p:cNvPr id="180" name="Text 4"/>
          <p:cNvSpPr/>
          <p:nvPr/>
        </p:nvSpPr>
        <p:spPr>
          <a:xfrm>
            <a:off x="502920" y="214884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HOW IT WORKS</a:t>
            </a:r>
            <a:endParaRPr lang="en-GB" sz="1000" b="0" u="none" strike="noStrike">
              <a:solidFill>
                <a:srgbClr val="000000"/>
              </a:solidFill>
              <a:effectLst/>
              <a:uFillTx/>
              <a:latin typeface="Arial"/>
            </a:endParaRPr>
          </a:p>
        </p:txBody>
      </p:sp>
      <p:sp>
        <p:nvSpPr>
          <p:cNvPr id="181" name="Text 5"/>
          <p:cNvSpPr/>
          <p:nvPr/>
        </p:nvSpPr>
        <p:spPr>
          <a:xfrm>
            <a:off x="502920" y="240480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Submit your work and a CA will review it and assign a non-counting grade based on correctness and whether you followed the requirements.</a:t>
            </a:r>
            <a:endParaRPr lang="en-GB" sz="1300" b="0" u="none" strike="noStrike">
              <a:solidFill>
                <a:srgbClr val="000000"/>
              </a:solidFill>
              <a:effectLst/>
              <a:uFillTx/>
              <a:latin typeface="Arial"/>
            </a:endParaRPr>
          </a:p>
        </p:txBody>
      </p:sp>
      <p:sp>
        <p:nvSpPr>
          <p:cNvPr id="182" name="Text 6"/>
          <p:cNvSpPr/>
          <p:nvPr/>
        </p:nvSpPr>
        <p:spPr>
          <a:xfrm>
            <a:off x="502920" y="315468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FEEDBACK</a:t>
            </a:r>
            <a:endParaRPr lang="en-GB" sz="1000" b="0" u="none" strike="noStrike">
              <a:solidFill>
                <a:srgbClr val="000000"/>
              </a:solidFill>
              <a:effectLst/>
              <a:uFillTx/>
              <a:latin typeface="Arial"/>
            </a:endParaRPr>
          </a:p>
        </p:txBody>
      </p:sp>
      <p:sp>
        <p:nvSpPr>
          <p:cNvPr id="183" name="Text 7"/>
          <p:cNvSpPr/>
          <p:nvPr/>
        </p:nvSpPr>
        <p:spPr>
          <a:xfrm>
            <a:off x="502920" y="341064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This is one of the best ways to get substantive feedback on your code before it counts. Use it.</a:t>
            </a:r>
            <a:endParaRPr lang="en-GB" sz="1300" b="0" u="none" strike="noStrike">
              <a:solidFill>
                <a:srgbClr val="000000"/>
              </a:solidFill>
              <a:effectLst/>
              <a:uFillTx/>
              <a:latin typeface="Arial"/>
            </a:endParaRPr>
          </a:p>
        </p:txBody>
      </p:sp>
      <p:sp>
        <p:nvSpPr>
          <p:cNvPr id="184" name="Text 8"/>
          <p:cNvSpPr/>
          <p:nvPr/>
        </p:nvSpPr>
        <p:spPr>
          <a:xfrm>
            <a:off x="502920" y="416052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GETTING HELP</a:t>
            </a:r>
            <a:endParaRPr lang="en-GB" sz="1000" b="0" u="none" strike="noStrike">
              <a:solidFill>
                <a:srgbClr val="000000"/>
              </a:solidFill>
              <a:effectLst/>
              <a:uFillTx/>
              <a:latin typeface="Arial"/>
            </a:endParaRPr>
          </a:p>
        </p:txBody>
      </p:sp>
      <p:sp>
        <p:nvSpPr>
          <p:cNvPr id="185" name="Text 9"/>
          <p:cNvSpPr/>
          <p:nvPr/>
        </p:nvSpPr>
        <p:spPr>
          <a:xfrm>
            <a:off x="502920" y="441648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If you're stuck, go to CA office hours first — don't expect them to tell you if your solution is right on Ed Stem.</a:t>
            </a:r>
            <a:endParaRPr lang="en-GB" sz="1300" b="0" u="none" strike="noStrike">
              <a:solidFill>
                <a:srgbClr val="000000"/>
              </a:solidFill>
              <a:effectLst/>
              <a:uFillTx/>
              <a:latin typeface="Arial"/>
            </a:endParaRPr>
          </a:p>
        </p:txBody>
      </p:sp>
      <p:sp>
        <p:nvSpPr>
          <p:cNvPr id="186" name="Text 10"/>
          <p:cNvSpPr/>
          <p:nvPr/>
        </p:nvSpPr>
        <p:spPr>
          <a:xfrm>
            <a:off x="502920" y="516636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ACADEMIC INTEGRITY</a:t>
            </a:r>
            <a:endParaRPr lang="en-GB" sz="1000" b="0" u="none" strike="noStrike">
              <a:solidFill>
                <a:srgbClr val="000000"/>
              </a:solidFill>
              <a:effectLst/>
              <a:uFillTx/>
              <a:latin typeface="Arial"/>
            </a:endParaRPr>
          </a:p>
        </p:txBody>
      </p:sp>
      <p:sp>
        <p:nvSpPr>
          <p:cNvPr id="187" name="Text 11"/>
          <p:cNvSpPr/>
          <p:nvPr/>
        </p:nvSpPr>
        <p:spPr>
          <a:xfrm>
            <a:off x="502920" y="5422320"/>
            <a:ext cx="111553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Even though homework is ungraded, do your own work. The goal is to build the skills that will carry you through the exams.</a:t>
            </a:r>
            <a:endParaRPr lang="en-GB"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8" name="Shape 0"/>
          <p:cNvSpPr/>
          <p:nvPr/>
        </p:nvSpPr>
        <p:spPr>
          <a:xfrm>
            <a:off x="502920" y="1005840"/>
            <a:ext cx="10969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189" name="Text 1"/>
          <p:cNvSpPr/>
          <p:nvPr/>
        </p:nvSpPr>
        <p:spPr>
          <a:xfrm>
            <a:off x="502920" y="41148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11111"/>
                </a:solidFill>
                <a:effectLst/>
                <a:uFillTx/>
                <a:latin typeface="IBM Plex Sans"/>
                <a:ea typeface="IBM Plex Sans"/>
              </a:rPr>
              <a:t>Key Policies</a:t>
            </a:r>
            <a:endParaRPr lang="en-GB" sz="3200" b="0" u="none" strike="noStrike">
              <a:solidFill>
                <a:srgbClr val="000000"/>
              </a:solidFill>
              <a:effectLst/>
              <a:uFillTx/>
              <a:latin typeface="Arial"/>
            </a:endParaRPr>
          </a:p>
        </p:txBody>
      </p:sp>
      <p:sp>
        <p:nvSpPr>
          <p:cNvPr id="190" name="Text 2"/>
          <p:cNvSpPr/>
          <p:nvPr/>
        </p:nvSpPr>
        <p:spPr>
          <a:xfrm>
            <a:off x="502920" y="141732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NO PHONES</a:t>
            </a:r>
            <a:endParaRPr lang="en-GB" sz="1000" b="0" u="none" strike="noStrike">
              <a:solidFill>
                <a:srgbClr val="000000"/>
              </a:solidFill>
              <a:effectLst/>
              <a:uFillTx/>
              <a:latin typeface="Arial"/>
            </a:endParaRPr>
          </a:p>
        </p:txBody>
      </p:sp>
      <p:sp>
        <p:nvSpPr>
          <p:cNvPr id="191" name="Text 3"/>
          <p:cNvSpPr/>
          <p:nvPr/>
        </p:nvSpPr>
        <p:spPr>
          <a:xfrm>
            <a:off x="502920" y="1691640"/>
            <a:ext cx="1115532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444444"/>
                </a:solidFill>
                <a:effectLst/>
                <a:uFillTx/>
                <a:latin typeface="IBM Plex Sans"/>
                <a:ea typeface="IBM Plex Sans"/>
              </a:rPr>
              <a:t>I know your attention span is already gone (mine too, honestly). Phones away during lecture and lab anyway. Repeated use may get you marked absent, and phone use during assessments is an academic integrity violation.</a:t>
            </a:r>
            <a:endParaRPr lang="en-GB" sz="1400" b="0" u="none" strike="noStrike">
              <a:solidFill>
                <a:srgbClr val="000000"/>
              </a:solidFill>
              <a:effectLst/>
              <a:uFillTx/>
              <a:latin typeface="Arial"/>
            </a:endParaRPr>
          </a:p>
        </p:txBody>
      </p:sp>
      <p:sp>
        <p:nvSpPr>
          <p:cNvPr id="192" name="Shape 4"/>
          <p:cNvSpPr/>
          <p:nvPr/>
        </p:nvSpPr>
        <p:spPr>
          <a:xfrm>
            <a:off x="502920" y="2514600"/>
            <a:ext cx="11155320" cy="8640"/>
          </a:xfrm>
          <a:prstGeom prst="rect">
            <a:avLst/>
          </a:prstGeom>
          <a:solidFill>
            <a:srgbClr val="F4F4F4"/>
          </a:solidFill>
          <a:ln w="0">
            <a:noFill/>
          </a:ln>
        </p:spPr>
        <p:style>
          <a:lnRef idx="0"/>
          <a:fillRef idx="0"/>
          <a:effectRef idx="0"/>
          <a:fontRef idx="minor"/>
        </p:style>
        <p:txBody>
          <a:bodyPr lIns="90000" tIns="-36000" rIns="90000" bIns="-36000" anchor="t">
            <a:noAutofit/>
          </a:bodyPr>
          <a:p>
            <a:endParaRPr lang="en-GB" sz="1800" b="0" u="none" strike="noStrike">
              <a:solidFill>
                <a:srgbClr val="000000"/>
              </a:solidFill>
              <a:effectLst/>
              <a:uFillTx/>
              <a:latin typeface="Arial"/>
            </a:endParaRPr>
          </a:p>
        </p:txBody>
      </p:sp>
      <p:sp>
        <p:nvSpPr>
          <p:cNvPr id="193" name="Text 5"/>
          <p:cNvSpPr/>
          <p:nvPr/>
        </p:nvSpPr>
        <p:spPr>
          <a:xfrm>
            <a:off x="502920" y="265176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AI TOOLS</a:t>
            </a:r>
            <a:endParaRPr lang="en-GB" sz="1000" b="0" u="none" strike="noStrike">
              <a:solidFill>
                <a:srgbClr val="000000"/>
              </a:solidFill>
              <a:effectLst/>
              <a:uFillTx/>
              <a:latin typeface="Arial"/>
            </a:endParaRPr>
          </a:p>
        </p:txBody>
      </p:sp>
      <p:sp>
        <p:nvSpPr>
          <p:cNvPr id="194" name="Text 6"/>
          <p:cNvSpPr/>
          <p:nvPr/>
        </p:nvSpPr>
        <p:spPr>
          <a:xfrm>
            <a:off x="502920" y="2926080"/>
            <a:ext cx="1115532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444444"/>
                </a:solidFill>
                <a:effectLst/>
                <a:uFillTx/>
                <a:latin typeface="IBM Plex Sans"/>
                <a:ea typeface="IBM Plex Sans"/>
              </a:rPr>
              <a:t>Yes, I know these exist too. Using ChatGPT or similar tools on graded work (unless I say so) is academic misconduct. Using them to brainstorm before you write is fine. Submitting their output as yours is not.</a:t>
            </a:r>
            <a:endParaRPr lang="en-GB" sz="1400" b="0" u="none" strike="noStrike">
              <a:solidFill>
                <a:srgbClr val="000000"/>
              </a:solidFill>
              <a:effectLst/>
              <a:uFillTx/>
              <a:latin typeface="Arial"/>
            </a:endParaRPr>
          </a:p>
        </p:txBody>
      </p:sp>
      <p:sp>
        <p:nvSpPr>
          <p:cNvPr id="195" name="Shape 7"/>
          <p:cNvSpPr/>
          <p:nvPr/>
        </p:nvSpPr>
        <p:spPr>
          <a:xfrm>
            <a:off x="502920" y="3749040"/>
            <a:ext cx="11155320" cy="8640"/>
          </a:xfrm>
          <a:prstGeom prst="rect">
            <a:avLst/>
          </a:prstGeom>
          <a:solidFill>
            <a:srgbClr val="F4F4F4"/>
          </a:solidFill>
          <a:ln w="0">
            <a:noFill/>
          </a:ln>
        </p:spPr>
        <p:style>
          <a:lnRef idx="0"/>
          <a:fillRef idx="0"/>
          <a:effectRef idx="0"/>
          <a:fontRef idx="minor"/>
        </p:style>
        <p:txBody>
          <a:bodyPr lIns="90000" tIns="-36000" rIns="90000" bIns="-36000" anchor="t">
            <a:noAutofit/>
          </a:bodyPr>
          <a:p>
            <a:endParaRPr lang="en-GB" sz="1800" b="0" u="none" strike="noStrike">
              <a:solidFill>
                <a:srgbClr val="000000"/>
              </a:solidFill>
              <a:effectLst/>
              <a:uFillTx/>
              <a:latin typeface="Arial"/>
            </a:endParaRPr>
          </a:p>
        </p:txBody>
      </p:sp>
      <p:sp>
        <p:nvSpPr>
          <p:cNvPr id="196" name="Text 8"/>
          <p:cNvSpPr/>
          <p:nvPr/>
        </p:nvSpPr>
        <p:spPr>
          <a:xfrm>
            <a:off x="502920" y="388620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ATTENDANCE</a:t>
            </a:r>
            <a:endParaRPr lang="en-GB" sz="1000" b="0" u="none" strike="noStrike">
              <a:solidFill>
                <a:srgbClr val="000000"/>
              </a:solidFill>
              <a:effectLst/>
              <a:uFillTx/>
              <a:latin typeface="Arial"/>
            </a:endParaRPr>
          </a:p>
        </p:txBody>
      </p:sp>
      <p:sp>
        <p:nvSpPr>
          <p:cNvPr id="197" name="Text 9"/>
          <p:cNvSpPr/>
          <p:nvPr/>
        </p:nvSpPr>
        <p:spPr>
          <a:xfrm>
            <a:off x="502920" y="4160520"/>
            <a:ext cx="1115532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444444"/>
                </a:solidFill>
                <a:effectLst/>
                <a:uFillTx/>
                <a:latin typeface="IBM Plex Sans"/>
                <a:ea typeface="IBM Plex Sans"/>
              </a:rPr>
              <a:t>Life happens, which is why you get 3 unexcused absences for lecture and 3 for labs before you lose credit. More than 15 minutes late counts as absent. Anything beyond that goes through the Office of Student Advocacy.</a:t>
            </a:r>
            <a:endParaRPr lang="en-GB" sz="1400" b="0" u="none" strike="noStrike">
              <a:solidFill>
                <a:srgbClr val="000000"/>
              </a:solidFill>
              <a:effectLst/>
              <a:uFillTx/>
              <a:latin typeface="Arial"/>
            </a:endParaRPr>
          </a:p>
        </p:txBody>
      </p:sp>
      <p:sp>
        <p:nvSpPr>
          <p:cNvPr id="198" name="Shape 10"/>
          <p:cNvSpPr/>
          <p:nvPr/>
        </p:nvSpPr>
        <p:spPr>
          <a:xfrm>
            <a:off x="502920" y="4983480"/>
            <a:ext cx="11155320" cy="8640"/>
          </a:xfrm>
          <a:prstGeom prst="rect">
            <a:avLst/>
          </a:prstGeom>
          <a:solidFill>
            <a:srgbClr val="F4F4F4"/>
          </a:solidFill>
          <a:ln w="0">
            <a:noFill/>
          </a:ln>
        </p:spPr>
        <p:style>
          <a:lnRef idx="0"/>
          <a:fillRef idx="0"/>
          <a:effectRef idx="0"/>
          <a:fontRef idx="minor"/>
        </p:style>
        <p:txBody>
          <a:bodyPr lIns="90000" tIns="-36000" rIns="90000" bIns="-36000" anchor="t">
            <a:noAutofit/>
          </a:bodyPr>
          <a:p>
            <a:endParaRPr lang="en-GB" sz="1800" b="0" u="none" strike="noStrike">
              <a:solidFill>
                <a:srgbClr val="000000"/>
              </a:solidFill>
              <a:effectLst/>
              <a:uFillTx/>
              <a:latin typeface="Arial"/>
            </a:endParaRPr>
          </a:p>
        </p:txBody>
      </p:sp>
      <p:sp>
        <p:nvSpPr>
          <p:cNvPr id="199" name="Text 11"/>
          <p:cNvSpPr/>
          <p:nvPr/>
        </p:nvSpPr>
        <p:spPr>
          <a:xfrm>
            <a:off x="502920" y="512064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ACADEMIC INTEGRITY</a:t>
            </a:r>
            <a:endParaRPr lang="en-GB" sz="1000" b="0" u="none" strike="noStrike">
              <a:solidFill>
                <a:srgbClr val="000000"/>
              </a:solidFill>
              <a:effectLst/>
              <a:uFillTx/>
              <a:latin typeface="Arial"/>
            </a:endParaRPr>
          </a:p>
        </p:txBody>
      </p:sp>
      <p:sp>
        <p:nvSpPr>
          <p:cNvPr id="200" name="Text 12"/>
          <p:cNvSpPr/>
          <p:nvPr/>
        </p:nvSpPr>
        <p:spPr>
          <a:xfrm>
            <a:off x="502920" y="5394960"/>
            <a:ext cx="1115532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444444"/>
                </a:solidFill>
                <a:effectLst/>
                <a:uFillTx/>
                <a:latin typeface="IBM Plex Sans"/>
                <a:ea typeface="IBM Plex Sans"/>
              </a:rPr>
              <a:t>Programming together is fun. Submitting the same code is not collaboration, it's misconduct. Keep your work yours, and don't post homework code on Ed Stem. I pursue all cases.</a:t>
            </a:r>
            <a:endParaRPr lang="en-GB"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1" name="Shape 0"/>
          <p:cNvSpPr/>
          <p:nvPr/>
        </p:nvSpPr>
        <p:spPr>
          <a:xfrm>
            <a:off x="502920" y="1005840"/>
            <a:ext cx="10969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202" name="Text 1"/>
          <p:cNvSpPr/>
          <p:nvPr/>
        </p:nvSpPr>
        <p:spPr>
          <a:xfrm>
            <a:off x="502920" y="41148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11111"/>
                </a:solidFill>
                <a:effectLst/>
                <a:uFillTx/>
                <a:latin typeface="IBM Plex Sans"/>
                <a:ea typeface="IBM Plex Sans"/>
              </a:rPr>
              <a:t>Textbook &amp; Software</a:t>
            </a:r>
            <a:endParaRPr lang="en-GB" sz="3200" b="0" u="none" strike="noStrike">
              <a:solidFill>
                <a:srgbClr val="000000"/>
              </a:solidFill>
              <a:effectLst/>
              <a:uFillTx/>
              <a:latin typeface="Arial"/>
            </a:endParaRPr>
          </a:p>
        </p:txBody>
      </p:sp>
      <p:sp>
        <p:nvSpPr>
          <p:cNvPr id="203" name="Shape 2"/>
          <p:cNvSpPr/>
          <p:nvPr/>
        </p:nvSpPr>
        <p:spPr>
          <a:xfrm>
            <a:off x="502920" y="1417320"/>
            <a:ext cx="5303160" cy="320004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04" name="Text 3"/>
          <p:cNvSpPr/>
          <p:nvPr/>
        </p:nvSpPr>
        <p:spPr>
          <a:xfrm>
            <a:off x="777240" y="162756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TEXTBOOK</a:t>
            </a:r>
            <a:endParaRPr lang="en-GB" sz="1000" b="0" u="none" strike="noStrike">
              <a:solidFill>
                <a:srgbClr val="000000"/>
              </a:solidFill>
              <a:effectLst/>
              <a:uFillTx/>
              <a:latin typeface="Arial"/>
            </a:endParaRPr>
          </a:p>
        </p:txBody>
      </p:sp>
      <p:sp>
        <p:nvSpPr>
          <p:cNvPr id="205" name="Text 4"/>
          <p:cNvSpPr/>
          <p:nvPr/>
        </p:nvSpPr>
        <p:spPr>
          <a:xfrm>
            <a:off x="777240" y="192024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11111"/>
                </a:solidFill>
                <a:effectLst/>
                <a:uFillTx/>
                <a:latin typeface="IBM Plex Sans"/>
                <a:ea typeface="IBM Plex Sans"/>
              </a:rPr>
              <a:t>Rephactor Python</a:t>
            </a:r>
            <a:endParaRPr lang="en-GB" sz="2000" b="0" u="none" strike="noStrike">
              <a:solidFill>
                <a:srgbClr val="000000"/>
              </a:solidFill>
              <a:effectLst/>
              <a:uFillTx/>
              <a:latin typeface="Arial"/>
            </a:endParaRPr>
          </a:p>
        </p:txBody>
      </p:sp>
      <p:sp>
        <p:nvSpPr>
          <p:cNvPr id="206" name="Text 5"/>
          <p:cNvSpPr/>
          <p:nvPr/>
        </p:nvSpPr>
        <p:spPr>
          <a:xfrm>
            <a:off x="777240" y="2468880"/>
            <a:ext cx="475452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444444"/>
                </a:solidFill>
                <a:effectLst/>
                <a:uFillTx/>
                <a:latin typeface="IBM Plex Sans"/>
                <a:ea typeface="IBM Plex Sans"/>
              </a:rPr>
              <a:t>$48, purchased directly at rephactor.com</a:t>
            </a:r>
            <a:endParaRPr lang="en-GB"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444444"/>
                </a:solidFill>
                <a:effectLst/>
                <a:uFillTx/>
                <a:latin typeface="IBM Plex Sans"/>
                <a:ea typeface="IBM Plex Sans"/>
              </a:rPr>
              <a:t>Register with your NYU email address</a:t>
            </a:r>
            <a:endParaRPr lang="en-GB"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444444"/>
                </a:solidFill>
                <a:effectLst/>
                <a:uFillTx/>
                <a:latin typeface="IBM Plex Sans"/>
                <a:ea typeface="IBM Plex Sans"/>
              </a:rPr>
              <a:t>Your professor will send you a course code</a:t>
            </a:r>
            <a:endParaRPr lang="en-GB" sz="1400" b="0" u="none" strike="noStrike">
              <a:solidFill>
                <a:srgbClr val="000000"/>
              </a:solidFill>
              <a:effectLst/>
              <a:uFillTx/>
              <a:latin typeface="Arial"/>
            </a:endParaRPr>
          </a:p>
        </p:txBody>
      </p:sp>
      <p:sp>
        <p:nvSpPr>
          <p:cNvPr id="207" name="Text 6"/>
          <p:cNvSpPr/>
          <p:nvPr/>
        </p:nvSpPr>
        <p:spPr>
          <a:xfrm>
            <a:off x="777240" y="3520440"/>
            <a:ext cx="475452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444444"/>
                </a:solidFill>
                <a:effectLst/>
                <a:uFillTx/>
                <a:latin typeface="IBM Plex Mono"/>
                <a:ea typeface="IBM Plex Mono"/>
              </a:rPr>
              <a:t>Quick Checks due by 8 AM day-of</a:t>
            </a:r>
            <a:endParaRPr lang="en-GB"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444444"/>
                </a:solidFill>
                <a:effectLst/>
                <a:uFillTx/>
                <a:latin typeface="IBM Plex Mono"/>
                <a:ea typeface="IBM Plex Mono"/>
              </a:rPr>
              <a:t>Exercise Sets due by 9 AM day-after</a:t>
            </a:r>
            <a:endParaRPr lang="en-GB" sz="1100" b="0" u="none" strike="noStrike">
              <a:solidFill>
                <a:srgbClr val="000000"/>
              </a:solidFill>
              <a:effectLst/>
              <a:uFillTx/>
              <a:latin typeface="Arial"/>
            </a:endParaRPr>
          </a:p>
        </p:txBody>
      </p:sp>
      <p:sp>
        <p:nvSpPr>
          <p:cNvPr id="208" name="Shape 7"/>
          <p:cNvSpPr/>
          <p:nvPr/>
        </p:nvSpPr>
        <p:spPr>
          <a:xfrm>
            <a:off x="6355080" y="1417320"/>
            <a:ext cx="5303160" cy="320004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09" name="Text 8"/>
          <p:cNvSpPr/>
          <p:nvPr/>
        </p:nvSpPr>
        <p:spPr>
          <a:xfrm>
            <a:off x="6629400" y="162756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SOFTWARE</a:t>
            </a:r>
            <a:endParaRPr lang="en-GB" sz="1000" b="0" u="none" strike="noStrike">
              <a:solidFill>
                <a:srgbClr val="000000"/>
              </a:solidFill>
              <a:effectLst/>
              <a:uFillTx/>
              <a:latin typeface="Arial"/>
            </a:endParaRPr>
          </a:p>
        </p:txBody>
      </p:sp>
      <p:sp>
        <p:nvSpPr>
          <p:cNvPr id="210" name="Text 9"/>
          <p:cNvSpPr/>
          <p:nvPr/>
        </p:nvSpPr>
        <p:spPr>
          <a:xfrm>
            <a:off x="6629400" y="192024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11111"/>
                </a:solidFill>
                <a:effectLst/>
                <a:uFillTx/>
                <a:latin typeface="IBM Plex Sans"/>
                <a:ea typeface="IBM Plex Sans"/>
              </a:rPr>
              <a:t>Python 3</a:t>
            </a:r>
            <a:endParaRPr lang="en-GB" sz="2000" b="0" u="none" strike="noStrike">
              <a:solidFill>
                <a:srgbClr val="000000"/>
              </a:solidFill>
              <a:effectLst/>
              <a:uFillTx/>
              <a:latin typeface="Arial"/>
            </a:endParaRPr>
          </a:p>
        </p:txBody>
      </p:sp>
      <p:sp>
        <p:nvSpPr>
          <p:cNvPr id="211" name="Text 10"/>
          <p:cNvSpPr/>
          <p:nvPr/>
        </p:nvSpPr>
        <p:spPr>
          <a:xfrm>
            <a:off x="6629400" y="2468880"/>
            <a:ext cx="475452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444444"/>
                </a:solidFill>
                <a:effectLst/>
                <a:uFillTx/>
                <a:latin typeface="IBM Plex Sans"/>
                <a:ea typeface="IBM Plex Sans"/>
              </a:rPr>
              <a:t>Any Python editor works:</a:t>
            </a:r>
            <a:endParaRPr lang="en-GB"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444444"/>
                </a:solidFill>
                <a:effectLst/>
                <a:uFillTx/>
                <a:latin typeface="IBM Plex Sans"/>
                <a:ea typeface="IBM Plex Sans"/>
              </a:rPr>
              <a:t>IDLE  ·  PyCharm  ·  Thonny</a:t>
            </a:r>
            <a:endParaRPr lang="en-GB" sz="1400" b="0" u="none" strike="noStrike">
              <a:solidFill>
                <a:srgbClr val="000000"/>
              </a:solidFill>
              <a:effectLst/>
              <a:uFillTx/>
              <a:latin typeface="Arial"/>
            </a:endParaRPr>
          </a:p>
          <a:p>
            <a:pPr defTabSz="914400">
              <a:lnSpc>
                <a:spcPct val="100000"/>
              </a:lnSpc>
              <a:tabLst>
                <a:tab pos="0" algn="l"/>
              </a:tabLst>
            </a:pPr>
            <a:endParaRPr lang="en-GB"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444444"/>
                </a:solidFill>
                <a:effectLst/>
                <a:uFillTx/>
                <a:latin typeface="IBM Plex Sans"/>
                <a:ea typeface="IBM Plex Sans"/>
              </a:rPr>
              <a:t>Some editors bundle the compiler;</a:t>
            </a:r>
            <a:endParaRPr lang="en-GB"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444444"/>
                </a:solidFill>
                <a:effectLst/>
                <a:uFillTx/>
                <a:latin typeface="IBM Plex Sans"/>
                <a:ea typeface="IBM Plex Sans"/>
              </a:rPr>
              <a:t>check your editor's install instructions.</a:t>
            </a:r>
            <a:endParaRPr lang="en-GB"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2" name="Shape 0"/>
          <p:cNvSpPr/>
          <p:nvPr/>
        </p:nvSpPr>
        <p:spPr>
          <a:xfrm>
            <a:off x="502920" y="1005840"/>
            <a:ext cx="10969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213" name="Text 1"/>
          <p:cNvSpPr/>
          <p:nvPr/>
        </p:nvSpPr>
        <p:spPr>
          <a:xfrm>
            <a:off x="502920" y="41148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11111"/>
                </a:solidFill>
                <a:effectLst/>
                <a:uFillTx/>
                <a:latin typeface="IBM Plex Sans"/>
                <a:ea typeface="IBM Plex Sans"/>
              </a:rPr>
              <a:t>Schedule at a Glance</a:t>
            </a:r>
            <a:endParaRPr lang="en-GB" sz="3200" b="0" u="none" strike="noStrike">
              <a:solidFill>
                <a:srgbClr val="000000"/>
              </a:solidFill>
              <a:effectLst/>
              <a:uFillTx/>
              <a:latin typeface="Arial"/>
            </a:endParaRPr>
          </a:p>
        </p:txBody>
      </p:sp>
      <p:sp>
        <p:nvSpPr>
          <p:cNvPr id="214" name="Text 2"/>
          <p:cNvSpPr/>
          <p:nvPr/>
        </p:nvSpPr>
        <p:spPr>
          <a:xfrm>
            <a:off x="502920" y="1097280"/>
            <a:ext cx="111553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999999"/>
                </a:solidFill>
                <a:effectLst/>
                <a:uFillTx/>
                <a:latin typeface="IBM Plex Sans"/>
                <a:ea typeface="IBM Plex Sans"/>
              </a:rPr>
              <a:t>16 weeks, subject to small adjustments</a:t>
            </a:r>
            <a:endParaRPr lang="en-GB" sz="1600" b="0" u="none" strike="noStrike">
              <a:solidFill>
                <a:srgbClr val="000000"/>
              </a:solidFill>
              <a:effectLst/>
              <a:uFillTx/>
              <a:latin typeface="Arial"/>
            </a:endParaRPr>
          </a:p>
        </p:txBody>
      </p:sp>
      <p:sp>
        <p:nvSpPr>
          <p:cNvPr id="215" name="Shape 3"/>
          <p:cNvSpPr/>
          <p:nvPr/>
        </p:nvSpPr>
        <p:spPr>
          <a:xfrm>
            <a:off x="502920" y="1417320"/>
            <a:ext cx="5303160" cy="42012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16" name="Text 4"/>
          <p:cNvSpPr/>
          <p:nvPr/>
        </p:nvSpPr>
        <p:spPr>
          <a:xfrm>
            <a:off x="640080" y="1490400"/>
            <a:ext cx="731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Wk 1–2</a:t>
            </a:r>
            <a:endParaRPr lang="en-GB" sz="1000" b="0" u="none" strike="noStrike">
              <a:solidFill>
                <a:srgbClr val="000000"/>
              </a:solidFill>
              <a:effectLst/>
              <a:uFillTx/>
              <a:latin typeface="Arial"/>
            </a:endParaRPr>
          </a:p>
        </p:txBody>
      </p:sp>
      <p:sp>
        <p:nvSpPr>
          <p:cNvPr id="217" name="Text 5"/>
          <p:cNvSpPr/>
          <p:nvPr/>
        </p:nvSpPr>
        <p:spPr>
          <a:xfrm>
            <a:off x="1508760" y="149040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11111"/>
                </a:solidFill>
                <a:effectLst/>
                <a:uFillTx/>
                <a:latin typeface="IBM Plex Sans"/>
                <a:ea typeface="IBM Plex Sans"/>
              </a:rPr>
              <a:t>Intro, variables, data types, operators</a:t>
            </a:r>
            <a:endParaRPr lang="en-GB" sz="1300" b="0" u="none" strike="noStrike">
              <a:solidFill>
                <a:srgbClr val="000000"/>
              </a:solidFill>
              <a:effectLst/>
              <a:uFillTx/>
              <a:latin typeface="Arial"/>
            </a:endParaRPr>
          </a:p>
        </p:txBody>
      </p:sp>
      <p:sp>
        <p:nvSpPr>
          <p:cNvPr id="218" name="Shape 6"/>
          <p:cNvSpPr/>
          <p:nvPr/>
        </p:nvSpPr>
        <p:spPr>
          <a:xfrm>
            <a:off x="6355080" y="1417320"/>
            <a:ext cx="5303160" cy="42012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19" name="Text 7"/>
          <p:cNvSpPr/>
          <p:nvPr/>
        </p:nvSpPr>
        <p:spPr>
          <a:xfrm>
            <a:off x="6492240" y="1490400"/>
            <a:ext cx="731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Wk 3–4</a:t>
            </a:r>
            <a:endParaRPr lang="en-GB" sz="1000" b="0" u="none" strike="noStrike">
              <a:solidFill>
                <a:srgbClr val="000000"/>
              </a:solidFill>
              <a:effectLst/>
              <a:uFillTx/>
              <a:latin typeface="Arial"/>
            </a:endParaRPr>
          </a:p>
        </p:txBody>
      </p:sp>
      <p:sp>
        <p:nvSpPr>
          <p:cNvPr id="220" name="Text 8"/>
          <p:cNvSpPr/>
          <p:nvPr/>
        </p:nvSpPr>
        <p:spPr>
          <a:xfrm>
            <a:off x="7360920" y="149040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11111"/>
                </a:solidFill>
                <a:effectLst/>
                <a:uFillTx/>
                <a:latin typeface="IBM Plex Sans"/>
                <a:ea typeface="IBM Plex Sans"/>
              </a:rPr>
              <a:t>Booleans, libraries, selection statements</a:t>
            </a:r>
            <a:endParaRPr lang="en-GB" sz="1300" b="0" u="none" strike="noStrike">
              <a:solidFill>
                <a:srgbClr val="000000"/>
              </a:solidFill>
              <a:effectLst/>
              <a:uFillTx/>
              <a:latin typeface="Arial"/>
            </a:endParaRPr>
          </a:p>
        </p:txBody>
      </p:sp>
      <p:sp>
        <p:nvSpPr>
          <p:cNvPr id="221" name="Shape 9"/>
          <p:cNvSpPr/>
          <p:nvPr/>
        </p:nvSpPr>
        <p:spPr>
          <a:xfrm>
            <a:off x="502920" y="1911240"/>
            <a:ext cx="5303160" cy="42012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22" name="Text 10"/>
          <p:cNvSpPr/>
          <p:nvPr/>
        </p:nvSpPr>
        <p:spPr>
          <a:xfrm>
            <a:off x="640080" y="1984320"/>
            <a:ext cx="731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Wk 5–6</a:t>
            </a:r>
            <a:endParaRPr lang="en-GB" sz="1000" b="0" u="none" strike="noStrike">
              <a:solidFill>
                <a:srgbClr val="000000"/>
              </a:solidFill>
              <a:effectLst/>
              <a:uFillTx/>
              <a:latin typeface="Arial"/>
            </a:endParaRPr>
          </a:p>
        </p:txBody>
      </p:sp>
      <p:sp>
        <p:nvSpPr>
          <p:cNvPr id="223" name="Text 11"/>
          <p:cNvSpPr/>
          <p:nvPr/>
        </p:nvSpPr>
        <p:spPr>
          <a:xfrm>
            <a:off x="1508760" y="198432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11111"/>
                </a:solidFill>
                <a:effectLst/>
                <a:uFillTx/>
                <a:latin typeface="IBM Plex Sans"/>
                <a:ea typeface="IBM Plex Sans"/>
              </a:rPr>
              <a:t>Loops, strings</a:t>
            </a:r>
            <a:endParaRPr lang="en-GB" sz="1300" b="0" u="none" strike="noStrike">
              <a:solidFill>
                <a:srgbClr val="000000"/>
              </a:solidFill>
              <a:effectLst/>
              <a:uFillTx/>
              <a:latin typeface="Arial"/>
            </a:endParaRPr>
          </a:p>
        </p:txBody>
      </p:sp>
      <p:sp>
        <p:nvSpPr>
          <p:cNvPr id="224" name="Shape 12"/>
          <p:cNvSpPr/>
          <p:nvPr/>
        </p:nvSpPr>
        <p:spPr>
          <a:xfrm>
            <a:off x="6355080" y="1911240"/>
            <a:ext cx="5303160" cy="42012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25" name="Text 13"/>
          <p:cNvSpPr/>
          <p:nvPr/>
        </p:nvSpPr>
        <p:spPr>
          <a:xfrm>
            <a:off x="6492240" y="1984320"/>
            <a:ext cx="731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Wk 7–8</a:t>
            </a:r>
            <a:endParaRPr lang="en-GB" sz="1000" b="0" u="none" strike="noStrike">
              <a:solidFill>
                <a:srgbClr val="000000"/>
              </a:solidFill>
              <a:effectLst/>
              <a:uFillTx/>
              <a:latin typeface="Arial"/>
            </a:endParaRPr>
          </a:p>
        </p:txBody>
      </p:sp>
      <p:sp>
        <p:nvSpPr>
          <p:cNvPr id="226" name="Text 14"/>
          <p:cNvSpPr/>
          <p:nvPr/>
        </p:nvSpPr>
        <p:spPr>
          <a:xfrm>
            <a:off x="7360920" y="198432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11111"/>
                </a:solidFill>
                <a:effectLst/>
                <a:uFillTx/>
                <a:latin typeface="IBM Plex Sans"/>
                <a:ea typeface="IBM Plex Sans"/>
              </a:rPr>
              <a:t>Functions, file basics</a:t>
            </a:r>
            <a:endParaRPr lang="en-GB" sz="1300" b="0" u="none" strike="noStrike">
              <a:solidFill>
                <a:srgbClr val="000000"/>
              </a:solidFill>
              <a:effectLst/>
              <a:uFillTx/>
              <a:latin typeface="Arial"/>
            </a:endParaRPr>
          </a:p>
        </p:txBody>
      </p:sp>
      <p:sp>
        <p:nvSpPr>
          <p:cNvPr id="227" name="Shape 15"/>
          <p:cNvSpPr/>
          <p:nvPr/>
        </p:nvSpPr>
        <p:spPr>
          <a:xfrm>
            <a:off x="502920" y="2404800"/>
            <a:ext cx="5303160" cy="420120"/>
          </a:xfrm>
          <a:prstGeom prst="rect">
            <a:avLst/>
          </a:prstGeom>
          <a:solidFill>
            <a:srgbClr val="CC3320"/>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228" name="Text 16"/>
          <p:cNvSpPr/>
          <p:nvPr/>
        </p:nvSpPr>
        <p:spPr>
          <a:xfrm>
            <a:off x="640080" y="2477880"/>
            <a:ext cx="731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FFFFF"/>
                </a:solidFill>
                <a:effectLst/>
                <a:uFillTx/>
                <a:latin typeface="IBM Plex Mono"/>
                <a:ea typeface="IBM Plex Mono"/>
              </a:rPr>
              <a:t>Wk 9</a:t>
            </a:r>
            <a:endParaRPr lang="en-GB" sz="1000" b="0" u="none" strike="noStrike">
              <a:solidFill>
                <a:srgbClr val="000000"/>
              </a:solidFill>
              <a:effectLst/>
              <a:uFillTx/>
              <a:latin typeface="Arial"/>
            </a:endParaRPr>
          </a:p>
        </p:txBody>
      </p:sp>
      <p:sp>
        <p:nvSpPr>
          <p:cNvPr id="229" name="Text 17"/>
          <p:cNvSpPr/>
          <p:nvPr/>
        </p:nvSpPr>
        <p:spPr>
          <a:xfrm>
            <a:off x="1508760" y="247788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FFFFFF"/>
                </a:solidFill>
                <a:effectLst/>
                <a:uFillTx/>
                <a:latin typeface="IBM Plex Sans"/>
                <a:ea typeface="IBM Plex Sans"/>
              </a:rPr>
              <a:t>EXAM 1  ·  File I/O</a:t>
            </a:r>
            <a:endParaRPr lang="en-GB" sz="1300" b="0" u="none" strike="noStrike">
              <a:solidFill>
                <a:srgbClr val="000000"/>
              </a:solidFill>
              <a:effectLst/>
              <a:uFillTx/>
              <a:latin typeface="Arial"/>
            </a:endParaRPr>
          </a:p>
        </p:txBody>
      </p:sp>
      <p:sp>
        <p:nvSpPr>
          <p:cNvPr id="230" name="Shape 18"/>
          <p:cNvSpPr/>
          <p:nvPr/>
        </p:nvSpPr>
        <p:spPr>
          <a:xfrm>
            <a:off x="6355080" y="2404800"/>
            <a:ext cx="5303160" cy="42012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31" name="Text 19"/>
          <p:cNvSpPr/>
          <p:nvPr/>
        </p:nvSpPr>
        <p:spPr>
          <a:xfrm>
            <a:off x="6492240" y="2477880"/>
            <a:ext cx="731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Wk 10–11</a:t>
            </a:r>
            <a:endParaRPr lang="en-GB" sz="1000" b="0" u="none" strike="noStrike">
              <a:solidFill>
                <a:srgbClr val="000000"/>
              </a:solidFill>
              <a:effectLst/>
              <a:uFillTx/>
              <a:latin typeface="Arial"/>
            </a:endParaRPr>
          </a:p>
        </p:txBody>
      </p:sp>
      <p:sp>
        <p:nvSpPr>
          <p:cNvPr id="232" name="Text 20"/>
          <p:cNvSpPr/>
          <p:nvPr/>
        </p:nvSpPr>
        <p:spPr>
          <a:xfrm>
            <a:off x="7360920" y="247788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11111"/>
                </a:solidFill>
                <a:effectLst/>
                <a:uFillTx/>
                <a:latin typeface="IBM Plex Sans"/>
                <a:ea typeface="IBM Plex Sans"/>
              </a:rPr>
              <a:t>Exceptions, lists, tuples, memory maps</a:t>
            </a:r>
            <a:endParaRPr lang="en-GB" sz="1300" b="0" u="none" strike="noStrike">
              <a:solidFill>
                <a:srgbClr val="000000"/>
              </a:solidFill>
              <a:effectLst/>
              <a:uFillTx/>
              <a:latin typeface="Arial"/>
            </a:endParaRPr>
          </a:p>
        </p:txBody>
      </p:sp>
      <p:sp>
        <p:nvSpPr>
          <p:cNvPr id="233" name="Shape 21"/>
          <p:cNvSpPr/>
          <p:nvPr/>
        </p:nvSpPr>
        <p:spPr>
          <a:xfrm>
            <a:off x="502920" y="2898720"/>
            <a:ext cx="5303160" cy="42012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34" name="Text 22"/>
          <p:cNvSpPr/>
          <p:nvPr/>
        </p:nvSpPr>
        <p:spPr>
          <a:xfrm>
            <a:off x="640080" y="2971800"/>
            <a:ext cx="731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Wk 12–13</a:t>
            </a:r>
            <a:endParaRPr lang="en-GB" sz="1000" b="0" u="none" strike="noStrike">
              <a:solidFill>
                <a:srgbClr val="000000"/>
              </a:solidFill>
              <a:effectLst/>
              <a:uFillTx/>
              <a:latin typeface="Arial"/>
            </a:endParaRPr>
          </a:p>
        </p:txBody>
      </p:sp>
      <p:sp>
        <p:nvSpPr>
          <p:cNvPr id="235" name="Text 23"/>
          <p:cNvSpPr/>
          <p:nvPr/>
        </p:nvSpPr>
        <p:spPr>
          <a:xfrm>
            <a:off x="1508760" y="297180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11111"/>
                </a:solidFill>
                <a:effectLst/>
                <a:uFillTx/>
                <a:latin typeface="IBM Plex Sans"/>
                <a:ea typeface="IBM Plex Sans"/>
              </a:rPr>
              <a:t>Dictionaries</a:t>
            </a:r>
            <a:endParaRPr lang="en-GB" sz="1300" b="0" u="none" strike="noStrike">
              <a:solidFill>
                <a:srgbClr val="000000"/>
              </a:solidFill>
              <a:effectLst/>
              <a:uFillTx/>
              <a:latin typeface="Arial"/>
            </a:endParaRPr>
          </a:p>
        </p:txBody>
      </p:sp>
      <p:sp>
        <p:nvSpPr>
          <p:cNvPr id="236" name="Shape 24"/>
          <p:cNvSpPr/>
          <p:nvPr/>
        </p:nvSpPr>
        <p:spPr>
          <a:xfrm>
            <a:off x="6355080" y="2898720"/>
            <a:ext cx="5303160" cy="420120"/>
          </a:xfrm>
          <a:prstGeom prst="rect">
            <a:avLst/>
          </a:prstGeom>
          <a:solidFill>
            <a:srgbClr val="CC3320"/>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237" name="Text 25"/>
          <p:cNvSpPr/>
          <p:nvPr/>
        </p:nvSpPr>
        <p:spPr>
          <a:xfrm>
            <a:off x="6492240" y="2971800"/>
            <a:ext cx="731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FFFFF"/>
                </a:solidFill>
                <a:effectLst/>
                <a:uFillTx/>
                <a:latin typeface="IBM Plex Mono"/>
                <a:ea typeface="IBM Plex Mono"/>
              </a:rPr>
              <a:t>Wk 13</a:t>
            </a:r>
            <a:endParaRPr lang="en-GB" sz="1000" b="0" u="none" strike="noStrike">
              <a:solidFill>
                <a:srgbClr val="000000"/>
              </a:solidFill>
              <a:effectLst/>
              <a:uFillTx/>
              <a:latin typeface="Arial"/>
            </a:endParaRPr>
          </a:p>
        </p:txBody>
      </p:sp>
      <p:sp>
        <p:nvSpPr>
          <p:cNvPr id="238" name="Text 26"/>
          <p:cNvSpPr/>
          <p:nvPr/>
        </p:nvSpPr>
        <p:spPr>
          <a:xfrm>
            <a:off x="7360920" y="297180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FFFFFF"/>
                </a:solidFill>
                <a:effectLst/>
                <a:uFillTx/>
                <a:latin typeface="IBM Plex Sans"/>
                <a:ea typeface="IBM Plex Sans"/>
              </a:rPr>
              <a:t>EXAM 2</a:t>
            </a:r>
            <a:endParaRPr lang="en-GB" sz="1300" b="0" u="none" strike="noStrike">
              <a:solidFill>
                <a:srgbClr val="000000"/>
              </a:solidFill>
              <a:effectLst/>
              <a:uFillTx/>
              <a:latin typeface="Arial"/>
            </a:endParaRPr>
          </a:p>
        </p:txBody>
      </p:sp>
      <p:sp>
        <p:nvSpPr>
          <p:cNvPr id="239" name="Shape 27"/>
          <p:cNvSpPr/>
          <p:nvPr/>
        </p:nvSpPr>
        <p:spPr>
          <a:xfrm>
            <a:off x="502920" y="3392280"/>
            <a:ext cx="5303160" cy="42012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40" name="Text 28"/>
          <p:cNvSpPr/>
          <p:nvPr/>
        </p:nvSpPr>
        <p:spPr>
          <a:xfrm>
            <a:off x="640080" y="3465720"/>
            <a:ext cx="731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Wk 14–15</a:t>
            </a:r>
            <a:endParaRPr lang="en-GB" sz="1000" b="0" u="none" strike="noStrike">
              <a:solidFill>
                <a:srgbClr val="000000"/>
              </a:solidFill>
              <a:effectLst/>
              <a:uFillTx/>
              <a:latin typeface="Arial"/>
            </a:endParaRPr>
          </a:p>
        </p:txBody>
      </p:sp>
      <p:sp>
        <p:nvSpPr>
          <p:cNvPr id="241" name="Text 29"/>
          <p:cNvSpPr/>
          <p:nvPr/>
        </p:nvSpPr>
        <p:spPr>
          <a:xfrm>
            <a:off x="1508760" y="346572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11111"/>
                </a:solidFill>
                <a:effectLst/>
                <a:uFillTx/>
                <a:latin typeface="IBM Plex Sans"/>
                <a:ea typeface="IBM Plex Sans"/>
              </a:rPr>
              <a:t>Comprehensions, OOP (3 parts)</a:t>
            </a:r>
            <a:endParaRPr lang="en-GB" sz="1300" b="0" u="none" strike="noStrike">
              <a:solidFill>
                <a:srgbClr val="000000"/>
              </a:solidFill>
              <a:effectLst/>
              <a:uFillTx/>
              <a:latin typeface="Arial"/>
            </a:endParaRPr>
          </a:p>
        </p:txBody>
      </p:sp>
      <p:sp>
        <p:nvSpPr>
          <p:cNvPr id="242" name="Shape 30"/>
          <p:cNvSpPr/>
          <p:nvPr/>
        </p:nvSpPr>
        <p:spPr>
          <a:xfrm>
            <a:off x="6355080" y="3392280"/>
            <a:ext cx="5303160" cy="42012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43" name="Text 31"/>
          <p:cNvSpPr/>
          <p:nvPr/>
        </p:nvSpPr>
        <p:spPr>
          <a:xfrm>
            <a:off x="6492240" y="3465720"/>
            <a:ext cx="731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Wk 15–16</a:t>
            </a:r>
            <a:endParaRPr lang="en-GB" sz="1000" b="0" u="none" strike="noStrike">
              <a:solidFill>
                <a:srgbClr val="000000"/>
              </a:solidFill>
              <a:effectLst/>
              <a:uFillTx/>
              <a:latin typeface="Arial"/>
            </a:endParaRPr>
          </a:p>
        </p:txBody>
      </p:sp>
      <p:sp>
        <p:nvSpPr>
          <p:cNvPr id="244" name="Text 32"/>
          <p:cNvSpPr/>
          <p:nvPr/>
        </p:nvSpPr>
        <p:spPr>
          <a:xfrm>
            <a:off x="7360920" y="346572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11111"/>
                </a:solidFill>
                <a:effectLst/>
                <a:uFillTx/>
                <a:latin typeface="IBM Plex Sans"/>
                <a:ea typeface="IBM Plex Sans"/>
              </a:rPr>
              <a:t>Recursion, final review</a:t>
            </a:r>
            <a:endParaRPr lang="en-GB"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5" name="Shape 0"/>
          <p:cNvSpPr/>
          <p:nvPr/>
        </p:nvSpPr>
        <p:spPr>
          <a:xfrm>
            <a:off x="502920" y="1005840"/>
            <a:ext cx="10969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246" name="Text 1"/>
          <p:cNvSpPr/>
          <p:nvPr/>
        </p:nvSpPr>
        <p:spPr>
          <a:xfrm>
            <a:off x="502920" y="411480"/>
            <a:ext cx="1115532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111111"/>
                </a:solidFill>
                <a:effectLst/>
                <a:uFillTx/>
                <a:latin typeface="IBM Plex Sans"/>
                <a:ea typeface="IBM Plex Sans"/>
              </a:rPr>
              <a:t>Getting Help</a:t>
            </a:r>
            <a:endParaRPr lang="en-GB" sz="3200" b="0" u="none" strike="noStrike">
              <a:solidFill>
                <a:srgbClr val="000000"/>
              </a:solidFill>
              <a:effectLst/>
              <a:uFillTx/>
              <a:latin typeface="Arial"/>
            </a:endParaRPr>
          </a:p>
        </p:txBody>
      </p:sp>
      <p:sp>
        <p:nvSpPr>
          <p:cNvPr id="247" name="Shape 2"/>
          <p:cNvSpPr/>
          <p:nvPr/>
        </p:nvSpPr>
        <p:spPr>
          <a:xfrm>
            <a:off x="502920" y="1417320"/>
            <a:ext cx="3611520" cy="438876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48" name="Text 3"/>
          <p:cNvSpPr/>
          <p:nvPr/>
        </p:nvSpPr>
        <p:spPr>
          <a:xfrm>
            <a:off x="731520" y="162756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INSTRUCTOR OFFICE HOURS</a:t>
            </a:r>
            <a:endParaRPr lang="en-GB" sz="1000" b="0" u="none" strike="noStrike">
              <a:solidFill>
                <a:srgbClr val="000000"/>
              </a:solidFill>
              <a:effectLst/>
              <a:uFillTx/>
              <a:latin typeface="Arial"/>
            </a:endParaRPr>
          </a:p>
        </p:txBody>
      </p:sp>
      <p:sp>
        <p:nvSpPr>
          <p:cNvPr id="249" name="Text 4"/>
          <p:cNvSpPr/>
          <p:nvPr/>
        </p:nvSpPr>
        <p:spPr>
          <a:xfrm>
            <a:off x="731520" y="2011680"/>
            <a:ext cx="3154320" cy="22856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Book via the link in Brightspace. Come with specific questions; we're happy to help you work through things.</a:t>
            </a:r>
            <a:endParaRPr lang="en-GB" sz="1300" b="0" u="none" strike="noStrike">
              <a:solidFill>
                <a:srgbClr val="000000"/>
              </a:solidFill>
              <a:effectLst/>
              <a:uFillTx/>
              <a:latin typeface="Arial"/>
            </a:endParaRPr>
          </a:p>
        </p:txBody>
      </p:sp>
      <p:sp>
        <p:nvSpPr>
          <p:cNvPr id="250" name="Shape 5"/>
          <p:cNvSpPr/>
          <p:nvPr/>
        </p:nvSpPr>
        <p:spPr>
          <a:xfrm>
            <a:off x="4389120" y="1417320"/>
            <a:ext cx="3611520" cy="438876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51" name="Text 6"/>
          <p:cNvSpPr/>
          <p:nvPr/>
        </p:nvSpPr>
        <p:spPr>
          <a:xfrm>
            <a:off x="4617720" y="162756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CA OFFICE HOURS</a:t>
            </a:r>
            <a:endParaRPr lang="en-GB" sz="1000" b="0" u="none" strike="noStrike">
              <a:solidFill>
                <a:srgbClr val="000000"/>
              </a:solidFill>
              <a:effectLst/>
              <a:uFillTx/>
              <a:latin typeface="Arial"/>
            </a:endParaRPr>
          </a:p>
        </p:txBody>
      </p:sp>
      <p:sp>
        <p:nvSpPr>
          <p:cNvPr id="252" name="Text 7"/>
          <p:cNvSpPr/>
          <p:nvPr/>
        </p:nvSpPr>
        <p:spPr>
          <a:xfrm>
            <a:off x="4617720" y="2011680"/>
            <a:ext cx="3154320" cy="22856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Walk-in hours posted on Brightspace. Start your assignment first so CAs can help you move forward, not start from scratch.</a:t>
            </a:r>
            <a:endParaRPr lang="en-GB" sz="1300" b="0" u="none" strike="noStrike">
              <a:solidFill>
                <a:srgbClr val="000000"/>
              </a:solidFill>
              <a:effectLst/>
              <a:uFillTx/>
              <a:latin typeface="Arial"/>
            </a:endParaRPr>
          </a:p>
        </p:txBody>
      </p:sp>
      <p:sp>
        <p:nvSpPr>
          <p:cNvPr id="253" name="Shape 8"/>
          <p:cNvSpPr/>
          <p:nvPr/>
        </p:nvSpPr>
        <p:spPr>
          <a:xfrm>
            <a:off x="8275320" y="1417320"/>
            <a:ext cx="3611520" cy="4388760"/>
          </a:xfrm>
          <a:prstGeom prst="rect">
            <a:avLst/>
          </a:prstGeom>
          <a:solidFill>
            <a:srgbClr val="F4F4F4"/>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254" name="Text 9"/>
          <p:cNvSpPr/>
          <p:nvPr/>
        </p:nvSpPr>
        <p:spPr>
          <a:xfrm>
            <a:off x="8503920" y="162756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ED STEM</a:t>
            </a:r>
            <a:endParaRPr lang="en-GB" sz="1000" b="0" u="none" strike="noStrike">
              <a:solidFill>
                <a:srgbClr val="000000"/>
              </a:solidFill>
              <a:effectLst/>
              <a:uFillTx/>
              <a:latin typeface="Arial"/>
            </a:endParaRPr>
          </a:p>
        </p:txBody>
      </p:sp>
      <p:sp>
        <p:nvSpPr>
          <p:cNvPr id="255" name="Text 10"/>
          <p:cNvSpPr/>
          <p:nvPr/>
        </p:nvSpPr>
        <p:spPr>
          <a:xfrm>
            <a:off x="8503920" y="2011680"/>
            <a:ext cx="3154320" cy="22856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444444"/>
                </a:solidFill>
                <a:effectLst/>
                <a:uFillTx/>
                <a:latin typeface="IBM Plex Sans"/>
                <a:ea typeface="IBM Plex Sans"/>
              </a:rPr>
              <a:t>Discussion forum via Brightspace. No homework code in posts. Use your real name. Grade disputes belong in office hours.</a:t>
            </a:r>
            <a:endParaRPr lang="en-GB" sz="1300" b="0" u="none" strike="noStrike">
              <a:solidFill>
                <a:srgbClr val="000000"/>
              </a:solidFill>
              <a:effectLst/>
              <a:uFillTx/>
              <a:latin typeface="Arial"/>
            </a:endParaRPr>
          </a:p>
        </p:txBody>
      </p:sp>
      <p:sp>
        <p:nvSpPr>
          <p:cNvPr id="256" name="Text 11"/>
          <p:cNvSpPr/>
          <p:nvPr/>
        </p:nvSpPr>
        <p:spPr>
          <a:xfrm>
            <a:off x="502920" y="557784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CC3320"/>
                </a:solidFill>
                <a:effectLst/>
                <a:uFillTx/>
                <a:latin typeface="IBM Plex Mono"/>
                <a:ea typeface="IBM Plex Mono"/>
              </a:rPr>
              <a:t>DISABILITIES &amp; ACCOMMODATIONS</a:t>
            </a:r>
            <a:endParaRPr lang="en-GB" sz="1000" b="0" u="none" strike="noStrike">
              <a:solidFill>
                <a:srgbClr val="000000"/>
              </a:solidFill>
              <a:effectLst/>
              <a:uFillTx/>
              <a:latin typeface="Arial"/>
            </a:endParaRPr>
          </a:p>
        </p:txBody>
      </p:sp>
      <p:sp>
        <p:nvSpPr>
          <p:cNvPr id="257" name="Text 12"/>
          <p:cNvSpPr/>
          <p:nvPr/>
        </p:nvSpPr>
        <p:spPr>
          <a:xfrm>
            <a:off x="502920" y="5833800"/>
            <a:ext cx="11155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444444"/>
                </a:solidFill>
                <a:effectLst/>
                <a:uFillTx/>
                <a:latin typeface="IBM Plex Sans"/>
                <a:ea typeface="IBM Plex Sans"/>
              </a:rPr>
              <a:t>Moses Center for Students with Disabilities: mosescsd@nyu.edu  ·  212-998-4980  ·  726 Broadway, 3rd floor</a:t>
            </a:r>
            <a:endParaRPr lang="en-GB"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58" name="Text 0"/>
          <p:cNvSpPr/>
          <p:nvPr/>
        </p:nvSpPr>
        <p:spPr>
          <a:xfrm>
            <a:off x="502920" y="2286000"/>
            <a:ext cx="11155320" cy="1279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400" b="1" u="none" strike="noStrike">
                <a:solidFill>
                  <a:srgbClr val="FFFFFF"/>
                </a:solidFill>
                <a:effectLst/>
                <a:uFillTx/>
                <a:latin typeface="IBM Plex Sans"/>
                <a:ea typeface="IBM Plex Sans"/>
              </a:rPr>
              <a:t>Questions?</a:t>
            </a:r>
            <a:endParaRPr lang="en-GB" sz="6400" b="0" u="none" strike="noStrike">
              <a:solidFill>
                <a:srgbClr val="FFFFFF"/>
              </a:solidFill>
              <a:effectLst/>
              <a:uFillTx/>
              <a:latin typeface="Arial"/>
            </a:endParaRPr>
          </a:p>
        </p:txBody>
      </p:sp>
      <p:sp>
        <p:nvSpPr>
          <p:cNvPr id="259" name="Shape 1"/>
          <p:cNvSpPr/>
          <p:nvPr/>
        </p:nvSpPr>
        <p:spPr>
          <a:xfrm>
            <a:off x="502920" y="6217920"/>
            <a:ext cx="11155320" cy="36360"/>
          </a:xfrm>
          <a:prstGeom prst="rect">
            <a:avLst/>
          </a:prstGeom>
          <a:solidFill>
            <a:srgbClr val="CC3320"/>
          </a:solidFill>
          <a:ln w="0">
            <a:noFill/>
          </a:ln>
        </p:spPr>
        <p:style>
          <a:lnRef idx="0"/>
          <a:fillRef idx="0"/>
          <a:effectRef idx="0"/>
          <a:fontRef idx="minor"/>
        </p:style>
        <p:txBody>
          <a:bodyPr lIns="90000" tIns="-8280" rIns="90000" bIns="-8280" anchor="t">
            <a:noAutofit/>
          </a:bodyPr>
          <a:p>
            <a:endParaRPr lang="en-GB" sz="1800" b="0" u="none" strike="noStrike">
              <a:solidFill>
                <a:srgbClr val="FFFFFF"/>
              </a:solidFill>
              <a:effectLst/>
              <a:uFillTx/>
              <a:latin typeface="Arial"/>
            </a:endParaRPr>
          </a:p>
        </p:txBody>
      </p:sp>
      <p:sp>
        <p:nvSpPr>
          <p:cNvPr id="260" name="Text 2"/>
          <p:cNvSpPr/>
          <p:nvPr/>
        </p:nvSpPr>
        <p:spPr>
          <a:xfrm>
            <a:off x="502920" y="6355080"/>
            <a:ext cx="11155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999999"/>
                </a:solidFill>
                <a:effectLst/>
                <a:uFillTx/>
                <a:latin typeface="IBM Plex Mono"/>
                <a:ea typeface="IBM Plex Mono"/>
              </a:rPr>
              <a:t>CS-UY 1114  ·  Fall 2026  ·  NYU Tandon</a:t>
            </a:r>
            <a:endParaRPr lang="en-GB"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LibreOffice/26.2.4.2$MacOSX_AARCH64 LibreOffice_project/0229ac93fcf0d7cbc6376066c6f35021cef002dc</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2026-09-02T11:42:14Z</dcterms:created>
  <dc:creator>PptxGenJS</dc:creator>
  <dc:description/>
  <dc:language>en-GB</dc:language>
  <cp:lastModifiedBy/>
  <dcterms:modified xsi:type="dcterms:W3CDTF">2026-09-02T07:48:21Z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17</vt:i4>
  </property>
  <property fmtid="{D5CDD505-2E9C-101B-9397-08002B2CF9AE}" pid="3" name="PresentationFormat">
    <vt:lpwstr>On-screen Show (16:9)</vt:lpwstr>
  </property>
  <property fmtid="{D5CDD505-2E9C-101B-9397-08002B2CF9AE}" pid="4" name="Slides">
    <vt:i4>17</vt:i4>
  </property>
</Properties>
</file>